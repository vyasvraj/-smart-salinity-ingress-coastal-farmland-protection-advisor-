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2"/>
    <p:sldId id="257" r:id="rId3"/>
    <p:sldId id="258" r:id="rId4"/>
    <p:sldId id="259" r:id="rId5"/>
    <p:sldId id="286" r:id="rId6"/>
    <p:sldId id="287" r:id="rId7"/>
    <p:sldId id="288" r:id="rId8"/>
    <p:sldId id="289" r:id="rId9"/>
    <p:sldId id="290" r:id="rId10"/>
    <p:sldId id="291" r:id="rId11"/>
    <p:sldId id="292" r:id="rId12"/>
    <p:sldId id="260" r:id="rId13"/>
    <p:sldId id="261" r:id="rId14"/>
    <p:sldId id="326" r:id="rId15"/>
    <p:sldId id="316" r:id="rId16"/>
    <p:sldId id="317" r:id="rId17"/>
    <p:sldId id="318" r:id="rId18"/>
    <p:sldId id="319" r:id="rId19"/>
    <p:sldId id="320" r:id="rId20"/>
    <p:sldId id="321" r:id="rId21"/>
    <p:sldId id="322" r:id="rId22"/>
    <p:sldId id="323" r:id="rId23"/>
    <p:sldId id="324" r:id="rId24"/>
    <p:sldId id="325" r:id="rId25"/>
    <p:sldId id="262" r:id="rId26"/>
    <p:sldId id="263" r:id="rId27"/>
    <p:sldId id="264" r:id="rId28"/>
    <p:sldId id="265" r:id="rId29"/>
    <p:sldId id="266" r:id="rId30"/>
    <p:sldId id="267" r:id="rId31"/>
    <p:sldId id="268" r:id="rId32"/>
    <p:sldId id="269" r:id="rId33"/>
    <p:sldId id="270" r:id="rId34"/>
    <p:sldId id="271" r:id="rId35"/>
    <p:sldId id="272" r:id="rId36"/>
    <p:sldId id="273" r:id="rId37"/>
    <p:sldId id="274"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275" r:id="rId61"/>
    <p:sldId id="315" r:id="rId62"/>
    <p:sldId id="276" r:id="rId63"/>
    <p:sldId id="277" r:id="rId64"/>
    <p:sldId id="278" r:id="rId65"/>
    <p:sldId id="331" r:id="rId66"/>
    <p:sldId id="328" r:id="rId67"/>
    <p:sldId id="329" r:id="rId68"/>
    <p:sldId id="285" r:id="rId69"/>
  </p:sldIdLst>
  <p:sldSz cx="18288000" cy="10287000"/>
  <p:notesSz cx="18288000" cy="10287000"/>
  <p:defaultTextStyle>
    <a:defPPr>
      <a:defRPr kern="0"/>
    </a:def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72" autoAdjust="0"/>
    <p:restoredTop sz="94660"/>
  </p:normalViewPr>
  <p:slideViewPr>
    <p:cSldViewPr>
      <p:cViewPr varScale="1">
        <p:scale>
          <a:sx n="56" d="100"/>
          <a:sy n="56" d="100"/>
        </p:scale>
        <p:origin x="638" y="62"/>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71"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1857473" y="2184810"/>
            <a:ext cx="14554200" cy="2886710"/>
          </a:xfrm>
          <a:prstGeom prst="rect">
            <a:avLst/>
          </a:prstGeom>
        </p:spPr>
        <p:txBody>
          <a:bodyPr wrap="square" lIns="0" tIns="0" rIns="0" bIns="0">
            <a:spAutoFit/>
          </a:bodyPr>
          <a:lstStyle>
            <a:lvl1pPr>
              <a:defRPr sz="3600" b="1" i="0">
                <a:solidFill>
                  <a:schemeClr val="tx1"/>
                </a:solidFill>
                <a:latin typeface="Arial"/>
                <a:cs typeface="Arial"/>
              </a:defRPr>
            </a:lvl1pPr>
          </a:lstStyle>
          <a:p>
            <a:endParaRPr/>
          </a:p>
        </p:txBody>
      </p:sp>
      <p:sp>
        <p:nvSpPr>
          <p:cNvPr id="3" name="Holder 3"/>
          <p:cNvSpPr>
            <a:spLocks noGrp="1"/>
          </p:cNvSpPr>
          <p:nvPr>
            <p:ph type="subTitle" idx="4"/>
          </p:nvPr>
        </p:nvSpPr>
        <p:spPr>
          <a:xfrm>
            <a:off x="2743200" y="5760720"/>
            <a:ext cx="12801600" cy="2571750"/>
          </a:xfrm>
          <a:prstGeom prst="rect">
            <a:avLst/>
          </a:prstGeom>
        </p:spPr>
        <p:txBody>
          <a:bodyPr wrap="square" lIns="0" tIns="0" rIns="0" bIns="0">
            <a:spAutoFit/>
          </a:bodyPr>
          <a:lstStyle>
            <a:lvl1pPr>
              <a:defRPr sz="2800" b="0" i="0">
                <a:solidFill>
                  <a:schemeClr val="tx1"/>
                </a:solidFill>
                <a:latin typeface="Arial"/>
                <a:cs typeface="Arial"/>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9/12/2026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600" b="1" i="0">
                <a:solidFill>
                  <a:schemeClr val="tx1"/>
                </a:solidFill>
                <a:latin typeface="Arial"/>
                <a:cs typeface="Arial"/>
              </a:defRPr>
            </a:lvl1pPr>
          </a:lstStyle>
          <a:p>
            <a:endParaRPr/>
          </a:p>
        </p:txBody>
      </p:sp>
      <p:sp>
        <p:nvSpPr>
          <p:cNvPr id="3" name="Holder 3"/>
          <p:cNvSpPr>
            <a:spLocks noGrp="1"/>
          </p:cNvSpPr>
          <p:nvPr>
            <p:ph type="body" idx="1"/>
          </p:nvPr>
        </p:nvSpPr>
        <p:spPr/>
        <p:txBody>
          <a:bodyPr lIns="0" tIns="0" rIns="0" bIns="0"/>
          <a:lstStyle>
            <a:lvl1pPr>
              <a:defRPr sz="2800" b="0" i="0">
                <a:solidFill>
                  <a:schemeClr val="tx1"/>
                </a:solidFill>
                <a:latin typeface="Arial"/>
                <a:cs typeface="Arial"/>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9/12/2026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600" b="1" i="0">
                <a:solidFill>
                  <a:schemeClr val="tx1"/>
                </a:solidFill>
                <a:latin typeface="Arial"/>
                <a:cs typeface="Arial"/>
              </a:defRPr>
            </a:lvl1pPr>
          </a:lstStyle>
          <a:p>
            <a:endParaRPr/>
          </a:p>
        </p:txBody>
      </p:sp>
      <p:sp>
        <p:nvSpPr>
          <p:cNvPr id="3" name="Holder 3"/>
          <p:cNvSpPr>
            <a:spLocks noGrp="1"/>
          </p:cNvSpPr>
          <p:nvPr>
            <p:ph sz="half" idx="2"/>
          </p:nvPr>
        </p:nvSpPr>
        <p:spPr>
          <a:xfrm>
            <a:off x="914400" y="2366010"/>
            <a:ext cx="7955280" cy="678942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9418320" y="2366010"/>
            <a:ext cx="7955280" cy="678942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9/12/2026</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600" b="1" i="0">
                <a:solidFill>
                  <a:schemeClr val="tx1"/>
                </a:solidFill>
                <a:latin typeface="Arial"/>
                <a:cs typeface="Arial"/>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9/12/2026</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9/12/2026</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a:xfrm>
            <a:off x="343781" y="275000"/>
            <a:ext cx="10057645" cy="1020906"/>
          </a:xfrm>
          <a:prstGeom prst="rect">
            <a:avLst/>
          </a:prstGeom>
        </p:spPr>
        <p:txBody>
          <a:bodyPr wrap="square" lIns="0" tIns="0" rIns="0" bIns="0">
            <a:spAutoFit/>
          </a:bodyPr>
          <a:lstStyle>
            <a:lvl1pPr>
              <a:defRPr sz="3600" b="1" i="0">
                <a:solidFill>
                  <a:schemeClr val="tx1"/>
                </a:solidFill>
                <a:latin typeface="Arial"/>
                <a:cs typeface="Arial"/>
              </a:defRPr>
            </a:lvl1pPr>
          </a:lstStyle>
          <a:p>
            <a:endParaRPr/>
          </a:p>
        </p:txBody>
      </p:sp>
      <p:sp>
        <p:nvSpPr>
          <p:cNvPr id="3" name="Holder 3"/>
          <p:cNvSpPr>
            <a:spLocks noGrp="1"/>
          </p:cNvSpPr>
          <p:nvPr>
            <p:ph type="body" idx="1"/>
          </p:nvPr>
        </p:nvSpPr>
        <p:spPr>
          <a:xfrm>
            <a:off x="1039619" y="1669660"/>
            <a:ext cx="16208761" cy="3804920"/>
          </a:xfrm>
          <a:prstGeom prst="rect">
            <a:avLst/>
          </a:prstGeom>
        </p:spPr>
        <p:txBody>
          <a:bodyPr wrap="square" lIns="0" tIns="0" rIns="0" bIns="0">
            <a:spAutoFit/>
          </a:bodyPr>
          <a:lstStyle>
            <a:lvl1pPr>
              <a:defRPr sz="2800" b="0" i="0">
                <a:solidFill>
                  <a:schemeClr val="tx1"/>
                </a:solidFill>
                <a:latin typeface="Arial"/>
                <a:cs typeface="Arial"/>
              </a:defRPr>
            </a:lvl1pPr>
          </a:lstStyle>
          <a:p>
            <a:endParaRPr/>
          </a:p>
        </p:txBody>
      </p:sp>
      <p:sp>
        <p:nvSpPr>
          <p:cNvPr id="4" name="Holder 4"/>
          <p:cNvSpPr>
            <a:spLocks noGrp="1"/>
          </p:cNvSpPr>
          <p:nvPr>
            <p:ph type="ftr" sz="quarter" idx="5"/>
          </p:nvPr>
        </p:nvSpPr>
        <p:spPr>
          <a:xfrm>
            <a:off x="6217920" y="9566910"/>
            <a:ext cx="5852160" cy="514350"/>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914400" y="9566910"/>
            <a:ext cx="4206240" cy="51435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9/12/2026</a:t>
            </a:fld>
            <a:endParaRPr lang="en-US"/>
          </a:p>
        </p:txBody>
      </p:sp>
      <p:sp>
        <p:nvSpPr>
          <p:cNvPr id="6" name="Holder 6"/>
          <p:cNvSpPr>
            <a:spLocks noGrp="1"/>
          </p:cNvSpPr>
          <p:nvPr>
            <p:ph type="sldNum" sz="quarter" idx="7"/>
          </p:nvPr>
        </p:nvSpPr>
        <p:spPr>
          <a:xfrm>
            <a:off x="13167361" y="9566910"/>
            <a:ext cx="4206240" cy="51435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5.xml"/><Relationship Id="rId4" Type="http://schemas.openxmlformats.org/officeDocument/2006/relationships/image" Target="../media/image3.jpe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5.xml"/></Relationships>
</file>

<file path=ppt/slides/_rels/slide25.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5.xml"/></Relationships>
</file>

<file path=ppt/slides/_rels/slide26.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5.xml"/></Relationships>
</file>

<file path=ppt/slides/_rels/slide27.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5.xml"/></Relationships>
</file>

<file path=ppt/slides/_rels/slide28.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5.xml"/></Relationships>
</file>

<file path=ppt/slides/_rels/slide29.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5.xml"/></Relationships>
</file>

<file path=ppt/slides/_rels/slide30.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5.xml"/></Relationships>
</file>

<file path=ppt/slides/_rels/slide31.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5.xml"/></Relationships>
</file>

<file path=ppt/slides/_rels/slide32.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5.xml"/></Relationships>
</file>

<file path=ppt/slides/_rels/slide33.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5.xml"/></Relationships>
</file>

<file path=ppt/slides/_rels/slide34.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5.xml"/></Relationships>
</file>

<file path=ppt/slides/_rels/slide35.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5.xml"/></Relationships>
</file>

<file path=ppt/slides/_rels/slide36.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5.xml"/></Relationships>
</file>

<file path=ppt/slides/_rels/slide37.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5.xml"/></Relationships>
</file>

<file path=ppt/slides/_rels/slide38.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5.xml"/></Relationships>
</file>

<file path=ppt/slides/_rels/slide39.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5.xml"/></Relationships>
</file>

<file path=ppt/slides/_rels/slide40.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5.xml"/></Relationships>
</file>

<file path=ppt/slides/_rels/slide41.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5.xml"/></Relationships>
</file>

<file path=ppt/slides/_rels/slide42.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5.xml"/></Relationships>
</file>

<file path=ppt/slides/_rels/slide43.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5.xml"/></Relationships>
</file>

<file path=ppt/slides/_rels/slide44.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5.xml"/></Relationships>
</file>

<file path=ppt/slides/_rels/slide45.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5.xml"/></Relationships>
</file>

<file path=ppt/slides/_rels/slide46.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5.xml"/></Relationships>
</file>

<file path=ppt/slides/_rels/slide47.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5.xml"/></Relationships>
</file>

<file path=ppt/slides/_rels/slide48.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5.xml"/></Relationships>
</file>

<file path=ppt/slides/_rels/slide49.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5.xml"/></Relationships>
</file>

<file path=ppt/slides/_rels/slide50.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5.xml"/></Relationships>
</file>

<file path=ppt/slides/_rels/slide51.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5.xml"/></Relationships>
</file>

<file path=ppt/slides/_rels/slide52.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5.xml"/></Relationships>
</file>

<file path=ppt/slides/_rels/slide53.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5.xml"/></Relationships>
</file>

<file path=ppt/slides/_rels/slide54.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5.xml"/></Relationships>
</file>

<file path=ppt/slides/_rels/slide55.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5.xml"/></Relationships>
</file>

<file path=ppt/slides/_rels/slide56.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5.xml"/></Relationships>
</file>

<file path=ppt/slides/_rels/slide57.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5.xml"/></Relationships>
</file>

<file path=ppt/slides/_rels/slide58.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5.xml"/></Relationships>
</file>

<file path=ppt/slides/_rels/slide59.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5.xml"/></Relationships>
</file>

<file path=ppt/slides/_rels/slide60.xml.rels><?xml version="1.0" encoding="UTF-8" standalone="yes"?>
<Relationships xmlns="http://schemas.openxmlformats.org/package/2006/relationships"><Relationship Id="rId2" Type="http://schemas.openxmlformats.org/officeDocument/2006/relationships/image" Target="../media/image51.jp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hyperlink" Target="https://github.com/VyasVraj/-Smart-Salinity-Ingress-Coastal-Farmland-Protection-Advisor-.git" TargetMode="Externa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3" Type="http://schemas.openxmlformats.org/officeDocument/2006/relationships/image" Target="../media/image53.jpeg"/><Relationship Id="rId2" Type="http://schemas.openxmlformats.org/officeDocument/2006/relationships/image" Target="../media/image52.jpeg"/><Relationship Id="rId1" Type="http://schemas.openxmlformats.org/officeDocument/2006/relationships/slideLayout" Target="../slideLayouts/slideLayout5.xml"/><Relationship Id="rId4" Type="http://schemas.openxmlformats.org/officeDocument/2006/relationships/image" Target="../media/image54.png"/></Relationships>
</file>

<file path=ppt/slides/_rels/slide66.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image" Target="../media/image55.png"/><Relationship Id="rId1" Type="http://schemas.openxmlformats.org/officeDocument/2006/relationships/slideLayout" Target="../slideLayouts/slideLayout5.xml"/><Relationship Id="rId4" Type="http://schemas.openxmlformats.org/officeDocument/2006/relationships/image" Target="../media/image57.png"/></Relationships>
</file>

<file path=ppt/slides/_rels/slide67.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image" Target="../media/image58.jpeg"/><Relationship Id="rId1" Type="http://schemas.openxmlformats.org/officeDocument/2006/relationships/slideLayout" Target="../slideLayouts/slideLayout5.xml"/><Relationship Id="rId4" Type="http://schemas.openxmlformats.org/officeDocument/2006/relationships/image" Target="../media/image60.jpeg"/></Relationships>
</file>

<file path=ppt/slides/_rels/slide68.xml.rels><?xml version="1.0" encoding="UTF-8" standalone="yes"?>
<Relationships xmlns="http://schemas.openxmlformats.org/package/2006/relationships"><Relationship Id="rId2" Type="http://schemas.openxmlformats.org/officeDocument/2006/relationships/image" Target="../media/image61.png"/><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PPTXTitle"/>
          <p:cNvSpPr txBox="1">
            <a:spLocks noGrp="1"/>
          </p:cNvSpPr>
          <p:nvPr>
            <p:ph type="ctrTitle"/>
          </p:nvPr>
        </p:nvSpPr>
        <p:spPr>
          <a:xfrm>
            <a:off x="1752600" y="3543300"/>
            <a:ext cx="15287527" cy="860492"/>
          </a:xfrm>
          <a:prstGeom prst="rect">
            <a:avLst/>
          </a:prstGeom>
        </p:spPr>
        <p:txBody>
          <a:bodyPr vert="horz" wrap="square" lIns="0" tIns="181610" rIns="0" bIns="0" rtlCol="0">
            <a:spAutoFit/>
          </a:bodyPr>
          <a:lstStyle/>
          <a:p>
            <a:pPr marL="2311400" marR="5080" indent="-2299335" algn="ctr">
              <a:lnSpc>
                <a:spcPct val="100000"/>
              </a:lnSpc>
              <a:spcBef>
                <a:spcPts val="1430"/>
              </a:spcBef>
              <a:tabLst>
                <a:tab pos="2435225" algn="l"/>
                <a:tab pos="6303645" algn="l"/>
                <a:tab pos="8040370" algn="l"/>
              </a:tabLst>
            </a:pPr>
            <a:r>
              <a:rPr lang="en-US" sz="4400" dirty="0">
                <a:latin typeface="Calibri" panose="020F0502020204030204" pitchFamily="34" charset="0"/>
                <a:ea typeface="Calibri" panose="020F0502020204030204" pitchFamily="34" charset="0"/>
                <a:cs typeface="Calibri" panose="020F0502020204030204" pitchFamily="34" charset="0"/>
              </a:rPr>
              <a:t>IBM </a:t>
            </a:r>
            <a:r>
              <a:rPr lang="en-US" sz="4400" dirty="0" err="1">
                <a:latin typeface="Calibri" panose="020F0502020204030204" pitchFamily="34" charset="0"/>
                <a:ea typeface="Calibri" panose="020F0502020204030204" pitchFamily="34" charset="0"/>
                <a:cs typeface="Calibri" panose="020F0502020204030204" pitchFamily="34" charset="0"/>
              </a:rPr>
              <a:t>SkillsBuild</a:t>
            </a:r>
            <a:r>
              <a:rPr lang="en-US" sz="4400" dirty="0">
                <a:latin typeface="Calibri" panose="020F0502020204030204" pitchFamily="34" charset="0"/>
                <a:ea typeface="Calibri" panose="020F0502020204030204" pitchFamily="34" charset="0"/>
                <a:cs typeface="Calibri" panose="020F0502020204030204" pitchFamily="34" charset="0"/>
              </a:rPr>
              <a:t> Bob Hackathon Showcase – Gujarat, 2026 </a:t>
            </a:r>
            <a:endParaRPr sz="4400" dirty="0">
              <a:latin typeface="Calibri" panose="020F0502020204030204" pitchFamily="34" charset="0"/>
              <a:ea typeface="Calibri" panose="020F0502020204030204" pitchFamily="34" charset="0"/>
              <a:cs typeface="Calibri" panose="020F0502020204030204" pitchFamily="34" charset="0"/>
            </a:endParaRPr>
          </a:p>
        </p:txBody>
      </p:sp>
      <p:sp>
        <p:nvSpPr>
          <p:cNvPr id="3" name="object 3"/>
          <p:cNvSpPr txBox="1"/>
          <p:nvPr/>
        </p:nvSpPr>
        <p:spPr>
          <a:xfrm>
            <a:off x="1524000" y="5158854"/>
            <a:ext cx="14285594" cy="574040"/>
          </a:xfrm>
          <a:prstGeom prst="rect">
            <a:avLst/>
          </a:prstGeom>
        </p:spPr>
        <p:txBody>
          <a:bodyPr vert="horz" wrap="square" lIns="0" tIns="12700" rIns="0" bIns="0" rtlCol="0">
            <a:spAutoFit/>
          </a:bodyPr>
          <a:lstStyle/>
          <a:p>
            <a:pPr marL="12700" algn="ctr">
              <a:lnSpc>
                <a:spcPct val="100000"/>
              </a:lnSpc>
              <a:spcBef>
                <a:spcPts val="100"/>
              </a:spcBef>
            </a:pPr>
            <a:r>
              <a:rPr sz="3600" spc="-10" dirty="0">
                <a:solidFill>
                  <a:srgbClr val="878787"/>
                </a:solidFill>
                <a:latin typeface="+mn-lt"/>
                <a:cs typeface="Times New Roman" panose="02020603050405020304" pitchFamily="18" charset="0"/>
              </a:rPr>
              <a:t>“</a:t>
            </a:r>
            <a:r>
              <a:rPr lang="en-US" sz="3600" spc="-10" dirty="0">
                <a:solidFill>
                  <a:srgbClr val="878787"/>
                </a:solidFill>
                <a:latin typeface="+mn-lt"/>
                <a:cs typeface="Times New Roman" panose="02020603050405020304" pitchFamily="18" charset="0"/>
              </a:rPr>
              <a:t>Smart Salinity Ingress &amp; Coastal Farmland Protection Advisor</a:t>
            </a:r>
            <a:r>
              <a:rPr sz="3600" spc="-10" dirty="0">
                <a:solidFill>
                  <a:srgbClr val="878787"/>
                </a:solidFill>
                <a:latin typeface="+mn-lt"/>
                <a:cs typeface="Times New Roman" panose="02020603050405020304" pitchFamily="18" charset="0"/>
              </a:rPr>
              <a:t>”</a:t>
            </a:r>
            <a:endParaRPr sz="3600" dirty="0">
              <a:latin typeface="+mn-lt"/>
              <a:cs typeface="Times New Roman" panose="02020603050405020304"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aphicFrame>
        <p:nvGraphicFramePr>
          <p:cNvPr id="2" name="object 2"/>
          <p:cNvGraphicFramePr>
            <a:graphicFrameLocks noGrp="1"/>
          </p:cNvGraphicFramePr>
          <p:nvPr>
            <p:extLst>
              <p:ext uri="{D42A27DB-BD31-4B8C-83A1-F6EECF244321}">
                <p14:modId xmlns:p14="http://schemas.microsoft.com/office/powerpoint/2010/main" val="3518047170"/>
              </p:ext>
            </p:extLst>
          </p:nvPr>
        </p:nvGraphicFramePr>
        <p:xfrm>
          <a:off x="533400" y="1790700"/>
          <a:ext cx="17221199" cy="8027035"/>
        </p:xfrm>
        <a:graphic>
          <a:graphicData uri="http://schemas.openxmlformats.org/drawingml/2006/table">
            <a:tbl>
              <a:tblPr firstRow="1" bandRow="1">
                <a:tableStyleId>{2D5ABB26-0587-4C30-8999-92F81FD0307C}</a:tableStyleId>
              </a:tblPr>
              <a:tblGrid>
                <a:gridCol w="4495800">
                  <a:extLst>
                    <a:ext uri="{9D8B030D-6E8A-4147-A177-3AD203B41FA5}">
                      <a16:colId xmlns:a16="http://schemas.microsoft.com/office/drawing/2014/main" val="20000"/>
                    </a:ext>
                  </a:extLst>
                </a:gridCol>
                <a:gridCol w="4648200">
                  <a:extLst>
                    <a:ext uri="{9D8B030D-6E8A-4147-A177-3AD203B41FA5}">
                      <a16:colId xmlns:a16="http://schemas.microsoft.com/office/drawing/2014/main" val="20001"/>
                    </a:ext>
                  </a:extLst>
                </a:gridCol>
                <a:gridCol w="3733800">
                  <a:extLst>
                    <a:ext uri="{9D8B030D-6E8A-4147-A177-3AD203B41FA5}">
                      <a16:colId xmlns:a16="http://schemas.microsoft.com/office/drawing/2014/main" val="20002"/>
                    </a:ext>
                  </a:extLst>
                </a:gridCol>
                <a:gridCol w="4343399">
                  <a:extLst>
                    <a:ext uri="{9D8B030D-6E8A-4147-A177-3AD203B41FA5}">
                      <a16:colId xmlns:a16="http://schemas.microsoft.com/office/drawing/2014/main" val="20003"/>
                    </a:ext>
                  </a:extLst>
                </a:gridCol>
              </a:tblGrid>
              <a:tr h="1626235">
                <a:tc>
                  <a:txBody>
                    <a:bodyPr/>
                    <a:lstStyle/>
                    <a:p>
                      <a:pPr algn="ctr">
                        <a:lnSpc>
                          <a:spcPct val="100000"/>
                        </a:lnSpc>
                        <a:spcBef>
                          <a:spcPts val="1520"/>
                        </a:spcBef>
                      </a:pPr>
                      <a:endParaRPr sz="2800" dirty="0">
                        <a:latin typeface="Arial" panose="020B0604020202020204" pitchFamily="34" charset="0"/>
                        <a:cs typeface="Arial" panose="020B0604020202020204" pitchFamily="34" charset="0"/>
                      </a:endParaRPr>
                    </a:p>
                    <a:p>
                      <a:pPr marL="550545" algn="ctr">
                        <a:lnSpc>
                          <a:spcPct val="100000"/>
                        </a:lnSpc>
                      </a:pPr>
                      <a:r>
                        <a:rPr sz="2800" dirty="0">
                          <a:latin typeface="Arial" panose="020B0604020202020204" pitchFamily="34" charset="0"/>
                          <a:cs typeface="Arial" panose="020B0604020202020204" pitchFamily="34" charset="0"/>
                        </a:rPr>
                        <a:t>Student </a:t>
                      </a:r>
                      <a:r>
                        <a:rPr sz="2800" spc="-20" dirty="0">
                          <a:latin typeface="Arial" panose="020B0604020202020204" pitchFamily="34" charset="0"/>
                          <a:cs typeface="Arial" panose="020B0604020202020204" pitchFamily="34" charset="0"/>
                        </a:rPr>
                        <a:t>Name</a:t>
                      </a:r>
                      <a:endParaRPr sz="2800" dirty="0">
                        <a:latin typeface="Arial" panose="020B0604020202020204" pitchFamily="34" charset="0"/>
                        <a:cs typeface="Arial" panose="020B0604020202020204" pitchFamily="34" charset="0"/>
                      </a:endParaRPr>
                    </a:p>
                  </a:txBody>
                  <a:tcPr marL="0" marR="0" marT="193040"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5B9AD5"/>
                    </a:solidFill>
                  </a:tcPr>
                </a:tc>
                <a:tc>
                  <a:txBody>
                    <a:bodyPr/>
                    <a:lstStyle/>
                    <a:p>
                      <a:pPr algn="ctr">
                        <a:lnSpc>
                          <a:spcPct val="100000"/>
                        </a:lnSpc>
                        <a:spcBef>
                          <a:spcPts val="1520"/>
                        </a:spcBef>
                      </a:pPr>
                      <a:endParaRPr sz="2800" dirty="0">
                        <a:latin typeface="Arial" panose="020B0604020202020204" pitchFamily="34" charset="0"/>
                        <a:cs typeface="Arial" panose="020B0604020202020204" pitchFamily="34" charset="0"/>
                      </a:endParaRPr>
                    </a:p>
                    <a:p>
                      <a:pPr marL="181610" algn="ctr">
                        <a:lnSpc>
                          <a:spcPct val="100000"/>
                        </a:lnSpc>
                      </a:pPr>
                      <a:r>
                        <a:rPr sz="2800" dirty="0">
                          <a:latin typeface="Arial" panose="020B0604020202020204" pitchFamily="34" charset="0"/>
                          <a:cs typeface="Arial" panose="020B0604020202020204" pitchFamily="34" charset="0"/>
                        </a:rPr>
                        <a:t>Recent Passport </a:t>
                      </a:r>
                      <a:r>
                        <a:rPr sz="2800" spc="-10" dirty="0">
                          <a:latin typeface="Arial" panose="020B0604020202020204" pitchFamily="34" charset="0"/>
                          <a:cs typeface="Arial" panose="020B0604020202020204" pitchFamily="34" charset="0"/>
                        </a:rPr>
                        <a:t>Photo</a:t>
                      </a:r>
                      <a:endParaRPr lang="en-US" sz="2800" spc="-10" dirty="0">
                        <a:latin typeface="Arial" panose="020B0604020202020204" pitchFamily="34" charset="0"/>
                        <a:cs typeface="Arial" panose="020B0604020202020204" pitchFamily="34" charset="0"/>
                      </a:endParaRPr>
                    </a:p>
                  </a:txBody>
                  <a:tcPr marL="0" marR="0" marT="193040"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5B9AD5"/>
                    </a:solidFill>
                  </a:tcPr>
                </a:tc>
                <a:tc>
                  <a:txBody>
                    <a:bodyPr/>
                    <a:lstStyle/>
                    <a:p>
                      <a:pPr marL="1249680" algn="l">
                        <a:lnSpc>
                          <a:spcPct val="100000"/>
                        </a:lnSpc>
                      </a:pPr>
                      <a:endParaRPr lang="en-US" sz="2800" dirty="0">
                        <a:latin typeface="Arial" panose="020B0604020202020204" pitchFamily="34" charset="0"/>
                        <a:cs typeface="Arial" panose="020B0604020202020204" pitchFamily="34" charset="0"/>
                      </a:endParaRPr>
                    </a:p>
                    <a:p>
                      <a:pPr marL="1249680" algn="l">
                        <a:lnSpc>
                          <a:spcPct val="100000"/>
                        </a:lnSpc>
                      </a:pPr>
                      <a:r>
                        <a:rPr lang="en-US" sz="2800" dirty="0">
                          <a:latin typeface="Arial" panose="020B0604020202020204" pitchFamily="34" charset="0"/>
                          <a:cs typeface="Arial" panose="020B0604020202020204" pitchFamily="34" charset="0"/>
                        </a:rPr>
                        <a:t>Email</a:t>
                      </a:r>
                    </a:p>
                  </a:txBody>
                  <a:tcPr marL="0" marR="0" marT="193040"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5B9AD5"/>
                    </a:solidFill>
                  </a:tcPr>
                </a:tc>
                <a:tc>
                  <a:txBody>
                    <a:bodyPr/>
                    <a:lstStyle/>
                    <a:p>
                      <a:pPr marL="1010919" marR="803275" indent="-200660" algn="ctr">
                        <a:lnSpc>
                          <a:spcPts val="3229"/>
                        </a:lnSpc>
                        <a:spcBef>
                          <a:spcPts val="3090"/>
                        </a:spcBef>
                      </a:pPr>
                      <a:r>
                        <a:rPr sz="2800" dirty="0">
                          <a:latin typeface="Arial" panose="020B0604020202020204" pitchFamily="34" charset="0"/>
                          <a:cs typeface="Arial" panose="020B0604020202020204" pitchFamily="34" charset="0"/>
                        </a:rPr>
                        <a:t>Mobile </a:t>
                      </a:r>
                      <a:r>
                        <a:rPr sz="2800" spc="-10" dirty="0">
                          <a:latin typeface="Arial" panose="020B0604020202020204" pitchFamily="34" charset="0"/>
                          <a:cs typeface="Arial" panose="020B0604020202020204" pitchFamily="34" charset="0"/>
                        </a:rPr>
                        <a:t>number [WhatsApp]</a:t>
                      </a:r>
                      <a:endParaRPr sz="2800" dirty="0">
                        <a:latin typeface="Arial" panose="020B0604020202020204" pitchFamily="34" charset="0"/>
                        <a:cs typeface="Arial" panose="020B0604020202020204" pitchFamily="34" charset="0"/>
                      </a:endParaRPr>
                    </a:p>
                  </a:txBody>
                  <a:tcPr marL="0" marR="0" marT="392430"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5B9AD5"/>
                    </a:solidFill>
                  </a:tcPr>
                </a:tc>
                <a:extLst>
                  <a:ext uri="{0D108BD9-81ED-4DB2-BD59-A6C34878D82A}">
                    <a16:rowId xmlns:a16="http://schemas.microsoft.com/office/drawing/2014/main" val="10000"/>
                  </a:ext>
                </a:extLst>
              </a:tr>
              <a:tr h="713042">
                <a:tc>
                  <a:txBody>
                    <a:bodyPr/>
                    <a:lstStyle/>
                    <a:p>
                      <a:pPr marL="626745" algn="ctr">
                        <a:lnSpc>
                          <a:spcPct val="100000"/>
                        </a:lnSpc>
                        <a:spcBef>
                          <a:spcPts val="1135"/>
                        </a:spcBef>
                      </a:pPr>
                      <a:endParaRPr lang="en-US" sz="2000" dirty="0">
                        <a:latin typeface="Arial" panose="020B0604020202020204" pitchFamily="34" charset="0"/>
                        <a:cs typeface="Arial" panose="020B0604020202020204" pitchFamily="34" charset="0"/>
                      </a:endParaRPr>
                    </a:p>
                    <a:p>
                      <a:pPr marL="626745" algn="ctr">
                        <a:lnSpc>
                          <a:spcPct val="100000"/>
                        </a:lnSpc>
                        <a:spcBef>
                          <a:spcPts val="1135"/>
                        </a:spcBef>
                      </a:pPr>
                      <a:endParaRPr lang="en-US" sz="2000" dirty="0">
                        <a:latin typeface="Arial" panose="020B0604020202020204" pitchFamily="34" charset="0"/>
                        <a:cs typeface="Arial" panose="020B0604020202020204" pitchFamily="34" charset="0"/>
                      </a:endParaRPr>
                    </a:p>
                    <a:p>
                      <a:pPr marL="626745" algn="ctr">
                        <a:lnSpc>
                          <a:spcPct val="100000"/>
                        </a:lnSpc>
                        <a:spcBef>
                          <a:spcPts val="1135"/>
                        </a:spcBef>
                      </a:pPr>
                      <a:r>
                        <a:rPr lang="en-US" sz="2000" dirty="0">
                          <a:latin typeface="Arial" panose="020B0604020202020204" pitchFamily="34" charset="0"/>
                          <a:cs typeface="Arial" panose="020B0604020202020204" pitchFamily="34" charset="0"/>
                        </a:rPr>
                        <a:t>Vyas Vraj </a:t>
                      </a:r>
                      <a:r>
                        <a:rPr lang="en-US" sz="2000" dirty="0" err="1">
                          <a:latin typeface="Arial" panose="020B0604020202020204" pitchFamily="34" charset="0"/>
                          <a:cs typeface="Arial" panose="020B0604020202020204" pitchFamily="34" charset="0"/>
                        </a:rPr>
                        <a:t>Jayeshbhai</a:t>
                      </a:r>
                      <a:r>
                        <a:rPr lang="en-US" sz="2000" dirty="0">
                          <a:latin typeface="Arial" panose="020B0604020202020204" pitchFamily="34" charset="0"/>
                          <a:cs typeface="Arial" panose="020B0604020202020204" pitchFamily="34" charset="0"/>
                        </a:rPr>
                        <a:t>.</a:t>
                      </a:r>
                    </a:p>
                  </a:txBody>
                  <a:tcPr marL="0" marR="0" marT="144145" marB="0">
                    <a:lnL w="12700">
                      <a:solidFill>
                        <a:srgbClr val="FFFFFF"/>
                      </a:solidFill>
                      <a:prstDash val="solid"/>
                    </a:lnL>
                    <a:lnR w="12700">
                      <a:solidFill>
                        <a:srgbClr val="FFFFFF"/>
                      </a:solidFill>
                      <a:prstDash val="solid"/>
                    </a:lnR>
                    <a:lnT w="38100">
                      <a:solidFill>
                        <a:srgbClr val="FFFFFF"/>
                      </a:solidFill>
                      <a:prstDash val="solid"/>
                    </a:lnT>
                    <a:lnB w="38100" cap="flat" cmpd="sng" algn="ctr">
                      <a:solidFill>
                        <a:srgbClr val="FFFFFF"/>
                      </a:solidFill>
                      <a:prstDash val="solid"/>
                      <a:round/>
                      <a:headEnd type="none" w="med" len="med"/>
                      <a:tailEnd type="none" w="med" len="med"/>
                    </a:lnB>
                    <a:solidFill>
                      <a:srgbClr val="D0DEEF"/>
                    </a:solidFill>
                  </a:tcPr>
                </a:tc>
                <a:tc>
                  <a:txBody>
                    <a:bodyPr/>
                    <a:lstStyle/>
                    <a:p>
                      <a:pPr algn="ctr">
                        <a:lnSpc>
                          <a:spcPct val="100000"/>
                        </a:lnSpc>
                      </a:pPr>
                      <a:endParaRPr lang="en-US" sz="2000" dirty="0">
                        <a:latin typeface="Arial" panose="020B0604020202020204" pitchFamily="34" charset="0"/>
                        <a:cs typeface="Arial" panose="020B0604020202020204" pitchFamily="34" charset="0"/>
                      </a:endParaRPr>
                    </a:p>
                    <a:p>
                      <a:pPr algn="ctr">
                        <a:lnSpc>
                          <a:spcPct val="100000"/>
                        </a:lnSpc>
                      </a:pPr>
                      <a:endParaRPr lang="en-IN" sz="2000" dirty="0">
                        <a:latin typeface="Arial" panose="020B0604020202020204" pitchFamily="34" charset="0"/>
                        <a:cs typeface="Arial" panose="020B0604020202020204" pitchFamily="34" charset="0"/>
                      </a:endParaRPr>
                    </a:p>
                    <a:p>
                      <a:pPr algn="ctr">
                        <a:lnSpc>
                          <a:spcPct val="100000"/>
                        </a:lnSpc>
                      </a:pPr>
                      <a:endParaRPr lang="en-IN" sz="2000" dirty="0">
                        <a:latin typeface="Arial" panose="020B0604020202020204" pitchFamily="34" charset="0"/>
                        <a:cs typeface="Arial" panose="020B0604020202020204" pitchFamily="34" charset="0"/>
                      </a:endParaRPr>
                    </a:p>
                    <a:p>
                      <a:pPr algn="ctr">
                        <a:lnSpc>
                          <a:spcPct val="100000"/>
                        </a:lnSpc>
                      </a:pPr>
                      <a:endParaRPr lang="en-IN" sz="2000" dirty="0">
                        <a:latin typeface="Arial" panose="020B0604020202020204" pitchFamily="34" charset="0"/>
                        <a:cs typeface="Arial" panose="020B0604020202020204" pitchFamily="34" charset="0"/>
                      </a:endParaRPr>
                    </a:p>
                    <a:p>
                      <a:pPr algn="ctr">
                        <a:lnSpc>
                          <a:spcPct val="100000"/>
                        </a:lnSpc>
                      </a:pPr>
                      <a:endParaRPr lang="en-IN" sz="2000" dirty="0">
                        <a:latin typeface="Arial" panose="020B0604020202020204" pitchFamily="34" charset="0"/>
                        <a:cs typeface="Arial" panose="020B0604020202020204" pitchFamily="34" charset="0"/>
                      </a:endParaRPr>
                    </a:p>
                    <a:p>
                      <a:pPr algn="ctr">
                        <a:lnSpc>
                          <a:spcPct val="100000"/>
                        </a:lnSpc>
                      </a:pPr>
                      <a:endParaRPr lang="en-IN" sz="2000" dirty="0">
                        <a:latin typeface="Arial" panose="020B0604020202020204" pitchFamily="34" charset="0"/>
                        <a:cs typeface="Arial" panose="020B0604020202020204" pitchFamily="34" charset="0"/>
                      </a:endParaRPr>
                    </a:p>
                    <a:p>
                      <a:pPr algn="ctr">
                        <a:lnSpc>
                          <a:spcPct val="100000"/>
                        </a:lnSpc>
                      </a:pPr>
                      <a:endParaRPr sz="2000" dirty="0">
                        <a:latin typeface="Arial" panose="020B0604020202020204" pitchFamily="34" charset="0"/>
                        <a:cs typeface="Arial" panose="020B0604020202020204" pitchFamily="34" charset="0"/>
                      </a:endParaRPr>
                    </a:p>
                  </a:txBody>
                  <a:tcPr marL="0" marR="0" marT="0" marB="0">
                    <a:lnL w="12700">
                      <a:solidFill>
                        <a:srgbClr val="FFFFFF"/>
                      </a:solidFill>
                      <a:prstDash val="solid"/>
                    </a:lnL>
                    <a:lnR w="12700">
                      <a:solidFill>
                        <a:srgbClr val="FFFFFF"/>
                      </a:solidFill>
                      <a:prstDash val="solid"/>
                    </a:lnR>
                    <a:lnT w="38100">
                      <a:solidFill>
                        <a:srgbClr val="FFFFFF"/>
                      </a:solidFill>
                      <a:prstDash val="solid"/>
                    </a:lnT>
                    <a:lnB w="38100" cap="flat" cmpd="sng" algn="ctr">
                      <a:solidFill>
                        <a:srgbClr val="FFFFFF"/>
                      </a:solidFill>
                      <a:prstDash val="solid"/>
                      <a:round/>
                      <a:headEnd type="none" w="med" len="med"/>
                      <a:tailEnd type="none" w="med" len="med"/>
                    </a:lnB>
                    <a:solidFill>
                      <a:srgbClr val="D0DEEF"/>
                    </a:solidFill>
                  </a:tcPr>
                </a:tc>
                <a:tc>
                  <a:txBody>
                    <a:bodyPr/>
                    <a:lstStyle/>
                    <a:p>
                      <a:pPr marL="175260" algn="ctr">
                        <a:lnSpc>
                          <a:spcPct val="100000"/>
                        </a:lnSpc>
                        <a:spcBef>
                          <a:spcPts val="1180"/>
                        </a:spcBef>
                      </a:pPr>
                      <a:endParaRPr lang="en-US" sz="2000" dirty="0">
                        <a:latin typeface="Arial" panose="020B0604020202020204" pitchFamily="34" charset="0"/>
                        <a:cs typeface="Arial" panose="020B0604020202020204" pitchFamily="34" charset="0"/>
                      </a:endParaRPr>
                    </a:p>
                    <a:p>
                      <a:pPr marL="175260" algn="ctr">
                        <a:lnSpc>
                          <a:spcPct val="100000"/>
                        </a:lnSpc>
                        <a:spcBef>
                          <a:spcPts val="1180"/>
                        </a:spcBef>
                      </a:pPr>
                      <a:r>
                        <a:rPr lang="en-US" sz="2000" dirty="0">
                          <a:latin typeface="Arial" panose="020B0604020202020204" pitchFamily="34" charset="0"/>
                          <a:cs typeface="Arial" panose="020B0604020202020204" pitchFamily="34" charset="0"/>
                        </a:rPr>
                        <a:t>vyasvraj1815@gmail.com</a:t>
                      </a:r>
                      <a:endParaRPr sz="2000" dirty="0">
                        <a:latin typeface="Arial" panose="020B0604020202020204" pitchFamily="34" charset="0"/>
                        <a:cs typeface="Arial" panose="020B0604020202020204" pitchFamily="34" charset="0"/>
                      </a:endParaRPr>
                    </a:p>
                  </a:txBody>
                  <a:tcPr marL="0" marR="0" marT="149860" marB="0">
                    <a:lnL w="12700">
                      <a:solidFill>
                        <a:srgbClr val="FFFFFF"/>
                      </a:solidFill>
                      <a:prstDash val="solid"/>
                    </a:lnL>
                    <a:lnR w="12700">
                      <a:solidFill>
                        <a:srgbClr val="FFFFFF"/>
                      </a:solidFill>
                      <a:prstDash val="solid"/>
                    </a:lnR>
                    <a:lnT w="38100">
                      <a:solidFill>
                        <a:srgbClr val="FFFFFF"/>
                      </a:solidFill>
                      <a:prstDash val="solid"/>
                    </a:lnT>
                    <a:lnB w="38100" cap="flat" cmpd="sng" algn="ctr">
                      <a:solidFill>
                        <a:srgbClr val="FFFFFF"/>
                      </a:solidFill>
                      <a:prstDash val="solid"/>
                      <a:round/>
                      <a:headEnd type="none" w="med" len="med"/>
                      <a:tailEnd type="none" w="med" len="med"/>
                    </a:lnB>
                    <a:solidFill>
                      <a:srgbClr val="D0DEEF"/>
                    </a:solidFill>
                  </a:tcPr>
                </a:tc>
                <a:tc>
                  <a:txBody>
                    <a:bodyPr/>
                    <a:lstStyle/>
                    <a:p>
                      <a:pPr marL="421640" algn="ctr">
                        <a:lnSpc>
                          <a:spcPct val="100000"/>
                        </a:lnSpc>
                        <a:spcBef>
                          <a:spcPts val="1165"/>
                        </a:spcBef>
                      </a:pPr>
                      <a:endParaRPr lang="en-US" sz="2000" dirty="0">
                        <a:latin typeface="Arial" panose="020B0604020202020204" pitchFamily="34" charset="0"/>
                        <a:cs typeface="Arial" panose="020B0604020202020204" pitchFamily="34" charset="0"/>
                      </a:endParaRPr>
                    </a:p>
                    <a:p>
                      <a:pPr marL="421640" algn="ctr">
                        <a:lnSpc>
                          <a:spcPct val="100000"/>
                        </a:lnSpc>
                        <a:spcBef>
                          <a:spcPts val="1165"/>
                        </a:spcBef>
                      </a:pPr>
                      <a:r>
                        <a:rPr lang="en-US" sz="2000" dirty="0">
                          <a:latin typeface="Arial" panose="020B0604020202020204" pitchFamily="34" charset="0"/>
                          <a:cs typeface="Arial" panose="020B0604020202020204" pitchFamily="34" charset="0"/>
                        </a:rPr>
                        <a:t>9913003111</a:t>
                      </a:r>
                    </a:p>
                  </a:txBody>
                  <a:tcPr marL="0" marR="0" marT="147955" marB="0">
                    <a:lnL w="12700">
                      <a:solidFill>
                        <a:srgbClr val="FFFFFF"/>
                      </a:solidFill>
                      <a:prstDash val="solid"/>
                    </a:lnL>
                    <a:lnR w="12700">
                      <a:solidFill>
                        <a:srgbClr val="FFFFFF"/>
                      </a:solidFill>
                      <a:prstDash val="solid"/>
                    </a:lnR>
                    <a:lnT w="38100">
                      <a:solidFill>
                        <a:srgbClr val="FFFFFF"/>
                      </a:solidFill>
                      <a:prstDash val="solid"/>
                    </a:lnT>
                    <a:lnB w="38100" cap="flat" cmpd="sng" algn="ctr">
                      <a:solidFill>
                        <a:srgbClr val="FFFFFF"/>
                      </a:solidFill>
                      <a:prstDash val="solid"/>
                      <a:round/>
                      <a:headEnd type="none" w="med" len="med"/>
                      <a:tailEnd type="none" w="med" len="med"/>
                    </a:lnB>
                    <a:solidFill>
                      <a:srgbClr val="D0DEEF"/>
                    </a:solidFill>
                  </a:tcPr>
                </a:tc>
                <a:extLst>
                  <a:ext uri="{0D108BD9-81ED-4DB2-BD59-A6C34878D82A}">
                    <a16:rowId xmlns:a16="http://schemas.microsoft.com/office/drawing/2014/main" val="10001"/>
                  </a:ext>
                </a:extLst>
              </a:tr>
              <a:tr h="838200">
                <a:tc>
                  <a:txBody>
                    <a:bodyPr/>
                    <a:lstStyle/>
                    <a:p>
                      <a:pPr marL="626745" algn="ctr">
                        <a:lnSpc>
                          <a:spcPct val="100000"/>
                        </a:lnSpc>
                        <a:spcBef>
                          <a:spcPts val="1135"/>
                        </a:spcBef>
                      </a:pPr>
                      <a:endParaRPr lang="en-US" sz="2000" dirty="0">
                        <a:latin typeface="Arial" panose="020B0604020202020204" pitchFamily="34" charset="0"/>
                        <a:cs typeface="Arial" panose="020B0604020202020204" pitchFamily="34" charset="0"/>
                      </a:endParaRPr>
                    </a:p>
                    <a:p>
                      <a:pPr marL="626745" algn="ctr">
                        <a:lnSpc>
                          <a:spcPct val="100000"/>
                        </a:lnSpc>
                        <a:spcBef>
                          <a:spcPts val="1135"/>
                        </a:spcBef>
                      </a:pPr>
                      <a:endParaRPr lang="en-US" sz="2000" dirty="0">
                        <a:latin typeface="Arial" panose="020B0604020202020204" pitchFamily="34" charset="0"/>
                        <a:cs typeface="Arial" panose="020B0604020202020204" pitchFamily="34" charset="0"/>
                      </a:endParaRPr>
                    </a:p>
                    <a:p>
                      <a:pPr marL="626745" algn="ctr">
                        <a:lnSpc>
                          <a:spcPct val="100000"/>
                        </a:lnSpc>
                        <a:spcBef>
                          <a:spcPts val="1135"/>
                        </a:spcBef>
                      </a:pPr>
                      <a:r>
                        <a:rPr lang="en-US" sz="2000" dirty="0">
                          <a:latin typeface="Arial" panose="020B0604020202020204" pitchFamily="34" charset="0"/>
                          <a:cs typeface="Arial" panose="020B0604020202020204" pitchFamily="34" charset="0"/>
                        </a:rPr>
                        <a:t>Desai Dhyan </a:t>
                      </a:r>
                      <a:r>
                        <a:rPr lang="en-US" sz="2000" dirty="0" err="1">
                          <a:latin typeface="Arial" panose="020B0604020202020204" pitchFamily="34" charset="0"/>
                          <a:cs typeface="Arial" panose="020B0604020202020204" pitchFamily="34" charset="0"/>
                        </a:rPr>
                        <a:t>Nileshkumar</a:t>
                      </a:r>
                      <a:endParaRPr lang="en-US" sz="2000" dirty="0">
                        <a:latin typeface="Arial" panose="020B0604020202020204" pitchFamily="34" charset="0"/>
                        <a:cs typeface="Arial" panose="020B0604020202020204" pitchFamily="34" charset="0"/>
                      </a:endParaRPr>
                    </a:p>
                  </a:txBody>
                  <a:tcPr marL="0" marR="0" marT="144145" marB="0">
                    <a:lnL w="12700">
                      <a:solidFill>
                        <a:srgbClr val="FFFFFF"/>
                      </a:solidFill>
                      <a:prstDash val="solid"/>
                    </a:lnL>
                    <a:lnR w="12700" cap="flat" cmpd="sng" algn="ctr">
                      <a:solidFill>
                        <a:srgbClr val="FFFFFF"/>
                      </a:solidFill>
                      <a:prstDash val="solid"/>
                      <a:round/>
                      <a:headEnd type="none" w="med" len="med"/>
                      <a:tailEnd type="none" w="med" len="med"/>
                    </a:lnR>
                    <a:lnT w="38100">
                      <a:solidFill>
                        <a:srgbClr val="FFFFFF"/>
                      </a:solidFill>
                      <a:prstDash val="solid"/>
                    </a:lnT>
                    <a:lnB w="38100" cap="flat" cmpd="sng" algn="ctr">
                      <a:solidFill>
                        <a:srgbClr val="FFFFFF"/>
                      </a:solidFill>
                      <a:prstDash val="solid"/>
                      <a:round/>
                      <a:headEnd type="none" w="med" len="med"/>
                      <a:tailEnd type="none" w="med" len="med"/>
                    </a:lnB>
                    <a:solidFill>
                      <a:srgbClr val="D0DEEF"/>
                    </a:solidFill>
                  </a:tcPr>
                </a:tc>
                <a:tc>
                  <a:txBody>
                    <a:bodyPr/>
                    <a:lstStyle/>
                    <a:p>
                      <a:pPr algn="ctr">
                        <a:lnSpc>
                          <a:spcPct val="100000"/>
                        </a:lnSpc>
                      </a:pPr>
                      <a:endParaRPr lang="en-IN" sz="2000" dirty="0">
                        <a:latin typeface="Arial" panose="020B0604020202020204" pitchFamily="34" charset="0"/>
                        <a:cs typeface="Arial" panose="020B0604020202020204" pitchFamily="34" charset="0"/>
                      </a:endParaRPr>
                    </a:p>
                    <a:p>
                      <a:pPr algn="ctr">
                        <a:lnSpc>
                          <a:spcPct val="100000"/>
                        </a:lnSpc>
                      </a:pPr>
                      <a:endParaRPr lang="en-IN" sz="2000" dirty="0">
                        <a:latin typeface="Arial" panose="020B0604020202020204" pitchFamily="34" charset="0"/>
                        <a:cs typeface="Arial" panose="020B0604020202020204" pitchFamily="34" charset="0"/>
                      </a:endParaRPr>
                    </a:p>
                    <a:p>
                      <a:pPr algn="ctr">
                        <a:lnSpc>
                          <a:spcPct val="100000"/>
                        </a:lnSpc>
                      </a:pPr>
                      <a:endParaRPr lang="en-IN" sz="2000" dirty="0">
                        <a:latin typeface="Arial" panose="020B0604020202020204" pitchFamily="34" charset="0"/>
                        <a:cs typeface="Arial" panose="020B0604020202020204" pitchFamily="34" charset="0"/>
                      </a:endParaRPr>
                    </a:p>
                    <a:p>
                      <a:pPr algn="ctr">
                        <a:lnSpc>
                          <a:spcPct val="100000"/>
                        </a:lnSpc>
                      </a:pPr>
                      <a:endParaRPr lang="en-IN" sz="2000" dirty="0">
                        <a:latin typeface="Arial" panose="020B0604020202020204" pitchFamily="34" charset="0"/>
                        <a:cs typeface="Arial" panose="020B0604020202020204" pitchFamily="34" charset="0"/>
                      </a:endParaRPr>
                    </a:p>
                    <a:p>
                      <a:pPr algn="ctr">
                        <a:lnSpc>
                          <a:spcPct val="100000"/>
                        </a:lnSpc>
                      </a:pPr>
                      <a:endParaRPr lang="en-IN" sz="2000" dirty="0">
                        <a:latin typeface="Arial" panose="020B0604020202020204" pitchFamily="34" charset="0"/>
                        <a:cs typeface="Arial" panose="020B0604020202020204" pitchFamily="34" charset="0"/>
                      </a:endParaRPr>
                    </a:p>
                    <a:p>
                      <a:pPr algn="ctr">
                        <a:lnSpc>
                          <a:spcPct val="100000"/>
                        </a:lnSpc>
                      </a:pPr>
                      <a:endParaRPr lang="en-IN" sz="2000" dirty="0">
                        <a:latin typeface="Arial" panose="020B0604020202020204" pitchFamily="34" charset="0"/>
                        <a:cs typeface="Arial" panose="020B0604020202020204" pitchFamily="34" charset="0"/>
                      </a:endParaRPr>
                    </a:p>
                    <a:p>
                      <a:pPr algn="ctr">
                        <a:lnSpc>
                          <a:spcPct val="100000"/>
                        </a:lnSpc>
                      </a:pPr>
                      <a:endParaRPr sz="2000" dirty="0">
                        <a:latin typeface="Arial" panose="020B0604020202020204" pitchFamily="34" charset="0"/>
                        <a:cs typeface="Arial" panose="020B0604020202020204" pitchFamily="34" charset="0"/>
                      </a:endParaRPr>
                    </a:p>
                  </a:txBody>
                  <a:tcPr marL="0" marR="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38100">
                      <a:solidFill>
                        <a:srgbClr val="FFFFFF"/>
                      </a:solidFill>
                      <a:prstDash val="solid"/>
                    </a:lnT>
                    <a:lnB w="38100" cap="flat" cmpd="sng" algn="ctr">
                      <a:solidFill>
                        <a:srgbClr val="FFFFFF"/>
                      </a:solidFill>
                      <a:prstDash val="solid"/>
                      <a:round/>
                      <a:headEnd type="none" w="med" len="med"/>
                      <a:tailEnd type="none" w="med" len="med"/>
                    </a:lnB>
                    <a:solidFill>
                      <a:srgbClr val="D0DEEF"/>
                    </a:solidFill>
                  </a:tcPr>
                </a:tc>
                <a:tc>
                  <a:txBody>
                    <a:bodyPr/>
                    <a:lstStyle/>
                    <a:p>
                      <a:pPr marL="175260" algn="ctr">
                        <a:lnSpc>
                          <a:spcPct val="100000"/>
                        </a:lnSpc>
                        <a:spcBef>
                          <a:spcPts val="1180"/>
                        </a:spcBef>
                      </a:pPr>
                      <a:endParaRPr lang="en-IN" sz="2000" dirty="0">
                        <a:latin typeface="Arial" panose="020B0604020202020204" pitchFamily="34" charset="0"/>
                        <a:cs typeface="Arial" panose="020B0604020202020204" pitchFamily="34" charset="0"/>
                      </a:endParaRPr>
                    </a:p>
                    <a:p>
                      <a:pPr marL="175260" algn="ctr">
                        <a:lnSpc>
                          <a:spcPct val="100000"/>
                        </a:lnSpc>
                        <a:spcBef>
                          <a:spcPts val="1180"/>
                        </a:spcBef>
                      </a:pPr>
                      <a:r>
                        <a:rPr lang="en-IN" sz="2000" dirty="0">
                          <a:latin typeface="Arial" panose="020B0604020202020204" pitchFamily="34" charset="0"/>
                          <a:cs typeface="Arial" panose="020B0604020202020204" pitchFamily="34" charset="0"/>
                        </a:rPr>
                        <a:t>desaidhyan205@gmail.com</a:t>
                      </a:r>
                      <a:endParaRPr sz="2000" dirty="0">
                        <a:latin typeface="Arial" panose="020B0604020202020204" pitchFamily="34" charset="0"/>
                        <a:cs typeface="Arial" panose="020B0604020202020204" pitchFamily="34" charset="0"/>
                      </a:endParaRPr>
                    </a:p>
                  </a:txBody>
                  <a:tcPr marL="0" marR="0" marT="14986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38100">
                      <a:solidFill>
                        <a:srgbClr val="FFFFFF"/>
                      </a:solidFill>
                      <a:prstDash val="solid"/>
                    </a:lnT>
                    <a:lnB w="38100" cap="flat" cmpd="sng" algn="ctr">
                      <a:solidFill>
                        <a:srgbClr val="FFFFFF"/>
                      </a:solidFill>
                      <a:prstDash val="solid"/>
                      <a:round/>
                      <a:headEnd type="none" w="med" len="med"/>
                      <a:tailEnd type="none" w="med" len="med"/>
                    </a:lnB>
                    <a:solidFill>
                      <a:srgbClr val="D0DEEF"/>
                    </a:solidFill>
                  </a:tcPr>
                </a:tc>
                <a:tc>
                  <a:txBody>
                    <a:bodyPr/>
                    <a:lstStyle/>
                    <a:p>
                      <a:pPr marL="421640" algn="ctr">
                        <a:lnSpc>
                          <a:spcPct val="100000"/>
                        </a:lnSpc>
                        <a:spcBef>
                          <a:spcPts val="1165"/>
                        </a:spcBef>
                      </a:pPr>
                      <a:endParaRPr lang="en-US" sz="2000" dirty="0">
                        <a:latin typeface="Arial" panose="020B0604020202020204" pitchFamily="34" charset="0"/>
                        <a:cs typeface="Arial" panose="020B0604020202020204" pitchFamily="34" charset="0"/>
                      </a:endParaRPr>
                    </a:p>
                    <a:p>
                      <a:pPr marL="421640" algn="ctr">
                        <a:lnSpc>
                          <a:spcPct val="100000"/>
                        </a:lnSpc>
                        <a:spcBef>
                          <a:spcPts val="1165"/>
                        </a:spcBef>
                      </a:pPr>
                      <a:r>
                        <a:rPr lang="en-US" sz="2000" dirty="0">
                          <a:latin typeface="Arial" panose="020B0604020202020204" pitchFamily="34" charset="0"/>
                          <a:cs typeface="Arial" panose="020B0604020202020204" pitchFamily="34" charset="0"/>
                        </a:rPr>
                        <a:t>9898027030</a:t>
                      </a:r>
                      <a:endParaRPr sz="2000" dirty="0">
                        <a:latin typeface="Arial" panose="020B0604020202020204" pitchFamily="34" charset="0"/>
                        <a:cs typeface="Arial" panose="020B0604020202020204" pitchFamily="34" charset="0"/>
                      </a:endParaRPr>
                    </a:p>
                  </a:txBody>
                  <a:tcPr marL="0" marR="0" marT="147955" marB="0">
                    <a:lnL w="12700" cap="flat" cmpd="sng" algn="ctr">
                      <a:solidFill>
                        <a:srgbClr val="FFFFFF"/>
                      </a:solidFill>
                      <a:prstDash val="solid"/>
                      <a:round/>
                      <a:headEnd type="none" w="med" len="med"/>
                      <a:tailEnd type="none" w="med" len="med"/>
                    </a:lnL>
                    <a:lnR w="12700">
                      <a:solidFill>
                        <a:srgbClr val="FFFFFF"/>
                      </a:solidFill>
                      <a:prstDash val="solid"/>
                    </a:lnR>
                    <a:lnT w="38100">
                      <a:solidFill>
                        <a:srgbClr val="FFFFFF"/>
                      </a:solidFill>
                      <a:prstDash val="solid"/>
                    </a:lnT>
                    <a:lnB w="38100" cap="flat" cmpd="sng" algn="ctr">
                      <a:solidFill>
                        <a:srgbClr val="FFFFFF"/>
                      </a:solidFill>
                      <a:prstDash val="solid"/>
                      <a:round/>
                      <a:headEnd type="none" w="med" len="med"/>
                      <a:tailEnd type="none" w="med" len="med"/>
                    </a:lnB>
                    <a:solidFill>
                      <a:srgbClr val="D0DEEF"/>
                    </a:solidFill>
                  </a:tcPr>
                </a:tc>
                <a:extLst>
                  <a:ext uri="{0D108BD9-81ED-4DB2-BD59-A6C34878D82A}">
                    <a16:rowId xmlns:a16="http://schemas.microsoft.com/office/drawing/2014/main" val="4024259869"/>
                  </a:ext>
                </a:extLst>
              </a:tr>
              <a:tr h="720851">
                <a:tc>
                  <a:txBody>
                    <a:bodyPr/>
                    <a:lstStyle/>
                    <a:p>
                      <a:pPr marL="626745" algn="ctr">
                        <a:lnSpc>
                          <a:spcPct val="100000"/>
                        </a:lnSpc>
                        <a:spcBef>
                          <a:spcPts val="1135"/>
                        </a:spcBef>
                      </a:pPr>
                      <a:endParaRPr lang="en-US" sz="2000" dirty="0">
                        <a:latin typeface="Arial" panose="020B0604020202020204" pitchFamily="34" charset="0"/>
                        <a:cs typeface="Arial" panose="020B0604020202020204" pitchFamily="34" charset="0"/>
                      </a:endParaRPr>
                    </a:p>
                    <a:p>
                      <a:pPr marL="626745" algn="ctr">
                        <a:lnSpc>
                          <a:spcPct val="100000"/>
                        </a:lnSpc>
                        <a:spcBef>
                          <a:spcPts val="1135"/>
                        </a:spcBef>
                      </a:pPr>
                      <a:r>
                        <a:rPr lang="en-US" sz="2000" dirty="0">
                          <a:latin typeface="Arial" panose="020B0604020202020204" pitchFamily="34" charset="0"/>
                          <a:cs typeface="Arial" panose="020B0604020202020204" pitchFamily="34" charset="0"/>
                        </a:rPr>
                        <a:t>Darshan </a:t>
                      </a:r>
                      <a:r>
                        <a:rPr lang="en-US" sz="2000" dirty="0" err="1">
                          <a:latin typeface="Arial" panose="020B0604020202020204" pitchFamily="34" charset="0"/>
                          <a:cs typeface="Arial" panose="020B0604020202020204" pitchFamily="34" charset="0"/>
                        </a:rPr>
                        <a:t>Bhaveshkumar</a:t>
                      </a:r>
                      <a:r>
                        <a:rPr lang="en-US" sz="2000" dirty="0">
                          <a:latin typeface="Arial" panose="020B0604020202020204" pitchFamily="34" charset="0"/>
                          <a:cs typeface="Arial" panose="020B0604020202020204" pitchFamily="34" charset="0"/>
                        </a:rPr>
                        <a:t> Suthar</a:t>
                      </a:r>
                    </a:p>
                  </a:txBody>
                  <a:tcPr marL="0" marR="0" marT="144145" marB="0">
                    <a:lnL w="12700">
                      <a:solidFill>
                        <a:srgbClr val="FFFFFF"/>
                      </a:solidFill>
                      <a:prstDash val="solid"/>
                    </a:lnL>
                    <a:lnR w="12700" cap="flat" cmpd="sng" algn="ctr">
                      <a:solidFill>
                        <a:srgbClr val="FFFFFF"/>
                      </a:solidFill>
                      <a:prstDash val="solid"/>
                      <a:round/>
                      <a:headEnd type="none" w="med" len="med"/>
                      <a:tailEnd type="none" w="med" len="med"/>
                    </a:lnR>
                    <a:lnT w="38100">
                      <a:solidFill>
                        <a:srgbClr val="FFFFFF"/>
                      </a:solidFill>
                      <a:prstDash val="solid"/>
                    </a:lnT>
                    <a:lnB w="12700">
                      <a:solidFill>
                        <a:srgbClr val="FFFFFF"/>
                      </a:solidFill>
                      <a:prstDash val="solid"/>
                    </a:lnB>
                    <a:solidFill>
                      <a:srgbClr val="D0DEEF"/>
                    </a:solidFill>
                  </a:tcPr>
                </a:tc>
                <a:tc>
                  <a:txBody>
                    <a:bodyPr/>
                    <a:lstStyle/>
                    <a:p>
                      <a:pPr algn="ctr">
                        <a:lnSpc>
                          <a:spcPct val="100000"/>
                        </a:lnSpc>
                      </a:pPr>
                      <a:endParaRPr lang="en-IN" sz="2000" dirty="0">
                        <a:latin typeface="Arial" panose="020B0604020202020204" pitchFamily="34" charset="0"/>
                        <a:cs typeface="Arial" panose="020B0604020202020204" pitchFamily="34" charset="0"/>
                      </a:endParaRPr>
                    </a:p>
                    <a:p>
                      <a:pPr algn="ctr">
                        <a:lnSpc>
                          <a:spcPct val="100000"/>
                        </a:lnSpc>
                      </a:pPr>
                      <a:endParaRPr lang="en-IN" sz="2000" dirty="0">
                        <a:latin typeface="Arial" panose="020B0604020202020204" pitchFamily="34" charset="0"/>
                        <a:cs typeface="Arial" panose="020B0604020202020204" pitchFamily="34" charset="0"/>
                      </a:endParaRPr>
                    </a:p>
                    <a:p>
                      <a:pPr algn="ctr">
                        <a:lnSpc>
                          <a:spcPct val="100000"/>
                        </a:lnSpc>
                      </a:pPr>
                      <a:endParaRPr lang="en-IN" sz="2000" dirty="0">
                        <a:latin typeface="Arial" panose="020B0604020202020204" pitchFamily="34" charset="0"/>
                        <a:cs typeface="Arial" panose="020B0604020202020204" pitchFamily="34" charset="0"/>
                      </a:endParaRPr>
                    </a:p>
                    <a:p>
                      <a:pPr algn="ctr">
                        <a:lnSpc>
                          <a:spcPct val="100000"/>
                        </a:lnSpc>
                      </a:pPr>
                      <a:endParaRPr lang="en-IN" sz="2000" dirty="0">
                        <a:latin typeface="Arial" panose="020B0604020202020204" pitchFamily="34" charset="0"/>
                        <a:cs typeface="Arial" panose="020B0604020202020204" pitchFamily="34" charset="0"/>
                      </a:endParaRPr>
                    </a:p>
                    <a:p>
                      <a:pPr algn="ctr">
                        <a:lnSpc>
                          <a:spcPct val="100000"/>
                        </a:lnSpc>
                      </a:pPr>
                      <a:endParaRPr lang="en-IN" sz="2000" dirty="0">
                        <a:latin typeface="Arial" panose="020B0604020202020204" pitchFamily="34" charset="0"/>
                        <a:cs typeface="Arial" panose="020B0604020202020204" pitchFamily="34" charset="0"/>
                      </a:endParaRPr>
                    </a:p>
                    <a:p>
                      <a:pPr algn="ctr">
                        <a:lnSpc>
                          <a:spcPct val="100000"/>
                        </a:lnSpc>
                      </a:pPr>
                      <a:endParaRPr lang="en-IN" sz="2000" dirty="0">
                        <a:latin typeface="Arial" panose="020B0604020202020204" pitchFamily="34" charset="0"/>
                        <a:cs typeface="Arial" panose="020B0604020202020204" pitchFamily="34" charset="0"/>
                      </a:endParaRPr>
                    </a:p>
                    <a:p>
                      <a:pPr algn="ctr">
                        <a:lnSpc>
                          <a:spcPct val="100000"/>
                        </a:lnSpc>
                      </a:pPr>
                      <a:endParaRPr sz="2000" dirty="0">
                        <a:latin typeface="Arial" panose="020B0604020202020204" pitchFamily="34" charset="0"/>
                        <a:cs typeface="Arial" panose="020B0604020202020204" pitchFamily="34" charset="0"/>
                      </a:endParaRPr>
                    </a:p>
                  </a:txBody>
                  <a:tcPr marL="0" marR="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38100">
                      <a:solidFill>
                        <a:srgbClr val="FFFFFF"/>
                      </a:solidFill>
                      <a:prstDash val="solid"/>
                    </a:lnT>
                    <a:lnB w="12700">
                      <a:solidFill>
                        <a:srgbClr val="FFFFFF"/>
                      </a:solidFill>
                      <a:prstDash val="solid"/>
                    </a:lnB>
                    <a:solidFill>
                      <a:srgbClr val="D0DEEF"/>
                    </a:solidFill>
                  </a:tcPr>
                </a:tc>
                <a:tc>
                  <a:txBody>
                    <a:bodyPr/>
                    <a:lstStyle/>
                    <a:p>
                      <a:pPr marL="175260" algn="ctr">
                        <a:lnSpc>
                          <a:spcPct val="100000"/>
                        </a:lnSpc>
                        <a:spcBef>
                          <a:spcPts val="1180"/>
                        </a:spcBef>
                      </a:pPr>
                      <a:endParaRPr lang="en-IN" sz="2000" dirty="0">
                        <a:latin typeface="Arial" panose="020B0604020202020204" pitchFamily="34" charset="0"/>
                        <a:cs typeface="Arial" panose="020B0604020202020204" pitchFamily="34" charset="0"/>
                      </a:endParaRPr>
                    </a:p>
                    <a:p>
                      <a:pPr marL="175260" algn="ctr">
                        <a:lnSpc>
                          <a:spcPct val="100000"/>
                        </a:lnSpc>
                        <a:spcBef>
                          <a:spcPts val="1180"/>
                        </a:spcBef>
                      </a:pPr>
                      <a:r>
                        <a:rPr lang="en-IN" sz="2000" dirty="0">
                          <a:latin typeface="Arial" panose="020B0604020202020204" pitchFamily="34" charset="0"/>
                          <a:cs typeface="Arial" panose="020B0604020202020204" pitchFamily="34" charset="0"/>
                        </a:rPr>
                        <a:t>suthardarshan484@gmail.com</a:t>
                      </a:r>
                      <a:endParaRPr sz="2000" dirty="0">
                        <a:latin typeface="Arial" panose="020B0604020202020204" pitchFamily="34" charset="0"/>
                        <a:cs typeface="Arial" panose="020B0604020202020204" pitchFamily="34" charset="0"/>
                      </a:endParaRPr>
                    </a:p>
                  </a:txBody>
                  <a:tcPr marL="0" marR="0" marT="14986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38100">
                      <a:solidFill>
                        <a:srgbClr val="FFFFFF"/>
                      </a:solidFill>
                      <a:prstDash val="solid"/>
                    </a:lnT>
                    <a:lnB w="12700">
                      <a:solidFill>
                        <a:srgbClr val="FFFFFF"/>
                      </a:solidFill>
                      <a:prstDash val="solid"/>
                    </a:lnB>
                    <a:solidFill>
                      <a:srgbClr val="D0DEEF"/>
                    </a:solidFill>
                  </a:tcPr>
                </a:tc>
                <a:tc>
                  <a:txBody>
                    <a:bodyPr/>
                    <a:lstStyle/>
                    <a:p>
                      <a:pPr marL="421640" algn="ctr">
                        <a:lnSpc>
                          <a:spcPct val="100000"/>
                        </a:lnSpc>
                        <a:spcBef>
                          <a:spcPts val="1165"/>
                        </a:spcBef>
                      </a:pPr>
                      <a:endParaRPr lang="en-US" sz="2000" dirty="0">
                        <a:latin typeface="Arial" panose="020B0604020202020204" pitchFamily="34" charset="0"/>
                        <a:cs typeface="Arial" panose="020B0604020202020204" pitchFamily="34" charset="0"/>
                      </a:endParaRPr>
                    </a:p>
                    <a:p>
                      <a:pPr marL="421640" algn="ctr">
                        <a:lnSpc>
                          <a:spcPct val="100000"/>
                        </a:lnSpc>
                        <a:spcBef>
                          <a:spcPts val="1165"/>
                        </a:spcBef>
                      </a:pPr>
                      <a:r>
                        <a:rPr lang="en-US" sz="2000" dirty="0">
                          <a:latin typeface="Arial" panose="020B0604020202020204" pitchFamily="34" charset="0"/>
                          <a:cs typeface="Arial" panose="020B0604020202020204" pitchFamily="34" charset="0"/>
                        </a:rPr>
                        <a:t>7069825893</a:t>
                      </a:r>
                      <a:endParaRPr sz="2000" dirty="0">
                        <a:latin typeface="Arial" panose="020B0604020202020204" pitchFamily="34" charset="0"/>
                        <a:cs typeface="Arial" panose="020B0604020202020204" pitchFamily="34" charset="0"/>
                      </a:endParaRPr>
                    </a:p>
                  </a:txBody>
                  <a:tcPr marL="0" marR="0" marT="147955" marB="0">
                    <a:lnL w="12700" cap="flat" cmpd="sng" algn="ctr">
                      <a:solidFill>
                        <a:srgbClr val="FFFFFF"/>
                      </a:solidFill>
                      <a:prstDash val="solid"/>
                      <a:round/>
                      <a:headEnd type="none" w="med" len="med"/>
                      <a:tailEnd type="none" w="med" len="med"/>
                    </a:lnL>
                    <a:lnR w="12700">
                      <a:solidFill>
                        <a:srgbClr val="FFFFFF"/>
                      </a:solidFill>
                      <a:prstDash val="solid"/>
                    </a:lnR>
                    <a:lnT w="38100">
                      <a:solidFill>
                        <a:srgbClr val="FFFFFF"/>
                      </a:solidFill>
                      <a:prstDash val="solid"/>
                    </a:lnT>
                    <a:lnB w="12700">
                      <a:solidFill>
                        <a:srgbClr val="FFFFFF"/>
                      </a:solidFill>
                      <a:prstDash val="solid"/>
                    </a:lnB>
                    <a:solidFill>
                      <a:srgbClr val="D0DEEF"/>
                    </a:solidFill>
                  </a:tcPr>
                </a:tc>
                <a:extLst>
                  <a:ext uri="{0D108BD9-81ED-4DB2-BD59-A6C34878D82A}">
                    <a16:rowId xmlns:a16="http://schemas.microsoft.com/office/drawing/2014/main" val="309528955"/>
                  </a:ext>
                </a:extLst>
              </a:tr>
            </a:tbl>
          </a:graphicData>
        </a:graphic>
      </p:graphicFrame>
      <p:sp>
        <p:nvSpPr>
          <p:cNvPr id="4" name="object 4"/>
          <p:cNvSpPr txBox="1"/>
          <p:nvPr/>
        </p:nvSpPr>
        <p:spPr>
          <a:xfrm>
            <a:off x="929665" y="838403"/>
            <a:ext cx="7748270" cy="443711"/>
          </a:xfrm>
          <a:prstGeom prst="rect">
            <a:avLst/>
          </a:prstGeom>
        </p:spPr>
        <p:txBody>
          <a:bodyPr vert="horz" wrap="square" lIns="0" tIns="12700" rIns="0" bIns="0" rtlCol="0">
            <a:spAutoFit/>
          </a:bodyPr>
          <a:lstStyle/>
          <a:p>
            <a:pPr marL="12700">
              <a:lnSpc>
                <a:spcPct val="100000"/>
              </a:lnSpc>
              <a:spcBef>
                <a:spcPts val="100"/>
              </a:spcBef>
            </a:pPr>
            <a:r>
              <a:rPr sz="2800" dirty="0">
                <a:latin typeface="Arial"/>
                <a:cs typeface="Arial"/>
              </a:rPr>
              <a:t>Domain of Project </a:t>
            </a:r>
            <a:r>
              <a:rPr sz="2100" dirty="0">
                <a:latin typeface="Arial"/>
                <a:cs typeface="Arial"/>
              </a:rPr>
              <a:t>– </a:t>
            </a:r>
            <a:r>
              <a:rPr lang="en-IN" sz="2000" dirty="0">
                <a:highlight>
                  <a:srgbClr val="FFFF00"/>
                </a:highlight>
                <a:latin typeface="Arial"/>
                <a:cs typeface="Arial"/>
              </a:rPr>
              <a:t>Agriculture &amp; Coastal Resilience </a:t>
            </a:r>
            <a:endParaRPr sz="2100" dirty="0">
              <a:highlight>
                <a:srgbClr val="FFFF00"/>
              </a:highlight>
              <a:latin typeface="Arial"/>
              <a:cs typeface="Arial"/>
            </a:endParaRPr>
          </a:p>
        </p:txBody>
      </p:sp>
      <p:sp>
        <p:nvSpPr>
          <p:cNvPr id="5" name="object 5"/>
          <p:cNvSpPr txBox="1"/>
          <p:nvPr/>
        </p:nvSpPr>
        <p:spPr>
          <a:xfrm>
            <a:off x="929665" y="294401"/>
            <a:ext cx="14843735" cy="443711"/>
          </a:xfrm>
          <a:prstGeom prst="rect">
            <a:avLst/>
          </a:prstGeom>
        </p:spPr>
        <p:txBody>
          <a:bodyPr vert="horz" wrap="square" lIns="0" tIns="12700" rIns="0" bIns="0" rtlCol="0">
            <a:spAutoFit/>
          </a:bodyPr>
          <a:lstStyle/>
          <a:p>
            <a:pPr marL="12700">
              <a:lnSpc>
                <a:spcPct val="100000"/>
              </a:lnSpc>
              <a:spcBef>
                <a:spcPts val="100"/>
              </a:spcBef>
            </a:pPr>
            <a:r>
              <a:rPr sz="2800" dirty="0">
                <a:latin typeface="Arial"/>
                <a:cs typeface="Arial"/>
              </a:rPr>
              <a:t>Project Title </a:t>
            </a:r>
            <a:r>
              <a:rPr sz="2100" dirty="0">
                <a:latin typeface="Arial"/>
                <a:cs typeface="Arial"/>
              </a:rPr>
              <a:t>–</a:t>
            </a:r>
            <a:r>
              <a:rPr lang="en-US" sz="2100" spc="-25" dirty="0">
                <a:latin typeface="Arial"/>
                <a:cs typeface="Arial"/>
              </a:rPr>
              <a:t/>
            </a:r>
            <a:r>
              <a:rPr lang="en-US" sz="2000" spc="-25" dirty="0">
                <a:highlight>
                  <a:srgbClr val="FFFF00"/>
                </a:highlight>
                <a:latin typeface="Arial"/>
                <a:cs typeface="Arial"/>
              </a:rPr>
              <a:t>Smart Salinity Ingress &amp; Coastal Farmland Protection Advisor</a:t>
            </a:r>
            <a:endParaRPr sz="2000" dirty="0">
              <a:highlight>
                <a:srgbClr val="FFFF00"/>
              </a:highlight>
              <a:latin typeface="Arial"/>
              <a:cs typeface="Arial"/>
            </a:endParaRPr>
          </a:p>
        </p:txBody>
      </p:sp>
      <p:pic>
        <p:nvPicPr>
          <p:cNvPr id="9" name="Picture 8">
            <a:extLst>
              <a:ext uri="{FF2B5EF4-FFF2-40B4-BE49-F238E27FC236}">
                <a16:creationId xmlns:a16="http://schemas.microsoft.com/office/drawing/2014/main" id="{5F0AF301-F5DC-3FA9-1319-F516B136D70B}"/>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544678" y="7851606"/>
            <a:ext cx="1512909" cy="1818401"/>
          </a:xfrm>
          <a:prstGeom prst="rect">
            <a:avLst/>
          </a:prstGeom>
        </p:spPr>
      </p:pic>
      <p:pic>
        <p:nvPicPr>
          <p:cNvPr id="11" name="Picture 10">
            <a:extLst>
              <a:ext uri="{FF2B5EF4-FFF2-40B4-BE49-F238E27FC236}">
                <a16:creationId xmlns:a16="http://schemas.microsoft.com/office/drawing/2014/main" id="{677A2EB9-4391-05A0-2E62-1927F01E592A}"/>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546953" y="3512176"/>
            <a:ext cx="1512909" cy="1959093"/>
          </a:xfrm>
          <a:prstGeom prst="rect">
            <a:avLst/>
          </a:prstGeom>
        </p:spPr>
      </p:pic>
      <p:pic>
        <p:nvPicPr>
          <p:cNvPr id="15" name="Picture 14">
            <a:extLst>
              <a:ext uri="{FF2B5EF4-FFF2-40B4-BE49-F238E27FC236}">
                <a16:creationId xmlns:a16="http://schemas.microsoft.com/office/drawing/2014/main" id="{DB9B5DD0-7648-CEB7-212F-14C6E1093C46}"/>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6544678" y="5649704"/>
            <a:ext cx="1512909" cy="2017212"/>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2" name="object 12" descr="$PPTXTitle"/>
          <p:cNvSpPr txBox="1">
            <a:spLocks noGrp="1"/>
          </p:cNvSpPr>
          <p:nvPr>
            <p:ph type="title"/>
          </p:nvPr>
        </p:nvSpPr>
        <p:spPr>
          <a:xfrm>
            <a:off x="685800" y="571799"/>
            <a:ext cx="17221200" cy="443711"/>
          </a:xfrm>
          <a:prstGeom prst="rect">
            <a:avLst/>
          </a:prstGeom>
        </p:spPr>
        <p:txBody>
          <a:bodyPr vert="horz" wrap="square" lIns="0" tIns="12700" rIns="0" bIns="0" rtlCol="0">
            <a:spAutoFit/>
          </a:bodyPr>
          <a:lstStyle/>
          <a:p>
            <a:pPr marL="12700">
              <a:spcBef>
                <a:spcPts val="100"/>
              </a:spcBef>
            </a:pPr>
            <a:r>
              <a:rPr sz="2800" dirty="0">
                <a:latin typeface="Arial" panose="020B0604020202020204" pitchFamily="34" charset="0"/>
                <a:cs typeface="Arial" panose="020B0604020202020204" pitchFamily="34" charset="0"/>
              </a:rPr>
              <a:t>Problem Statement </a:t>
            </a:r>
            <a:r>
              <a:rPr sz="2800" spc="-50" dirty="0">
                <a:latin typeface="Arial" panose="020B0604020202020204" pitchFamily="34" charset="0"/>
                <a:cs typeface="Arial" panose="020B0604020202020204" pitchFamily="34" charset="0"/>
              </a:rPr>
              <a:t>-</a:t>
            </a:r>
            <a:r>
              <a:rPr lang="en-US" sz="2800" spc="-50" dirty="0">
                <a:latin typeface="Arial" panose="020B0604020202020204" pitchFamily="34" charset="0"/>
                <a:cs typeface="Arial" panose="020B0604020202020204" pitchFamily="34" charset="0"/>
              </a:rPr>
              <a:t/>
            </a:r>
            <a:r>
              <a:rPr lang="en-US" sz="2800" dirty="0">
                <a:latin typeface="Arial" panose="020B0604020202020204" pitchFamily="34" charset="0"/>
                <a:cs typeface="Arial" panose="020B0604020202020204" pitchFamily="34" charset="0"/>
              </a:rPr>
              <a:t>Smart Salinity Ingress &amp; Coastal Farmland Protection Advisor</a:t>
            </a:r>
            <a:endParaRPr sz="2800" spc="-50" dirty="0">
              <a:latin typeface="Arial" panose="020B0604020202020204" pitchFamily="34" charset="0"/>
              <a:cs typeface="Arial" panose="020B0604020202020204" pitchFamily="34" charset="0"/>
            </a:endParaRPr>
          </a:p>
        </p:txBody>
      </p:sp>
      <p:sp>
        <p:nvSpPr>
          <p:cNvPr id="13" name="TextBox 12">
            <a:extLst>
              <a:ext uri="{FF2B5EF4-FFF2-40B4-BE49-F238E27FC236}">
                <a16:creationId xmlns:a16="http://schemas.microsoft.com/office/drawing/2014/main" id="{259BFCC0-8E62-D5F2-CDCF-13277050618E}"/>
              </a:ext>
            </a:extLst>
          </p:cNvPr>
          <p:cNvSpPr txBox="1"/>
          <p:nvPr/>
        </p:nvSpPr>
        <p:spPr>
          <a:xfrm>
            <a:off x="603913" y="1485900"/>
            <a:ext cx="16230600" cy="6247864"/>
          </a:xfrm>
          <a:prstGeom prst="rect">
            <a:avLst/>
          </a:prstGeom>
          <a:noFill/>
        </p:spPr>
        <p:txBody>
          <a:bodyPr wrap="square" rtlCol="0">
            <a:spAutoFit/>
          </a:bodyPr>
          <a:lstStyle/>
          <a:p>
            <a:r>
              <a:rPr lang="en-US" sz="2000" b="1" dirty="0">
                <a:latin typeface="Arial" panose="020B0604020202020204" pitchFamily="34" charset="0"/>
                <a:cs typeface="Arial" panose="020B0604020202020204" pitchFamily="34" charset="0"/>
              </a:rPr>
              <a:t>Challenge</a:t>
            </a:r>
            <a:r>
              <a:rPr lang="en-US" sz="2000" dirty="0">
                <a:latin typeface="Arial" panose="020B0604020202020204" pitchFamily="34" charset="0"/>
                <a:cs typeface="Arial" panose="020B0604020202020204" pitchFamily="34" charset="0"/>
              </a:rPr>
              <a:t>  – </a:t>
            </a:r>
            <a:r>
              <a:rPr lang="en-US" sz="2000" b="1" dirty="0">
                <a:latin typeface="Arial" panose="020B0604020202020204" pitchFamily="34" charset="0"/>
                <a:cs typeface="Arial" panose="020B0604020202020204" pitchFamily="34" charset="0"/>
              </a:rPr>
              <a:t>Smart Salinity Ingress &amp; Coastal Farmland Protection Advisor</a:t>
            </a:r>
          </a:p>
          <a:p>
            <a:r>
              <a:rPr lang="en-US" sz="2000" dirty="0">
                <a:latin typeface="Arial" panose="020B0604020202020204" pitchFamily="34" charset="0"/>
                <a:cs typeface="Arial" panose="020B0604020202020204" pitchFamily="34" charset="0"/>
              </a:rPr>
              <a:t/>
            </a:r>
          </a:p>
          <a:p>
            <a:r>
              <a:rPr lang="en-IN" sz="2000" b="1" dirty="0">
                <a:latin typeface="Arial" panose="020B0604020202020204" pitchFamily="34" charset="0"/>
                <a:cs typeface="Arial" panose="020B0604020202020204" pitchFamily="34" charset="0"/>
              </a:rPr>
              <a:t>Domain: </a:t>
            </a:r>
            <a:r>
              <a:rPr lang="en-IN" sz="2000" dirty="0">
                <a:latin typeface="Arial" panose="020B0604020202020204" pitchFamily="34" charset="0"/>
                <a:cs typeface="Arial" panose="020B0604020202020204" pitchFamily="34" charset="0"/>
              </a:rPr>
              <a:t>Agriculture &amp; Coastal Resilience </a:t>
            </a:r>
          </a:p>
          <a:p>
            <a:endParaRPr lang="en-IN" sz="2000" dirty="0">
              <a:latin typeface="Arial" panose="020B0604020202020204" pitchFamily="34" charset="0"/>
              <a:cs typeface="Arial" panose="020B0604020202020204" pitchFamily="34" charset="0"/>
            </a:endParaRPr>
          </a:p>
          <a:p>
            <a:r>
              <a:rPr lang="en-US" sz="2000" b="1" dirty="0">
                <a:latin typeface="Arial" panose="020B0604020202020204" pitchFamily="34" charset="0"/>
                <a:cs typeface="Arial" panose="020B0604020202020204" pitchFamily="34" charset="0"/>
              </a:rPr>
              <a:t>The Challenge </a:t>
            </a:r>
          </a:p>
          <a:p>
            <a:r>
              <a:rPr lang="en-US" sz="2000" dirty="0">
                <a:latin typeface="Arial" panose="020B0604020202020204" pitchFamily="34" charset="0"/>
                <a:cs typeface="Arial" panose="020B0604020202020204" pitchFamily="34" charset="0"/>
              </a:rPr>
              <a:t>Coastal districts of Gujarat such as Bhavnagar, Jamnagar, and Kutch face increasing seawater ingress into groundwater and farmland, degrading soil quality and reducing crop yields. Farmers lack timely, localized guidance on salinity-resistant crops and mitigation practices. </a:t>
            </a:r>
          </a:p>
          <a:p>
            <a:endParaRPr lang="en-US" sz="2000" dirty="0">
              <a:latin typeface="Arial" panose="020B0604020202020204" pitchFamily="34" charset="0"/>
              <a:cs typeface="Arial" panose="020B0604020202020204" pitchFamily="34" charset="0"/>
            </a:endParaRPr>
          </a:p>
          <a:p>
            <a:r>
              <a:rPr lang="en-US" sz="2000" b="1" dirty="0">
                <a:latin typeface="Arial" panose="020B0604020202020204" pitchFamily="34" charset="0"/>
                <a:cs typeface="Arial" panose="020B0604020202020204" pitchFamily="34" charset="0"/>
              </a:rPr>
              <a:t>Objective </a:t>
            </a:r>
          </a:p>
          <a:p>
            <a:r>
              <a:rPr lang="en-US" sz="2000" dirty="0">
                <a:latin typeface="Arial" panose="020B0604020202020204" pitchFamily="34" charset="0"/>
                <a:cs typeface="Arial" panose="020B0604020202020204" pitchFamily="34" charset="0"/>
              </a:rPr>
              <a:t>Build Agentic AI solutions that monitor soil and groundwater salinity trends, recommend </a:t>
            </a:r>
            <a:r>
              <a:rPr lang="en-US" sz="2000" dirty="0" err="1">
                <a:latin typeface="Arial" panose="020B0604020202020204" pitchFamily="34" charset="0"/>
                <a:cs typeface="Arial" panose="020B0604020202020204" pitchFamily="34" charset="0"/>
              </a:rPr>
              <a:t>salttolerant</a:t>
            </a:r>
            <a:r>
              <a:rPr lang="en-US" sz="2000" dirty="0">
                <a:latin typeface="Arial" panose="020B0604020202020204" pitchFamily="34" charset="0"/>
                <a:cs typeface="Arial" panose="020B0604020202020204" pitchFamily="34" charset="0"/>
              </a:rPr>
              <a:t> crop alternatives, and guide farmers on land reclamation and irrigation practices. </a:t>
            </a:r>
            <a:endParaRPr lang="en-IN" sz="2000" dirty="0">
              <a:latin typeface="Arial" panose="020B0604020202020204" pitchFamily="34" charset="0"/>
              <a:cs typeface="Arial" panose="020B0604020202020204" pitchFamily="34" charset="0"/>
            </a:endParaRPr>
          </a:p>
          <a:p>
            <a:endParaRPr lang="en-IN" sz="2000" dirty="0">
              <a:latin typeface="Arial" panose="020B0604020202020204" pitchFamily="34" charset="0"/>
              <a:cs typeface="Arial" panose="020B0604020202020204" pitchFamily="34" charset="0"/>
            </a:endParaRPr>
          </a:p>
          <a:p>
            <a:r>
              <a:rPr lang="en-IN" sz="2000" b="1" dirty="0">
                <a:latin typeface="Arial" panose="020B0604020202020204" pitchFamily="34" charset="0"/>
                <a:cs typeface="Arial" panose="020B0604020202020204" pitchFamily="34" charset="0"/>
              </a:rPr>
              <a:t>Suggested AI Agents </a:t>
            </a:r>
          </a:p>
          <a:p>
            <a:r>
              <a:rPr lang="en-IN" sz="2000" dirty="0">
                <a:latin typeface="Arial" panose="020B0604020202020204" pitchFamily="34" charset="0"/>
                <a:cs typeface="Arial" panose="020B0604020202020204" pitchFamily="34" charset="0"/>
              </a:rPr>
              <a:t>• Soil &amp; Groundwater Salinity Monitoring Agent </a:t>
            </a:r>
          </a:p>
          <a:p>
            <a:r>
              <a:rPr lang="en-IN" sz="2000" dirty="0">
                <a:latin typeface="Arial" panose="020B0604020202020204" pitchFamily="34" charset="0"/>
                <a:cs typeface="Arial" panose="020B0604020202020204" pitchFamily="34" charset="0"/>
              </a:rPr>
              <a:t>• Salinity-Resistant Crop Advisory Agent </a:t>
            </a:r>
          </a:p>
          <a:p>
            <a:r>
              <a:rPr lang="en-IN" sz="2000" dirty="0">
                <a:latin typeface="Arial" panose="020B0604020202020204" pitchFamily="34" charset="0"/>
                <a:cs typeface="Arial" panose="020B0604020202020204" pitchFamily="34" charset="0"/>
              </a:rPr>
              <a:t>• Irrigation &amp; Land Reclamation Planning Agent </a:t>
            </a:r>
          </a:p>
          <a:p>
            <a:r>
              <a:rPr lang="en-IN" sz="2000" dirty="0">
                <a:latin typeface="Arial" panose="020B0604020202020204" pitchFamily="34" charset="0"/>
                <a:cs typeface="Arial" panose="020B0604020202020204" pitchFamily="34" charset="0"/>
              </a:rPr>
              <a:t>• Farmer Alert &amp; Advisory Agent </a:t>
            </a:r>
          </a:p>
          <a:p>
            <a:r>
              <a:rPr lang="en-IN" sz="2000" dirty="0">
                <a:latin typeface="Arial" panose="020B0604020202020204" pitchFamily="34" charset="0"/>
                <a:cs typeface="Arial" panose="020B0604020202020204" pitchFamily="34" charset="0"/>
              </a:rPr>
              <a:t>• Coastal Farmland Health Dashboard Agent </a:t>
            </a:r>
          </a:p>
          <a:p>
            <a:endParaRPr lang="en-IN" sz="2000" dirty="0">
              <a:latin typeface="Arial" panose="020B0604020202020204" pitchFamily="34" charset="0"/>
              <a:cs typeface="Arial" panose="020B0604020202020204" pitchFamily="34" charset="0"/>
            </a:endParaRPr>
          </a:p>
          <a:p>
            <a:r>
              <a:rPr lang="en-US" sz="2000" b="1" dirty="0">
                <a:latin typeface="Arial" panose="020B0604020202020204" pitchFamily="34" charset="0"/>
                <a:cs typeface="Arial" panose="020B0604020202020204" pitchFamily="34" charset="0"/>
              </a:rPr>
              <a:t>Technology to be used </a:t>
            </a:r>
            <a:r>
              <a:rPr lang="en-US" sz="2000" dirty="0">
                <a:latin typeface="Arial" panose="020B0604020202020204" pitchFamily="34" charset="0"/>
                <a:cs typeface="Arial" panose="020B0604020202020204" pitchFamily="34" charset="0"/>
              </a:rPr>
              <a:t>– IBM Bob + IBM Granite LLM + IBM cloud </a:t>
            </a:r>
            <a:endParaRPr lang="en-IN" sz="2000" dirty="0">
              <a:latin typeface="Arial" panose="020B0604020202020204" pitchFamily="34" charset="0"/>
              <a:cs typeface="Arial" panose="020B0604020202020204" pitchFamily="34"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5" name="Title 24">
            <a:extLst>
              <a:ext uri="{FF2B5EF4-FFF2-40B4-BE49-F238E27FC236}">
                <a16:creationId xmlns:a16="http://schemas.microsoft.com/office/drawing/2014/main" id="{78E2E8EB-969D-5B2E-32B4-CDAE3E41E6D2}"/>
              </a:ext>
            </a:extLst>
          </p:cNvPr>
          <p:cNvSpPr>
            <a:spLocks noGrp="1"/>
          </p:cNvSpPr>
          <p:nvPr>
            <p:ph type="title"/>
          </p:nvPr>
        </p:nvSpPr>
        <p:spPr>
          <a:xfrm>
            <a:off x="135340" y="140613"/>
            <a:ext cx="17715619" cy="430887"/>
          </a:xfrm>
        </p:spPr>
        <p:txBody>
          <a:bodyPr/>
          <a:lstStyle/>
          <a:p>
            <a:r>
              <a:rPr lang="en-US" sz="2800" dirty="0"/>
              <a:t>PROPOSED SOLUTION : Smart Salinity Ingress &amp; Coastal Farmland Protection Advisor </a:t>
            </a:r>
            <a:endParaRPr lang="en-IN" sz="2800" dirty="0"/>
          </a:p>
        </p:txBody>
      </p:sp>
      <p:sp>
        <p:nvSpPr>
          <p:cNvPr id="26" name="TextBox 25">
            <a:extLst>
              <a:ext uri="{FF2B5EF4-FFF2-40B4-BE49-F238E27FC236}">
                <a16:creationId xmlns:a16="http://schemas.microsoft.com/office/drawing/2014/main" id="{3A7FABB2-3B8D-55AE-DD48-4BE2E4A6157F}"/>
              </a:ext>
            </a:extLst>
          </p:cNvPr>
          <p:cNvSpPr txBox="1"/>
          <p:nvPr/>
        </p:nvSpPr>
        <p:spPr>
          <a:xfrm>
            <a:off x="145007" y="876300"/>
            <a:ext cx="17997986" cy="9017853"/>
          </a:xfrm>
          <a:prstGeom prst="rect">
            <a:avLst/>
          </a:prstGeom>
          <a:noFill/>
        </p:spPr>
        <p:txBody>
          <a:bodyPr wrap="square" rtlCol="0">
            <a:spAutoFit/>
          </a:bodyPr>
          <a:lstStyle/>
          <a:p>
            <a:r>
              <a:rPr lang="en-IN" sz="2000" b="1" dirty="0">
                <a:latin typeface="Times New Roman" panose="02020603050405020304" pitchFamily="18" charset="0"/>
                <a:cs typeface="Times New Roman" panose="02020603050405020304" pitchFamily="18" charset="0"/>
              </a:rPr>
              <a:t>Salinity Shield AI: An AI-Powered Coastal Farmland Intelligence &amp; Early-Warning System</a:t>
            </a:r>
          </a:p>
          <a:p>
            <a:endParaRPr lang="en-IN" sz="2000" b="1" dirty="0">
              <a:latin typeface="Times New Roman" panose="02020603050405020304" pitchFamily="18" charset="0"/>
              <a:cs typeface="Times New Roman" panose="02020603050405020304" pitchFamily="18" charset="0"/>
            </a:endParaRPr>
          </a:p>
          <a:p>
            <a:r>
              <a:rPr lang="en-IN" sz="2000" b="1" dirty="0">
                <a:latin typeface="Times New Roman" panose="02020603050405020304" pitchFamily="18" charset="0"/>
                <a:cs typeface="Times New Roman" panose="02020603050405020304" pitchFamily="18" charset="0"/>
              </a:rPr>
              <a:t>Salinity Shield AI</a:t>
            </a:r>
            <a:r>
              <a:rPr lang="en-IN" sz="2000" dirty="0">
                <a:latin typeface="Times New Roman" panose="02020603050405020304" pitchFamily="18" charset="0"/>
                <a:cs typeface="Times New Roman" panose="02020603050405020304" pitchFamily="18" charset="0"/>
              </a:rPr>
              <a:t> is a smart agricultural decision-support platform designed to help farmers and agricultural authorities </a:t>
            </a:r>
            <a:r>
              <a:rPr lang="en-IN" sz="2000" b="1" dirty="0">
                <a:latin typeface="Times New Roman" panose="02020603050405020304" pitchFamily="18" charset="0"/>
                <a:cs typeface="Times New Roman" panose="02020603050405020304" pitchFamily="18" charset="0"/>
              </a:rPr>
              <a:t>detect, predict, understand, and manage soil salinity in coastal farmland</a:t>
            </a:r>
            <a:r>
              <a:rPr lang="en-IN" sz="2000" dirty="0">
                <a:latin typeface="Times New Roman" panose="02020603050405020304" pitchFamily="18" charset="0"/>
                <a:cs typeface="Times New Roman" panose="02020603050405020304" pitchFamily="18" charset="0"/>
              </a:rPr>
              <a:t>. The system combines </a:t>
            </a:r>
            <a:r>
              <a:rPr lang="en-IN" sz="2000" b="1" dirty="0">
                <a:latin typeface="Times New Roman" panose="02020603050405020304" pitchFamily="18" charset="0"/>
                <a:cs typeface="Times New Roman" panose="02020603050405020304" pitchFamily="18" charset="0"/>
              </a:rPr>
              <a:t>IoT/sensor data, AI analytics, geospatial risk mapping, forecasting, alerts, and actionable recommendations</a:t>
            </a:r>
            <a:r>
              <a:rPr lang="en-IN" sz="2000" dirty="0">
                <a:latin typeface="Times New Roman" panose="02020603050405020304" pitchFamily="18" charset="0"/>
                <a:cs typeface="Times New Roman" panose="02020603050405020304" pitchFamily="18" charset="0"/>
              </a:rPr>
              <a:t> to prevent salinity from reducing soil quality, crop productivity, and long-term farmland sustainability.</a:t>
            </a:r>
          </a:p>
          <a:p>
            <a:endParaRPr lang="en-IN" sz="2000" dirty="0">
              <a:latin typeface="Times New Roman" panose="02020603050405020304" pitchFamily="18" charset="0"/>
              <a:cs typeface="Times New Roman" panose="02020603050405020304" pitchFamily="18" charset="0"/>
            </a:endParaRPr>
          </a:p>
          <a:p>
            <a:r>
              <a:rPr lang="en-IN" sz="2000" b="1" dirty="0">
                <a:latin typeface="Times New Roman" panose="02020603050405020304" pitchFamily="18" charset="0"/>
                <a:cs typeface="Times New Roman" panose="02020603050405020304" pitchFamily="18" charset="0"/>
              </a:rPr>
              <a:t>1. Problem Addressed</a:t>
            </a:r>
          </a:p>
          <a:p>
            <a:r>
              <a:rPr lang="en-IN" sz="2000" dirty="0">
                <a:latin typeface="Times New Roman" panose="02020603050405020304" pitchFamily="18" charset="0"/>
                <a:cs typeface="Times New Roman" panose="02020603050405020304" pitchFamily="18" charset="0"/>
              </a:rPr>
              <a:t>Coastal agricultural regions, particularly areas of Gujarat, face increasing risks from:</a:t>
            </a:r>
          </a:p>
          <a:p>
            <a:pPr lvl="0"/>
            <a:r>
              <a:rPr lang="en-IN" sz="2000" b="1" dirty="0">
                <a:latin typeface="Times New Roman" panose="02020603050405020304" pitchFamily="18" charset="0"/>
                <a:cs typeface="Times New Roman" panose="02020603050405020304" pitchFamily="18" charset="0"/>
              </a:rPr>
              <a:t>Seawater intrusion</a:t>
            </a:r>
            <a:r>
              <a:rPr lang="en-IN" sz="2000" dirty="0">
                <a:latin typeface="Times New Roman" panose="02020603050405020304" pitchFamily="18" charset="0"/>
                <a:cs typeface="Times New Roman" panose="02020603050405020304" pitchFamily="18" charset="0"/>
              </a:rPr>
              <a:t/>
            </a:r>
          </a:p>
          <a:p>
            <a:pPr lvl="0"/>
            <a:r>
              <a:rPr lang="en-IN" sz="2000" dirty="0">
                <a:latin typeface="Times New Roman" panose="02020603050405020304" pitchFamily="18" charset="0"/>
                <a:cs typeface="Times New Roman" panose="02020603050405020304" pitchFamily="18" charset="0"/>
              </a:rPr>
              <a:t>Rising soil salinity </a:t>
            </a:r>
          </a:p>
          <a:p>
            <a:pPr lvl="0"/>
            <a:r>
              <a:rPr lang="en-IN" sz="2000" dirty="0">
                <a:latin typeface="Times New Roman" panose="02020603050405020304" pitchFamily="18" charset="0"/>
                <a:cs typeface="Times New Roman" panose="02020603050405020304" pitchFamily="18" charset="0"/>
              </a:rPr>
              <a:t>Saline irrigation water </a:t>
            </a:r>
          </a:p>
          <a:p>
            <a:pPr lvl="0"/>
            <a:r>
              <a:rPr lang="en-IN" sz="2000" dirty="0">
                <a:latin typeface="Times New Roman" panose="02020603050405020304" pitchFamily="18" charset="0"/>
                <a:cs typeface="Times New Roman" panose="02020603050405020304" pitchFamily="18" charset="0"/>
              </a:rPr>
              <a:t>Poor drainage and waterlogging </a:t>
            </a:r>
          </a:p>
          <a:p>
            <a:pPr lvl="0"/>
            <a:r>
              <a:rPr lang="en-IN" sz="2000" dirty="0">
                <a:latin typeface="Times New Roman" panose="02020603050405020304" pitchFamily="18" charset="0"/>
                <a:cs typeface="Times New Roman" panose="02020603050405020304" pitchFamily="18" charset="0"/>
              </a:rPr>
              <a:t>Irregular rainfall </a:t>
            </a:r>
          </a:p>
          <a:p>
            <a:pPr lvl="0"/>
            <a:r>
              <a:rPr lang="en-IN" sz="2000" dirty="0">
                <a:latin typeface="Times New Roman" panose="02020603050405020304" pitchFamily="18" charset="0"/>
                <a:cs typeface="Times New Roman" panose="02020603050405020304" pitchFamily="18" charset="0"/>
              </a:rPr>
              <a:t>Excessive irrigation </a:t>
            </a:r>
          </a:p>
          <a:p>
            <a:pPr lvl="0"/>
            <a:r>
              <a:rPr lang="en-IN" sz="2000" dirty="0">
                <a:latin typeface="Times New Roman" panose="02020603050405020304" pitchFamily="18" charset="0"/>
                <a:cs typeface="Times New Roman" panose="02020603050405020304" pitchFamily="18" charset="0"/>
              </a:rPr>
              <a:t>Changing climatic conditions </a:t>
            </a:r>
          </a:p>
          <a:p>
            <a:pPr lvl="0"/>
            <a:r>
              <a:rPr lang="en-IN" sz="2000" dirty="0">
                <a:latin typeface="Times New Roman" panose="02020603050405020304" pitchFamily="18" charset="0"/>
                <a:cs typeface="Times New Roman" panose="02020603050405020304" pitchFamily="18" charset="0"/>
              </a:rPr>
              <a:t>Gradual degradation of agricultural soil </a:t>
            </a:r>
          </a:p>
          <a:p>
            <a:pPr lvl="0"/>
            <a:r>
              <a:rPr lang="en-IN" sz="2000" dirty="0">
                <a:latin typeface="Times New Roman" panose="02020603050405020304" pitchFamily="18" charset="0"/>
                <a:cs typeface="Times New Roman" panose="02020603050405020304" pitchFamily="18" charset="0"/>
              </a:rPr>
              <a:t>Reduced crop productivity </a:t>
            </a:r>
          </a:p>
          <a:p>
            <a:pPr lvl="0"/>
            <a:r>
              <a:rPr lang="en-IN" sz="2000" dirty="0">
                <a:latin typeface="Times New Roman" panose="02020603050405020304" pitchFamily="18" charset="0"/>
                <a:cs typeface="Times New Roman" panose="02020603050405020304" pitchFamily="18" charset="0"/>
              </a:rPr>
              <a:t>Lack of timely and understandable information for farmers </a:t>
            </a:r>
          </a:p>
          <a:p>
            <a:pPr lvl="0"/>
            <a:endParaRPr lang="en-IN" sz="2000" dirty="0">
              <a:latin typeface="Times New Roman" panose="02020603050405020304" pitchFamily="18" charset="0"/>
              <a:cs typeface="Times New Roman" panose="02020603050405020304" pitchFamily="18" charset="0"/>
            </a:endParaRPr>
          </a:p>
          <a:p>
            <a:r>
              <a:rPr lang="en-IN" sz="2000" dirty="0">
                <a:latin typeface="Times New Roman" panose="02020603050405020304" pitchFamily="18" charset="0"/>
                <a:cs typeface="Times New Roman" panose="02020603050405020304" pitchFamily="18" charset="0"/>
              </a:rPr>
              <a:t>The major challenge is that </a:t>
            </a:r>
            <a:r>
              <a:rPr lang="en-IN" sz="2000" b="1" dirty="0">
                <a:latin typeface="Times New Roman" panose="02020603050405020304" pitchFamily="18" charset="0"/>
                <a:cs typeface="Times New Roman" panose="02020603050405020304" pitchFamily="18" charset="0"/>
              </a:rPr>
              <a:t>soil salinity often becomes visible only after significant damage has already occurred</a:t>
            </a:r>
            <a:r>
              <a:rPr lang="en-IN" sz="2000" dirty="0">
                <a:latin typeface="Times New Roman" panose="02020603050405020304" pitchFamily="18" charset="0"/>
                <a:cs typeface="Times New Roman" panose="02020603050405020304" pitchFamily="18" charset="0"/>
              </a:rPr>
              <a:t>.</a:t>
            </a:r>
          </a:p>
          <a:p>
            <a:endParaRPr lang="en-IN" sz="2000" dirty="0">
              <a:latin typeface="Times New Roman" panose="02020603050405020304" pitchFamily="18" charset="0"/>
              <a:cs typeface="Times New Roman" panose="02020603050405020304" pitchFamily="18" charset="0"/>
            </a:endParaRPr>
          </a:p>
          <a:p>
            <a:r>
              <a:rPr lang="en-IN" sz="2000" dirty="0">
                <a:latin typeface="Times New Roman" panose="02020603050405020304" pitchFamily="18" charset="0"/>
                <a:cs typeface="Times New Roman" panose="02020603050405020304" pitchFamily="18" charset="0"/>
              </a:rPr>
              <a:t>Farmers may have sensor readings or agricultural data, but raw values such as </a:t>
            </a:r>
            <a:r>
              <a:rPr lang="en-IN" sz="2000" b="1" dirty="0">
                <a:latin typeface="Times New Roman" panose="02020603050405020304" pitchFamily="18" charset="0"/>
                <a:cs typeface="Times New Roman" panose="02020603050405020304" pitchFamily="18" charset="0"/>
              </a:rPr>
              <a:t>EC (Electrical Conductivity), soil moisture, pH, and temperature</a:t>
            </a:r>
            <a:r>
              <a:rPr lang="en-IN" sz="2000" dirty="0">
                <a:latin typeface="Times New Roman" panose="02020603050405020304" pitchFamily="18" charset="0"/>
                <a:cs typeface="Times New Roman" panose="02020603050405020304" pitchFamily="18" charset="0"/>
              </a:rPr>
              <a:t> do not directly tell them:</a:t>
            </a:r>
          </a:p>
          <a:p>
            <a:endParaRPr lang="en-IN" sz="2000" dirty="0">
              <a:latin typeface="Times New Roman" panose="02020603050405020304" pitchFamily="18" charset="0"/>
              <a:cs typeface="Times New Roman" panose="02020603050405020304" pitchFamily="18" charset="0"/>
            </a:endParaRPr>
          </a:p>
          <a:p>
            <a:r>
              <a:rPr lang="en-IN" sz="2000" dirty="0">
                <a:latin typeface="Times New Roman" panose="02020603050405020304" pitchFamily="18" charset="0"/>
                <a:cs typeface="Times New Roman" panose="02020603050405020304" pitchFamily="18" charset="0"/>
              </a:rPr>
              <a:t>What is happening?</a:t>
            </a:r>
          </a:p>
          <a:p>
            <a:r>
              <a:rPr lang="en-IN" sz="2000" dirty="0">
                <a:latin typeface="Times New Roman" panose="02020603050405020304" pitchFamily="18" charset="0"/>
                <a:cs typeface="Times New Roman" panose="02020603050405020304" pitchFamily="18" charset="0"/>
              </a:rPr>
              <a:t> Why is it happening? </a:t>
            </a:r>
          </a:p>
          <a:p>
            <a:r>
              <a:rPr lang="en-IN" sz="2000" dirty="0">
                <a:latin typeface="Times New Roman" panose="02020603050405020304" pitchFamily="18" charset="0"/>
                <a:cs typeface="Times New Roman" panose="02020603050405020304" pitchFamily="18" charset="0"/>
              </a:rPr>
              <a:t>What will happen next? </a:t>
            </a:r>
          </a:p>
          <a:p>
            <a:r>
              <a:rPr lang="en-IN" sz="2000" dirty="0">
                <a:latin typeface="Times New Roman" panose="02020603050405020304" pitchFamily="18" charset="0"/>
                <a:cs typeface="Times New Roman" panose="02020603050405020304" pitchFamily="18" charset="0"/>
              </a:rPr>
              <a:t>And what should I do now?</a:t>
            </a:r>
          </a:p>
          <a:p>
            <a:endParaRPr lang="en-IN" sz="2000" dirty="0">
              <a:latin typeface="Times New Roman" panose="02020603050405020304" pitchFamily="18" charset="0"/>
              <a:cs typeface="Times New Roman" panose="02020603050405020304" pitchFamily="18" charset="0"/>
            </a:endParaRPr>
          </a:p>
          <a:p>
            <a:r>
              <a:rPr lang="en-IN" sz="2000" b="1" dirty="0">
                <a:latin typeface="Times New Roman" panose="02020603050405020304" pitchFamily="18" charset="0"/>
                <a:cs typeface="Times New Roman" panose="02020603050405020304" pitchFamily="18" charset="0"/>
              </a:rPr>
              <a:t>Salinity Shield AI converts these raw agricultural signals into understandable risk scores, predictions, explanations, alerts, and recommended actions.</a:t>
            </a:r>
            <a:endParaRPr lang="en-IN" sz="20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0A44039D-02EB-7029-DE62-BE1382ACBF49}"/>
              </a:ext>
            </a:extLst>
          </p:cNvPr>
          <p:cNvSpPr>
            <a:spLocks noGrp="1"/>
          </p:cNvSpPr>
          <p:nvPr>
            <p:ph type="body" idx="1"/>
          </p:nvPr>
        </p:nvSpPr>
        <p:spPr>
          <a:xfrm>
            <a:off x="304799" y="206692"/>
            <a:ext cx="17678401" cy="9356408"/>
          </a:xfrm>
        </p:spPr>
        <p:txBody>
          <a:bodyPr/>
          <a:lstStyle/>
          <a:p>
            <a:r>
              <a:rPr lang="en-IN" sz="2000" b="1" dirty="0"/>
              <a:t>2. Proposed Solution</a:t>
            </a:r>
          </a:p>
          <a:p>
            <a:r>
              <a:rPr lang="en-IN" sz="2000" dirty="0"/>
              <a:t>The platform creates a </a:t>
            </a:r>
            <a:r>
              <a:rPr lang="en-IN" sz="2000" b="1" dirty="0"/>
              <a:t>digital intelligence layer for every farm</a:t>
            </a:r>
            <a:r>
              <a:rPr lang="en-IN" sz="2000" dirty="0"/>
              <a:t>.</a:t>
            </a:r>
          </a:p>
          <a:p>
            <a:endParaRPr lang="en-IN" sz="2000" dirty="0"/>
          </a:p>
          <a:p>
            <a:r>
              <a:rPr lang="en-IN" sz="2000" b="1" dirty="0"/>
              <a:t>Data → Detection → Risk Analysis → Prediction → AI Explanation → Action → Monitoring</a:t>
            </a:r>
          </a:p>
          <a:p>
            <a:endParaRPr lang="en-IN" sz="2000" b="1" dirty="0"/>
          </a:p>
          <a:p>
            <a:r>
              <a:rPr lang="en-IN" sz="2000" dirty="0"/>
              <a:t>The system continuously analyses farm conditions and determines:</a:t>
            </a:r>
          </a:p>
          <a:p>
            <a:pPr lvl="0"/>
            <a:r>
              <a:rPr lang="en-IN" sz="2000" dirty="0"/>
              <a:t>Current soil salinity level </a:t>
            </a:r>
          </a:p>
          <a:p>
            <a:pPr lvl="0"/>
            <a:r>
              <a:rPr lang="en-IN" sz="2000" dirty="0"/>
              <a:t>Salinity risk </a:t>
            </a:r>
          </a:p>
          <a:p>
            <a:pPr lvl="0"/>
            <a:r>
              <a:rPr lang="en-IN" sz="2000" dirty="0"/>
              <a:t>Rate of salinity change </a:t>
            </a:r>
          </a:p>
          <a:p>
            <a:pPr lvl="0"/>
            <a:r>
              <a:rPr lang="en-IN" sz="2000" dirty="0"/>
              <a:t>Farm health </a:t>
            </a:r>
          </a:p>
          <a:p>
            <a:pPr lvl="0"/>
            <a:r>
              <a:rPr lang="en-IN" sz="2000" dirty="0"/>
              <a:t>Whether conditions are improving or worsening </a:t>
            </a:r>
          </a:p>
          <a:p>
            <a:pPr lvl="0"/>
            <a:r>
              <a:rPr lang="en-IN" sz="2000" dirty="0"/>
              <a:t>Possible causes </a:t>
            </a:r>
          </a:p>
          <a:p>
            <a:pPr lvl="0"/>
            <a:r>
              <a:rPr lang="en-IN" sz="2000" dirty="0"/>
              <a:t>Future salinity risk </a:t>
            </a:r>
          </a:p>
          <a:p>
            <a:pPr lvl="0"/>
            <a:r>
              <a:rPr lang="en-IN" sz="2000" dirty="0"/>
              <a:t>Suitable intervention </a:t>
            </a:r>
          </a:p>
          <a:p>
            <a:pPr lvl="0"/>
            <a:r>
              <a:rPr lang="en-IN" sz="2000" dirty="0"/>
              <a:t>Expected outcome of an intervention </a:t>
            </a:r>
          </a:p>
          <a:p>
            <a:r>
              <a:rPr lang="en-IN" sz="2000" dirty="0"/>
              <a:t>This allows farmers to move from </a:t>
            </a:r>
            <a:r>
              <a:rPr lang="en-IN" sz="2000" b="1" dirty="0"/>
              <a:t>reactive farming to predictive and preventive farming</a:t>
            </a:r>
            <a:r>
              <a:rPr lang="en-IN" sz="2000" dirty="0"/>
              <a:t>.</a:t>
            </a:r>
          </a:p>
          <a:p>
            <a:endParaRPr lang="en-IN" sz="2000" dirty="0"/>
          </a:p>
          <a:p>
            <a:r>
              <a:rPr lang="en-IN" sz="2000" b="1" dirty="0"/>
              <a:t>3. Core System Modules</a:t>
            </a:r>
          </a:p>
          <a:p>
            <a:r>
              <a:rPr lang="en-IN" sz="2000" b="1" dirty="0"/>
              <a:t>A. Smart Farm Registration</a:t>
            </a:r>
          </a:p>
          <a:p>
            <a:r>
              <a:rPr lang="en-IN" sz="2000" dirty="0"/>
              <a:t>Farmers can add individual farms with information such as:</a:t>
            </a:r>
          </a:p>
          <a:p>
            <a:pPr lvl="0"/>
            <a:r>
              <a:rPr lang="en-IN" sz="2000" dirty="0"/>
              <a:t>Farm name </a:t>
            </a:r>
          </a:p>
          <a:p>
            <a:pPr lvl="0"/>
            <a:r>
              <a:rPr lang="en-IN" sz="2000" dirty="0"/>
              <a:t>Location </a:t>
            </a:r>
          </a:p>
          <a:p>
            <a:pPr lvl="0"/>
            <a:r>
              <a:rPr lang="en-IN" sz="2000" dirty="0"/>
              <a:t>Area </a:t>
            </a:r>
          </a:p>
          <a:p>
            <a:pPr lvl="0"/>
            <a:r>
              <a:rPr lang="en-IN" sz="2000" dirty="0"/>
              <a:t>Crop </a:t>
            </a:r>
          </a:p>
          <a:p>
            <a:pPr lvl="0"/>
            <a:r>
              <a:rPr lang="en-IN" sz="2000" dirty="0"/>
              <a:t>Soil characteristics </a:t>
            </a:r>
          </a:p>
          <a:p>
            <a:pPr lvl="0"/>
            <a:r>
              <a:rPr lang="en-IN" sz="2000" dirty="0"/>
              <a:t>Irrigation information </a:t>
            </a:r>
          </a:p>
          <a:p>
            <a:pPr lvl="0"/>
            <a:r>
              <a:rPr lang="en-IN" sz="2000" dirty="0"/>
              <a:t>Sensor information </a:t>
            </a:r>
          </a:p>
          <a:p>
            <a:r>
              <a:rPr lang="en-IN" sz="2000" dirty="0"/>
              <a:t>Each farm receives its own </a:t>
            </a:r>
            <a:r>
              <a:rPr lang="en-IN" sz="2000" b="1" dirty="0"/>
              <a:t>digital farm profile</a:t>
            </a:r>
            <a:r>
              <a:rPr lang="en-IN" sz="2000" dirty="0"/>
              <a:t>.</a:t>
            </a:r>
          </a:p>
          <a:p>
            <a:endParaRPr lang="en-IN" sz="2000" dirty="0"/>
          </a:p>
          <a:p>
            <a:endParaRPr lang="en-IN" dirty="0"/>
          </a:p>
        </p:txBody>
      </p:sp>
    </p:spTree>
    <p:extLst>
      <p:ext uri="{BB962C8B-B14F-4D97-AF65-F5344CB8AC3E}">
        <p14:creationId xmlns:p14="http://schemas.microsoft.com/office/powerpoint/2010/main" val="348889567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1B956AEA-8F59-BF88-FA86-BC43650F9972}"/>
              </a:ext>
            </a:extLst>
          </p:cNvPr>
          <p:cNvSpPr>
            <a:spLocks noGrp="1"/>
          </p:cNvSpPr>
          <p:nvPr>
            <p:ph type="body" idx="1"/>
          </p:nvPr>
        </p:nvSpPr>
        <p:spPr>
          <a:xfrm>
            <a:off x="228600" y="190500"/>
            <a:ext cx="17754599" cy="9233297"/>
          </a:xfrm>
        </p:spPr>
        <p:txBody>
          <a:bodyPr/>
          <a:lstStyle/>
          <a:p>
            <a:r>
              <a:rPr lang="en-IN" sz="2000" b="1" dirty="0">
                <a:latin typeface="Arial" panose="020B0604020202020204" pitchFamily="34" charset="0"/>
                <a:cs typeface="Arial" panose="020B0604020202020204" pitchFamily="34" charset="0"/>
              </a:rPr>
              <a:t>B. Real-Time Soil Monitoring</a:t>
            </a:r>
          </a:p>
          <a:p>
            <a:r>
              <a:rPr lang="en-IN" sz="2000" dirty="0">
                <a:latin typeface="Arial" panose="020B0604020202020204" pitchFamily="34" charset="0"/>
                <a:cs typeface="Arial" panose="020B0604020202020204" pitchFamily="34" charset="0"/>
              </a:rPr>
              <a:t>The platform collects or simulates data from agricultural sensors such as:</a:t>
            </a:r>
          </a:p>
          <a:p>
            <a:pPr lvl="0"/>
            <a:r>
              <a:rPr lang="en-IN" sz="2000" b="1" dirty="0">
                <a:latin typeface="Arial" panose="020B0604020202020204" pitchFamily="34" charset="0"/>
                <a:cs typeface="Arial" panose="020B0604020202020204" pitchFamily="34" charset="0"/>
              </a:rPr>
              <a:t>Soil EC</a:t>
            </a:r>
            <a:r>
              <a:rPr lang="en-IN" sz="2000" dirty="0">
                <a:latin typeface="Arial" panose="020B0604020202020204" pitchFamily="34" charset="0"/>
                <a:cs typeface="Arial" panose="020B0604020202020204" pitchFamily="34" charset="0"/>
              </a:rPr>
              <a:t/>
            </a:r>
          </a:p>
          <a:p>
            <a:pPr lvl="0"/>
            <a:r>
              <a:rPr lang="en-IN" sz="2000" dirty="0">
                <a:latin typeface="Arial" panose="020B0604020202020204" pitchFamily="34" charset="0"/>
                <a:cs typeface="Arial" panose="020B0604020202020204" pitchFamily="34" charset="0"/>
              </a:rPr>
              <a:t>Soil moisture </a:t>
            </a:r>
          </a:p>
          <a:p>
            <a:pPr lvl="0"/>
            <a:r>
              <a:rPr lang="en-IN" sz="2000" dirty="0">
                <a:latin typeface="Arial" panose="020B0604020202020204" pitchFamily="34" charset="0"/>
                <a:cs typeface="Arial" panose="020B0604020202020204" pitchFamily="34" charset="0"/>
              </a:rPr>
              <a:t>Soil temperature </a:t>
            </a:r>
          </a:p>
          <a:p>
            <a:pPr lvl="0"/>
            <a:r>
              <a:rPr lang="en-IN" sz="2000" dirty="0">
                <a:latin typeface="Arial" panose="020B0604020202020204" pitchFamily="34" charset="0"/>
                <a:cs typeface="Arial" panose="020B0604020202020204" pitchFamily="34" charset="0"/>
              </a:rPr>
              <a:t>pH </a:t>
            </a:r>
          </a:p>
          <a:p>
            <a:pPr lvl="0"/>
            <a:r>
              <a:rPr lang="en-IN" sz="2000" dirty="0">
                <a:latin typeface="Arial" panose="020B0604020202020204" pitchFamily="34" charset="0"/>
                <a:cs typeface="Arial" panose="020B0604020202020204" pitchFamily="34" charset="0"/>
              </a:rPr>
              <a:t>Water quality </a:t>
            </a:r>
          </a:p>
          <a:p>
            <a:pPr lvl="0"/>
            <a:r>
              <a:rPr lang="en-IN" sz="2000" dirty="0">
                <a:latin typeface="Arial" panose="020B0604020202020204" pitchFamily="34" charset="0"/>
                <a:cs typeface="Arial" panose="020B0604020202020204" pitchFamily="34" charset="0"/>
              </a:rPr>
              <a:t>Irrigation-related parameters </a:t>
            </a:r>
          </a:p>
          <a:p>
            <a:pPr lvl="0"/>
            <a:endParaRPr lang="en-IN" sz="2000" dirty="0">
              <a:latin typeface="Arial" panose="020B0604020202020204" pitchFamily="34" charset="0"/>
              <a:cs typeface="Arial" panose="020B0604020202020204" pitchFamily="34" charset="0"/>
            </a:endParaRPr>
          </a:p>
          <a:p>
            <a:r>
              <a:rPr lang="en-IN" sz="2000" dirty="0">
                <a:latin typeface="Arial" panose="020B0604020202020204" pitchFamily="34" charset="0"/>
                <a:cs typeface="Arial" panose="020B0604020202020204" pitchFamily="34" charset="0"/>
              </a:rPr>
              <a:t>The system converts these readings into an easy-to-understand farm health status.</a:t>
            </a:r>
          </a:p>
          <a:p>
            <a:endParaRPr lang="en-IN" sz="2000" dirty="0">
              <a:latin typeface="Arial" panose="020B0604020202020204" pitchFamily="34" charset="0"/>
              <a:cs typeface="Arial" panose="020B0604020202020204" pitchFamily="34" charset="0"/>
            </a:endParaRPr>
          </a:p>
          <a:p>
            <a:r>
              <a:rPr lang="en-IN" sz="2000" b="1" dirty="0">
                <a:latin typeface="Arial" panose="020B0604020202020204" pitchFamily="34" charset="0"/>
                <a:cs typeface="Arial" panose="020B0604020202020204" pitchFamily="34" charset="0"/>
              </a:rPr>
              <a:t>4. AI-Powered Salinity Risk Score</a:t>
            </a:r>
          </a:p>
          <a:p>
            <a:r>
              <a:rPr lang="en-IN" sz="2000" dirty="0">
                <a:latin typeface="Arial" panose="020B0604020202020204" pitchFamily="34" charset="0"/>
                <a:cs typeface="Arial" panose="020B0604020202020204" pitchFamily="34" charset="0"/>
              </a:rPr>
              <a:t>Every farm receives a dynamic </a:t>
            </a:r>
            <a:r>
              <a:rPr lang="en-IN" sz="2000" b="1" dirty="0">
                <a:latin typeface="Arial" panose="020B0604020202020204" pitchFamily="34" charset="0"/>
                <a:cs typeface="Arial" panose="020B0604020202020204" pitchFamily="34" charset="0"/>
              </a:rPr>
              <a:t>Salinity Risk Score</a:t>
            </a:r>
            <a:r>
              <a:rPr lang="en-IN" sz="2000" dirty="0">
                <a:latin typeface="Arial" panose="020B0604020202020204" pitchFamily="34" charset="0"/>
                <a:cs typeface="Arial" panose="020B0604020202020204" pitchFamily="34" charset="0"/>
              </a:rPr>
              <a:t>.</a:t>
            </a:r>
          </a:p>
          <a:p>
            <a:r>
              <a:rPr lang="en-IN" sz="2000" dirty="0">
                <a:latin typeface="Arial" panose="020B0604020202020204" pitchFamily="34" charset="0"/>
                <a:cs typeface="Arial" panose="020B0604020202020204" pitchFamily="34" charset="0"/>
              </a:rPr>
              <a:t>The score can combine:</a:t>
            </a:r>
          </a:p>
          <a:p>
            <a:pPr lvl="0"/>
            <a:r>
              <a:rPr lang="en-IN" sz="2000" dirty="0">
                <a:latin typeface="Arial" panose="020B0604020202020204" pitchFamily="34" charset="0"/>
                <a:cs typeface="Arial" panose="020B0604020202020204" pitchFamily="34" charset="0"/>
              </a:rPr>
              <a:t>Current EC </a:t>
            </a:r>
          </a:p>
          <a:p>
            <a:pPr lvl="0"/>
            <a:r>
              <a:rPr lang="en-IN" sz="2000" dirty="0">
                <a:latin typeface="Arial" panose="020B0604020202020204" pitchFamily="34" charset="0"/>
                <a:cs typeface="Arial" panose="020B0604020202020204" pitchFamily="34" charset="0"/>
              </a:rPr>
              <a:t>EC rate of change </a:t>
            </a:r>
          </a:p>
          <a:p>
            <a:pPr lvl="0"/>
            <a:r>
              <a:rPr lang="en-IN" sz="2000" dirty="0">
                <a:latin typeface="Arial" panose="020B0604020202020204" pitchFamily="34" charset="0"/>
                <a:cs typeface="Arial" panose="020B0604020202020204" pitchFamily="34" charset="0"/>
              </a:rPr>
              <a:t>Soil moisture </a:t>
            </a:r>
          </a:p>
          <a:p>
            <a:pPr lvl="0"/>
            <a:r>
              <a:rPr lang="en-IN" sz="2000" dirty="0">
                <a:latin typeface="Arial" panose="020B0604020202020204" pitchFamily="34" charset="0"/>
                <a:cs typeface="Arial" panose="020B0604020202020204" pitchFamily="34" charset="0"/>
              </a:rPr>
              <a:t>pH </a:t>
            </a:r>
          </a:p>
          <a:p>
            <a:pPr lvl="0"/>
            <a:r>
              <a:rPr lang="en-IN" sz="2000" dirty="0">
                <a:latin typeface="Arial" panose="020B0604020202020204" pitchFamily="34" charset="0"/>
                <a:cs typeface="Arial" panose="020B0604020202020204" pitchFamily="34" charset="0"/>
              </a:rPr>
              <a:t>Water quality </a:t>
            </a:r>
          </a:p>
          <a:p>
            <a:pPr lvl="0"/>
            <a:r>
              <a:rPr lang="en-IN" sz="2000" dirty="0">
                <a:latin typeface="Arial" panose="020B0604020202020204" pitchFamily="34" charset="0"/>
                <a:cs typeface="Arial" panose="020B0604020202020204" pitchFamily="34" charset="0"/>
              </a:rPr>
              <a:t>Historical readings </a:t>
            </a:r>
          </a:p>
          <a:p>
            <a:pPr lvl="0"/>
            <a:r>
              <a:rPr lang="en-IN" sz="2000" dirty="0">
                <a:latin typeface="Arial" panose="020B0604020202020204" pitchFamily="34" charset="0"/>
                <a:cs typeface="Arial" panose="020B0604020202020204" pitchFamily="34" charset="0"/>
              </a:rPr>
              <a:t>Weather conditions </a:t>
            </a:r>
          </a:p>
          <a:p>
            <a:pPr lvl="0"/>
            <a:r>
              <a:rPr lang="en-IN" sz="2000" dirty="0">
                <a:latin typeface="Arial" panose="020B0604020202020204" pitchFamily="34" charset="0"/>
                <a:cs typeface="Arial" panose="020B0604020202020204" pitchFamily="34" charset="0"/>
              </a:rPr>
              <a:t>Crop sensitivity </a:t>
            </a:r>
          </a:p>
          <a:p>
            <a:pPr lvl="0"/>
            <a:r>
              <a:rPr lang="en-IN" sz="2000" dirty="0">
                <a:latin typeface="Arial" panose="020B0604020202020204" pitchFamily="34" charset="0"/>
                <a:cs typeface="Arial" panose="020B0604020202020204" pitchFamily="34" charset="0"/>
              </a:rPr>
              <a:t>Location/coastal proximity </a:t>
            </a:r>
          </a:p>
          <a:p>
            <a:pPr lvl="0"/>
            <a:r>
              <a:rPr lang="en-IN" sz="2000" dirty="0">
                <a:latin typeface="Arial" panose="020B0604020202020204" pitchFamily="34" charset="0"/>
                <a:cs typeface="Arial" panose="020B0604020202020204" pitchFamily="34" charset="0"/>
              </a:rPr>
              <a:t>Previous salinity events </a:t>
            </a:r>
          </a:p>
          <a:p>
            <a:r>
              <a:rPr lang="en-IN" sz="2000" dirty="0">
                <a:latin typeface="Arial" panose="020B0604020202020204" pitchFamily="34" charset="0"/>
                <a:cs typeface="Arial" panose="020B0604020202020204" pitchFamily="34" charset="0"/>
              </a:rPr>
              <a:t>The result is categorized into:</a:t>
            </a:r>
          </a:p>
          <a:p>
            <a:endParaRPr lang="en-IN" sz="2000" dirty="0">
              <a:latin typeface="Arial" panose="020B0604020202020204" pitchFamily="34" charset="0"/>
              <a:cs typeface="Arial" panose="020B0604020202020204" pitchFamily="34" charset="0"/>
            </a:endParaRPr>
          </a:p>
          <a:p>
            <a:r>
              <a:rPr lang="en-IN" sz="2000" b="1" dirty="0">
                <a:latin typeface="Arial" panose="020B0604020202020204" pitchFamily="34" charset="0"/>
                <a:cs typeface="Arial" panose="020B0604020202020204" pitchFamily="34" charset="0"/>
              </a:rPr>
              <a:t>Low → Moderate → High → Critical</a:t>
            </a:r>
          </a:p>
          <a:p>
            <a:endParaRPr lang="en-IN" sz="2000" dirty="0">
              <a:latin typeface="Arial" panose="020B0604020202020204" pitchFamily="34" charset="0"/>
              <a:cs typeface="Arial" panose="020B0604020202020204" pitchFamily="34" charset="0"/>
            </a:endParaRPr>
          </a:p>
          <a:p>
            <a:r>
              <a:rPr lang="en-IN" sz="2000" dirty="0">
                <a:latin typeface="Arial" panose="020B0604020202020204" pitchFamily="34" charset="0"/>
                <a:cs typeface="Arial" panose="020B0604020202020204" pitchFamily="34" charset="0"/>
              </a:rPr>
              <a:t>This allows farmers and authorities to prioritize farms requiring immediate attention.</a:t>
            </a:r>
          </a:p>
          <a:p>
            <a:endParaRPr lang="en-IN" sz="20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91855560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2E546AB2-52AE-DA34-6687-08B468713037}"/>
              </a:ext>
            </a:extLst>
          </p:cNvPr>
          <p:cNvSpPr>
            <a:spLocks noGrp="1"/>
          </p:cNvSpPr>
          <p:nvPr>
            <p:ph type="body" idx="1"/>
          </p:nvPr>
        </p:nvSpPr>
        <p:spPr>
          <a:xfrm>
            <a:off x="304800" y="266700"/>
            <a:ext cx="17678399" cy="9541073"/>
          </a:xfrm>
        </p:spPr>
        <p:txBody>
          <a:bodyPr/>
          <a:lstStyle/>
          <a:p>
            <a:r>
              <a:rPr lang="en-IN" sz="2000" b="1" dirty="0">
                <a:latin typeface="Arial" panose="020B0604020202020204" pitchFamily="34" charset="0"/>
                <a:cs typeface="Arial" panose="020B0604020202020204" pitchFamily="34" charset="0"/>
              </a:rPr>
              <a:t>5. AI Early-Warning System</a:t>
            </a:r>
          </a:p>
          <a:p>
            <a:r>
              <a:rPr lang="en-IN" sz="2000" dirty="0">
                <a:latin typeface="Arial" panose="020B0604020202020204" pitchFamily="34" charset="0"/>
                <a:cs typeface="Arial" panose="020B0604020202020204" pitchFamily="34" charset="0"/>
              </a:rPr>
              <a:t>One of the most important components is </a:t>
            </a:r>
            <a:r>
              <a:rPr lang="en-IN" sz="2000" b="1" dirty="0">
                <a:latin typeface="Arial" panose="020B0604020202020204" pitchFamily="34" charset="0"/>
                <a:cs typeface="Arial" panose="020B0604020202020204" pitchFamily="34" charset="0"/>
              </a:rPr>
              <a:t>early detection</a:t>
            </a:r>
            <a:r>
              <a:rPr lang="en-IN" sz="2000" dirty="0">
                <a:latin typeface="Arial" panose="020B0604020202020204" pitchFamily="34" charset="0"/>
                <a:cs typeface="Arial" panose="020B0604020202020204" pitchFamily="34" charset="0"/>
              </a:rPr>
              <a:t>.</a:t>
            </a:r>
          </a:p>
          <a:p>
            <a:r>
              <a:rPr lang="en-IN" sz="2000" dirty="0">
                <a:latin typeface="Arial" panose="020B0604020202020204" pitchFamily="34" charset="0"/>
                <a:cs typeface="Arial" panose="020B0604020202020204" pitchFamily="34" charset="0"/>
              </a:rPr>
              <a:t>Instead of waiting until crops show visible damage, Salinity Shield AI detects abnormal trends such as:</a:t>
            </a:r>
          </a:p>
          <a:p>
            <a:r>
              <a:rPr lang="en-IN" sz="2000" dirty="0">
                <a:latin typeface="Arial" panose="020B0604020202020204" pitchFamily="34" charset="0"/>
                <a:cs typeface="Arial" panose="020B0604020202020204" pitchFamily="34" charset="0"/>
              </a:rPr>
              <a:t>EC increasing rapidly over several readings.</a:t>
            </a:r>
          </a:p>
          <a:p>
            <a:endParaRPr lang="en-IN" sz="2000" dirty="0">
              <a:latin typeface="Arial" panose="020B0604020202020204" pitchFamily="34" charset="0"/>
              <a:cs typeface="Arial" panose="020B0604020202020204" pitchFamily="34" charset="0"/>
            </a:endParaRPr>
          </a:p>
          <a:p>
            <a:r>
              <a:rPr lang="en-IN" sz="2000" dirty="0">
                <a:latin typeface="Arial" panose="020B0604020202020204" pitchFamily="34" charset="0"/>
                <a:cs typeface="Arial" panose="020B0604020202020204" pitchFamily="34" charset="0"/>
              </a:rPr>
              <a:t>The platform can generate:</a:t>
            </a:r>
          </a:p>
          <a:p>
            <a:r>
              <a:rPr lang="en-IN" sz="2000" b="1" dirty="0">
                <a:latin typeface="Arial" panose="020B0604020202020204" pitchFamily="34" charset="0"/>
                <a:cs typeface="Arial" panose="020B0604020202020204" pitchFamily="34" charset="0"/>
              </a:rPr>
              <a:t>⚠️ Early Warning</a:t>
            </a:r>
          </a:p>
          <a:p>
            <a:r>
              <a:rPr lang="en-IN" sz="2000" b="1" dirty="0">
                <a:latin typeface="Arial" panose="020B0604020202020204" pitchFamily="34" charset="0"/>
                <a:cs typeface="Arial" panose="020B0604020202020204" pitchFamily="34" charset="0"/>
              </a:rPr>
              <a:t>“Salinity is increasing rapidly. Immediate intervention is recommended.”</a:t>
            </a:r>
          </a:p>
          <a:p>
            <a:endParaRPr lang="en-IN" sz="2000" dirty="0">
              <a:latin typeface="Arial" panose="020B0604020202020204" pitchFamily="34" charset="0"/>
              <a:cs typeface="Arial" panose="020B0604020202020204" pitchFamily="34" charset="0"/>
            </a:endParaRPr>
          </a:p>
          <a:p>
            <a:r>
              <a:rPr lang="en-IN" sz="2000" dirty="0">
                <a:latin typeface="Arial" panose="020B0604020202020204" pitchFamily="34" charset="0"/>
                <a:cs typeface="Arial" panose="020B0604020202020204" pitchFamily="34" charset="0"/>
              </a:rPr>
              <a:t>This gives farmers an opportunity to act </a:t>
            </a:r>
            <a:r>
              <a:rPr lang="en-IN" sz="2000" b="1" dirty="0">
                <a:latin typeface="Arial" panose="020B0604020202020204" pitchFamily="34" charset="0"/>
                <a:cs typeface="Arial" panose="020B0604020202020204" pitchFamily="34" charset="0"/>
              </a:rPr>
              <a:t>before severe crop and soil damage occurs</a:t>
            </a:r>
            <a:r>
              <a:rPr lang="en-IN" sz="2000" dirty="0">
                <a:latin typeface="Arial" panose="020B0604020202020204" pitchFamily="34" charset="0"/>
                <a:cs typeface="Arial" panose="020B0604020202020204" pitchFamily="34" charset="0"/>
              </a:rPr>
              <a:t>.</a:t>
            </a:r>
          </a:p>
          <a:p>
            <a:endParaRPr lang="en-IN" sz="2000" dirty="0">
              <a:latin typeface="Arial" panose="020B0604020202020204" pitchFamily="34" charset="0"/>
              <a:cs typeface="Arial" panose="020B0604020202020204" pitchFamily="34" charset="0"/>
            </a:endParaRPr>
          </a:p>
          <a:p>
            <a:r>
              <a:rPr lang="en-IN" sz="2000" b="1" dirty="0">
                <a:latin typeface="Arial" panose="020B0604020202020204" pitchFamily="34" charset="0"/>
                <a:cs typeface="Arial" panose="020B0604020202020204" pitchFamily="34" charset="0"/>
              </a:rPr>
              <a:t>6. Salinity Forecasting</a:t>
            </a:r>
          </a:p>
          <a:p>
            <a:r>
              <a:rPr lang="en-IN" sz="2000" dirty="0">
                <a:latin typeface="Arial" panose="020B0604020202020204" pitchFamily="34" charset="0"/>
                <a:cs typeface="Arial" panose="020B0604020202020204" pitchFamily="34" charset="0"/>
              </a:rPr>
              <a:t>The </a:t>
            </a:r>
            <a:r>
              <a:rPr lang="en-IN" sz="2000" b="1" dirty="0">
                <a:latin typeface="Arial" panose="020B0604020202020204" pitchFamily="34" charset="0"/>
                <a:cs typeface="Arial" panose="020B0604020202020204" pitchFamily="34" charset="0"/>
              </a:rPr>
              <a:t>Salinity Forecast</a:t>
            </a:r>
            <a:r>
              <a:rPr lang="en-IN" sz="2000" dirty="0">
                <a:latin typeface="Arial" panose="020B0604020202020204" pitchFamily="34" charset="0"/>
                <a:cs typeface="Arial" panose="020B0604020202020204" pitchFamily="34" charset="0"/>
              </a:rPr>
              <a:t> module predicts how salinity may change in the future.</a:t>
            </a:r>
          </a:p>
          <a:p>
            <a:r>
              <a:rPr lang="en-IN" sz="2000" dirty="0">
                <a:latin typeface="Arial" panose="020B0604020202020204" pitchFamily="34" charset="0"/>
                <a:cs typeface="Arial" panose="020B0604020202020204" pitchFamily="34" charset="0"/>
              </a:rPr>
              <a:t>It can </a:t>
            </a:r>
            <a:r>
              <a:rPr lang="en-IN" sz="2000" dirty="0" err="1">
                <a:latin typeface="Arial" panose="020B0604020202020204" pitchFamily="34" charset="0"/>
                <a:cs typeface="Arial" panose="020B0604020202020204" pitchFamily="34" charset="0"/>
              </a:rPr>
              <a:t>analyze</a:t>
            </a:r>
            <a:r>
              <a:rPr lang="en-IN" sz="2000" dirty="0">
                <a:latin typeface="Arial" panose="020B0604020202020204" pitchFamily="34" charset="0"/>
                <a:cs typeface="Arial" panose="020B0604020202020204" pitchFamily="34" charset="0"/>
              </a:rPr>
              <a:t> historical sensor readings and environmental factors to estimate:</a:t>
            </a:r>
          </a:p>
          <a:p>
            <a:pPr lvl="0"/>
            <a:r>
              <a:rPr lang="en-IN" sz="2000" dirty="0">
                <a:latin typeface="Arial" panose="020B0604020202020204" pitchFamily="34" charset="0"/>
                <a:cs typeface="Arial" panose="020B0604020202020204" pitchFamily="34" charset="0"/>
              </a:rPr>
              <a:t>Future EC </a:t>
            </a:r>
          </a:p>
          <a:p>
            <a:pPr lvl="0"/>
            <a:r>
              <a:rPr lang="en-IN" sz="2000" dirty="0">
                <a:latin typeface="Arial" panose="020B0604020202020204" pitchFamily="34" charset="0"/>
                <a:cs typeface="Arial" panose="020B0604020202020204" pitchFamily="34" charset="0"/>
              </a:rPr>
              <a:t>Future risk level </a:t>
            </a:r>
          </a:p>
          <a:p>
            <a:pPr lvl="0"/>
            <a:r>
              <a:rPr lang="en-IN" sz="2000" dirty="0">
                <a:latin typeface="Arial" panose="020B0604020202020204" pitchFamily="34" charset="0"/>
                <a:cs typeface="Arial" panose="020B0604020202020204" pitchFamily="34" charset="0"/>
              </a:rPr>
              <a:t>Expected trend </a:t>
            </a:r>
          </a:p>
          <a:p>
            <a:pPr lvl="0"/>
            <a:r>
              <a:rPr lang="en-IN" sz="2000" dirty="0">
                <a:latin typeface="Arial" panose="020B0604020202020204" pitchFamily="34" charset="0"/>
                <a:cs typeface="Arial" panose="020B0604020202020204" pitchFamily="34" charset="0"/>
              </a:rPr>
              <a:t>Potential critical period </a:t>
            </a:r>
          </a:p>
          <a:p>
            <a:pPr lvl="0"/>
            <a:r>
              <a:rPr lang="en-IN" sz="2000" dirty="0">
                <a:latin typeface="Arial" panose="020B0604020202020204" pitchFamily="34" charset="0"/>
                <a:cs typeface="Arial" panose="020B0604020202020204" pitchFamily="34" charset="0"/>
              </a:rPr>
              <a:t>Whether intervention is reducing the risk</a:t>
            </a:r>
          </a:p>
          <a:p>
            <a:endParaRPr lang="en-IN" sz="2000" dirty="0">
              <a:latin typeface="Arial" panose="020B0604020202020204" pitchFamily="34" charset="0"/>
              <a:cs typeface="Arial" panose="020B0604020202020204" pitchFamily="34" charset="0"/>
            </a:endParaRPr>
          </a:p>
          <a:p>
            <a:r>
              <a:rPr lang="en-IN" sz="2000" b="1" dirty="0">
                <a:latin typeface="Arial" panose="020B0604020202020204" pitchFamily="34" charset="0"/>
                <a:cs typeface="Arial" panose="020B0604020202020204" pitchFamily="34" charset="0"/>
              </a:rPr>
              <a:t>7. AI Farm Advisor</a:t>
            </a:r>
          </a:p>
          <a:p>
            <a:r>
              <a:rPr lang="en-IN" sz="2000" dirty="0">
                <a:latin typeface="Arial" panose="020B0604020202020204" pitchFamily="34" charset="0"/>
                <a:cs typeface="Arial" panose="020B0604020202020204" pitchFamily="34" charset="0"/>
              </a:rPr>
              <a:t>The </a:t>
            </a:r>
            <a:r>
              <a:rPr lang="en-IN" sz="2000" b="1" dirty="0">
                <a:latin typeface="Arial" panose="020B0604020202020204" pitchFamily="34" charset="0"/>
                <a:cs typeface="Arial" panose="020B0604020202020204" pitchFamily="34" charset="0"/>
              </a:rPr>
              <a:t>AI Farm Advisor</a:t>
            </a:r>
            <a:r>
              <a:rPr lang="en-IN" sz="2000" dirty="0">
                <a:latin typeface="Arial" panose="020B0604020202020204" pitchFamily="34" charset="0"/>
                <a:cs typeface="Arial" panose="020B0604020202020204" pitchFamily="34" charset="0"/>
              </a:rPr>
              <a:t> acts as an intelligent agricultural assistant.</a:t>
            </a:r>
          </a:p>
          <a:p>
            <a:r>
              <a:rPr lang="en-IN" sz="2000" dirty="0">
                <a:latin typeface="Arial" panose="020B0604020202020204" pitchFamily="34" charset="0"/>
                <a:cs typeface="Arial" panose="020B0604020202020204" pitchFamily="34" charset="0"/>
              </a:rPr>
              <a:t>Farmers can ask questions such as:</a:t>
            </a:r>
          </a:p>
          <a:p>
            <a:endParaRPr lang="en-IN" sz="2000" dirty="0">
              <a:latin typeface="Arial" panose="020B0604020202020204" pitchFamily="34" charset="0"/>
              <a:cs typeface="Arial" panose="020B0604020202020204" pitchFamily="34" charset="0"/>
            </a:endParaRPr>
          </a:p>
          <a:p>
            <a:r>
              <a:rPr lang="en-IN" sz="2000" dirty="0">
                <a:latin typeface="Arial" panose="020B0604020202020204" pitchFamily="34" charset="0"/>
                <a:cs typeface="Arial" panose="020B0604020202020204" pitchFamily="34" charset="0"/>
              </a:rPr>
              <a:t>“Why is my soil salinity increasing?”</a:t>
            </a:r>
          </a:p>
          <a:p>
            <a:r>
              <a:rPr lang="en-IN" sz="2000" dirty="0">
                <a:latin typeface="Arial" panose="020B0604020202020204" pitchFamily="34" charset="0"/>
                <a:cs typeface="Arial" panose="020B0604020202020204" pitchFamily="34" charset="0"/>
              </a:rPr>
              <a:t>“What should I do if EC is very high?”</a:t>
            </a:r>
          </a:p>
          <a:p>
            <a:r>
              <a:rPr lang="en-IN" sz="2000" dirty="0">
                <a:latin typeface="Arial" panose="020B0604020202020204" pitchFamily="34" charset="0"/>
                <a:cs typeface="Arial" panose="020B0604020202020204" pitchFamily="34" charset="0"/>
              </a:rPr>
              <a:t>“Which intervention should I take first?”</a:t>
            </a:r>
          </a:p>
          <a:p>
            <a:r>
              <a:rPr lang="en-IN" sz="2000" dirty="0">
                <a:latin typeface="Arial" panose="020B0604020202020204" pitchFamily="34" charset="0"/>
                <a:cs typeface="Arial" panose="020B0604020202020204" pitchFamily="34" charset="0"/>
              </a:rPr>
              <a:t>“Is my current crop suitable for this soil condition?”</a:t>
            </a:r>
          </a:p>
          <a:p>
            <a:endParaRPr lang="en-IN" sz="2000" dirty="0">
              <a:latin typeface="Arial" panose="020B0604020202020204" pitchFamily="34" charset="0"/>
              <a:cs typeface="Arial" panose="020B0604020202020204" pitchFamily="34" charset="0"/>
            </a:endParaRPr>
          </a:p>
          <a:p>
            <a:r>
              <a:rPr lang="en-IN" sz="2000" dirty="0">
                <a:latin typeface="Arial" panose="020B0604020202020204" pitchFamily="34" charset="0"/>
                <a:cs typeface="Arial" panose="020B0604020202020204" pitchFamily="34" charset="0"/>
              </a:rPr>
              <a:t>The AI generates recommendations based on the farm's available data instead of providing only generic agricultural information.</a:t>
            </a:r>
          </a:p>
          <a:p>
            <a:endParaRPr lang="en-IN" sz="20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73618032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328C2903-C8E5-CE6A-1633-F0FE991F1D78}"/>
              </a:ext>
            </a:extLst>
          </p:cNvPr>
          <p:cNvSpPr>
            <a:spLocks noGrp="1"/>
          </p:cNvSpPr>
          <p:nvPr>
            <p:ph type="body" idx="1"/>
          </p:nvPr>
        </p:nvSpPr>
        <p:spPr>
          <a:xfrm>
            <a:off x="228600" y="190500"/>
            <a:ext cx="17754599" cy="9848850"/>
          </a:xfrm>
        </p:spPr>
        <p:txBody>
          <a:bodyPr/>
          <a:lstStyle/>
          <a:p>
            <a:r>
              <a:rPr lang="en-IN" sz="2000" b="1" dirty="0">
                <a:latin typeface="Arial" panose="020B0604020202020204" pitchFamily="34" charset="0"/>
                <a:cs typeface="Arial" panose="020B0604020202020204" pitchFamily="34" charset="0"/>
              </a:rPr>
              <a:t>8. AI Decision Trace</a:t>
            </a:r>
          </a:p>
          <a:p>
            <a:r>
              <a:rPr lang="en-IN" sz="2000" dirty="0">
                <a:latin typeface="Arial" panose="020B0604020202020204" pitchFamily="34" charset="0"/>
                <a:cs typeface="Arial" panose="020B0604020202020204" pitchFamily="34" charset="0"/>
              </a:rPr>
              <a:t>A major transparency feature is the </a:t>
            </a:r>
            <a:r>
              <a:rPr lang="en-IN" sz="2000" b="1" dirty="0">
                <a:latin typeface="Arial" panose="020B0604020202020204" pitchFamily="34" charset="0"/>
                <a:cs typeface="Arial" panose="020B0604020202020204" pitchFamily="34" charset="0"/>
              </a:rPr>
              <a:t>AI Decision Trace</a:t>
            </a:r>
            <a:r>
              <a:rPr lang="en-IN" sz="2000" dirty="0">
                <a:latin typeface="Arial" panose="020B0604020202020204" pitchFamily="34" charset="0"/>
                <a:cs typeface="Arial" panose="020B0604020202020204" pitchFamily="34" charset="0"/>
              </a:rPr>
              <a:t>.</a:t>
            </a:r>
          </a:p>
          <a:p>
            <a:r>
              <a:rPr lang="en-IN" sz="2000" dirty="0">
                <a:latin typeface="Arial" panose="020B0604020202020204" pitchFamily="34" charset="0"/>
                <a:cs typeface="Arial" panose="020B0604020202020204" pitchFamily="34" charset="0"/>
              </a:rPr>
              <a:t>Instead of giving farmers a recommendation without explanation, the platform shows:</a:t>
            </a:r>
          </a:p>
          <a:p>
            <a:r>
              <a:rPr lang="en-IN" sz="2000" b="1" dirty="0">
                <a:latin typeface="Arial" panose="020B0604020202020204" pitchFamily="34" charset="0"/>
                <a:cs typeface="Arial" panose="020B0604020202020204" pitchFamily="34" charset="0"/>
              </a:rPr>
              <a:t>Observation</a:t>
            </a:r>
          </a:p>
          <a:p>
            <a:r>
              <a:rPr lang="en-IN" sz="2000" dirty="0">
                <a:latin typeface="Arial" panose="020B0604020202020204" pitchFamily="34" charset="0"/>
                <a:cs typeface="Arial" panose="020B0604020202020204" pitchFamily="34" charset="0"/>
              </a:rPr>
              <a:t>EC has increased significantly.</a:t>
            </a:r>
          </a:p>
          <a:p>
            <a:r>
              <a:rPr lang="en-IN" sz="2000" b="1" dirty="0">
                <a:latin typeface="Arial" panose="020B0604020202020204" pitchFamily="34" charset="0"/>
                <a:cs typeface="Arial" panose="020B0604020202020204" pitchFamily="34" charset="0"/>
              </a:rPr>
              <a:t>Analysis</a:t>
            </a:r>
          </a:p>
          <a:p>
            <a:r>
              <a:rPr lang="en-IN" sz="2000" dirty="0">
                <a:latin typeface="Arial" panose="020B0604020202020204" pitchFamily="34" charset="0"/>
                <a:cs typeface="Arial" panose="020B0604020202020204" pitchFamily="34" charset="0"/>
              </a:rPr>
              <a:t>The current EC exceeds the selected crop/soil threshold.</a:t>
            </a:r>
          </a:p>
          <a:p>
            <a:r>
              <a:rPr lang="en-IN" sz="2000" b="1" dirty="0">
                <a:latin typeface="Arial" panose="020B0604020202020204" pitchFamily="34" charset="0"/>
                <a:cs typeface="Arial" panose="020B0604020202020204" pitchFamily="34" charset="0"/>
              </a:rPr>
              <a:t>Risk</a:t>
            </a:r>
          </a:p>
          <a:p>
            <a:r>
              <a:rPr lang="en-IN" sz="2000" dirty="0">
                <a:latin typeface="Arial" panose="020B0604020202020204" pitchFamily="34" charset="0"/>
                <a:cs typeface="Arial" panose="020B0604020202020204" pitchFamily="34" charset="0"/>
              </a:rPr>
              <a:t>Continued increase may negatively affect crop growth.</a:t>
            </a:r>
          </a:p>
          <a:p>
            <a:r>
              <a:rPr lang="en-IN" sz="2000" b="1" dirty="0">
                <a:latin typeface="Arial" panose="020B0604020202020204" pitchFamily="34" charset="0"/>
                <a:cs typeface="Arial" panose="020B0604020202020204" pitchFamily="34" charset="0"/>
              </a:rPr>
              <a:t>Recommendation</a:t>
            </a:r>
          </a:p>
          <a:p>
            <a:r>
              <a:rPr lang="en-IN" sz="2000" dirty="0">
                <a:latin typeface="Arial" panose="020B0604020202020204" pitchFamily="34" charset="0"/>
                <a:cs typeface="Arial" panose="020B0604020202020204" pitchFamily="34" charset="0"/>
              </a:rPr>
              <a:t>Take appropriate salinity-management measures.</a:t>
            </a:r>
          </a:p>
          <a:p>
            <a:r>
              <a:rPr lang="en-IN" sz="2000" b="1" dirty="0">
                <a:latin typeface="Arial" panose="020B0604020202020204" pitchFamily="34" charset="0"/>
                <a:cs typeface="Arial" panose="020B0604020202020204" pitchFamily="34" charset="0"/>
              </a:rPr>
              <a:t>Expected Result</a:t>
            </a:r>
          </a:p>
          <a:p>
            <a:r>
              <a:rPr lang="en-IN" sz="2000" dirty="0">
                <a:latin typeface="Arial" panose="020B0604020202020204" pitchFamily="34" charset="0"/>
                <a:cs typeface="Arial" panose="020B0604020202020204" pitchFamily="34" charset="0"/>
              </a:rPr>
              <a:t>Reduce salt accumulation and prevent further deterioration.</a:t>
            </a:r>
          </a:p>
          <a:p>
            <a:r>
              <a:rPr lang="en-IN" sz="2000" dirty="0">
                <a:latin typeface="Arial" panose="020B0604020202020204" pitchFamily="34" charset="0"/>
                <a:cs typeface="Arial" panose="020B0604020202020204" pitchFamily="34" charset="0"/>
              </a:rPr>
              <a:t>This makes the AI </a:t>
            </a:r>
            <a:r>
              <a:rPr lang="en-IN" sz="2000" b="1" dirty="0">
                <a:latin typeface="Arial" panose="020B0604020202020204" pitchFamily="34" charset="0"/>
                <a:cs typeface="Arial" panose="020B0604020202020204" pitchFamily="34" charset="0"/>
              </a:rPr>
              <a:t>explainable and trustworthy</a:t>
            </a:r>
            <a:r>
              <a:rPr lang="en-IN" sz="2000" dirty="0">
                <a:latin typeface="Arial" panose="020B0604020202020204" pitchFamily="34" charset="0"/>
                <a:cs typeface="Arial" panose="020B0604020202020204" pitchFamily="34" charset="0"/>
              </a:rPr>
              <a:t>.</a:t>
            </a:r>
          </a:p>
          <a:p>
            <a:endParaRPr lang="en-IN" sz="2000" dirty="0">
              <a:latin typeface="Arial" panose="020B0604020202020204" pitchFamily="34" charset="0"/>
              <a:cs typeface="Arial" panose="020B0604020202020204" pitchFamily="34" charset="0"/>
            </a:endParaRPr>
          </a:p>
          <a:p>
            <a:r>
              <a:rPr lang="en-IN" sz="2000" b="1" dirty="0">
                <a:latin typeface="Arial" panose="020B0604020202020204" pitchFamily="34" charset="0"/>
                <a:cs typeface="Arial" panose="020B0604020202020204" pitchFamily="34" charset="0"/>
              </a:rPr>
              <a:t>9. What-If Simulator</a:t>
            </a:r>
          </a:p>
          <a:p>
            <a:r>
              <a:rPr lang="en-IN" sz="2000" dirty="0">
                <a:latin typeface="Arial" panose="020B0604020202020204" pitchFamily="34" charset="0"/>
                <a:cs typeface="Arial" panose="020B0604020202020204" pitchFamily="34" charset="0"/>
              </a:rPr>
              <a:t>The </a:t>
            </a:r>
            <a:r>
              <a:rPr lang="en-IN" sz="2000" b="1" dirty="0">
                <a:latin typeface="Arial" panose="020B0604020202020204" pitchFamily="34" charset="0"/>
                <a:cs typeface="Arial" panose="020B0604020202020204" pitchFamily="34" charset="0"/>
              </a:rPr>
              <a:t>What-If Simulator</a:t>
            </a:r>
            <a:r>
              <a:rPr lang="en-IN" sz="2000" dirty="0">
                <a:latin typeface="Arial" panose="020B0604020202020204" pitchFamily="34" charset="0"/>
                <a:cs typeface="Arial" panose="020B0604020202020204" pitchFamily="34" charset="0"/>
              </a:rPr>
              <a:t> allows users to test possible interventions before taking action.</a:t>
            </a:r>
          </a:p>
          <a:p>
            <a:r>
              <a:rPr lang="en-IN" sz="2000" dirty="0">
                <a:latin typeface="Arial" panose="020B0604020202020204" pitchFamily="34" charset="0"/>
                <a:cs typeface="Arial" panose="020B0604020202020204" pitchFamily="34" charset="0"/>
              </a:rPr>
              <a:t>For example:</a:t>
            </a:r>
          </a:p>
          <a:p>
            <a:r>
              <a:rPr lang="en-IN" sz="2000" b="1" dirty="0">
                <a:latin typeface="Arial" panose="020B0604020202020204" pitchFamily="34" charset="0"/>
                <a:cs typeface="Arial" panose="020B0604020202020204" pitchFamily="34" charset="0"/>
              </a:rPr>
              <a:t>What happens if irrigation is reduced?</a:t>
            </a:r>
            <a:endParaRPr lang="en-IN" sz="2000" dirty="0">
              <a:latin typeface="Arial" panose="020B0604020202020204" pitchFamily="34" charset="0"/>
              <a:cs typeface="Arial" panose="020B0604020202020204" pitchFamily="34" charset="0"/>
            </a:endParaRPr>
          </a:p>
          <a:p>
            <a:r>
              <a:rPr lang="en-IN" sz="2000" b="1" dirty="0">
                <a:latin typeface="Arial" panose="020B0604020202020204" pitchFamily="34" charset="0"/>
                <a:cs typeface="Arial" panose="020B0604020202020204" pitchFamily="34" charset="0"/>
              </a:rPr>
              <a:t>What happens if freshwater irrigation is increased?</a:t>
            </a:r>
            <a:endParaRPr lang="en-IN" sz="2000" dirty="0">
              <a:latin typeface="Arial" panose="020B0604020202020204" pitchFamily="34" charset="0"/>
              <a:cs typeface="Arial" panose="020B0604020202020204" pitchFamily="34" charset="0"/>
            </a:endParaRPr>
          </a:p>
          <a:p>
            <a:r>
              <a:rPr lang="en-IN" sz="2000" b="1" dirty="0">
                <a:latin typeface="Arial" panose="020B0604020202020204" pitchFamily="34" charset="0"/>
                <a:cs typeface="Arial" panose="020B0604020202020204" pitchFamily="34" charset="0"/>
              </a:rPr>
              <a:t>What happens if drainage is improved?</a:t>
            </a:r>
            <a:endParaRPr lang="en-IN" sz="2000" dirty="0">
              <a:latin typeface="Arial" panose="020B0604020202020204" pitchFamily="34" charset="0"/>
              <a:cs typeface="Arial" panose="020B0604020202020204" pitchFamily="34" charset="0"/>
            </a:endParaRPr>
          </a:p>
          <a:p>
            <a:r>
              <a:rPr lang="en-IN" sz="2000" b="1" dirty="0">
                <a:latin typeface="Arial" panose="020B0604020202020204" pitchFamily="34" charset="0"/>
                <a:cs typeface="Arial" panose="020B0604020202020204" pitchFamily="34" charset="0"/>
              </a:rPr>
              <a:t>What happens if a salt-tolerant crop is selected?</a:t>
            </a:r>
            <a:endParaRPr lang="en-IN" sz="2000" dirty="0">
              <a:latin typeface="Arial" panose="020B0604020202020204" pitchFamily="34" charset="0"/>
              <a:cs typeface="Arial" panose="020B0604020202020204" pitchFamily="34" charset="0"/>
            </a:endParaRPr>
          </a:p>
          <a:p>
            <a:r>
              <a:rPr lang="en-IN" sz="2000" dirty="0">
                <a:latin typeface="Arial" panose="020B0604020202020204" pitchFamily="34" charset="0"/>
                <a:cs typeface="Arial" panose="020B0604020202020204" pitchFamily="34" charset="0"/>
              </a:rPr>
              <a:t>The system compares:</a:t>
            </a:r>
          </a:p>
          <a:p>
            <a:r>
              <a:rPr lang="en-IN" sz="2000" b="1" dirty="0">
                <a:latin typeface="Arial" panose="020B0604020202020204" pitchFamily="34" charset="0"/>
                <a:cs typeface="Arial" panose="020B0604020202020204" pitchFamily="34" charset="0"/>
              </a:rPr>
              <a:t>Current Scenario vs. Proposed Scenario</a:t>
            </a:r>
            <a:endParaRPr lang="en-IN" sz="2000" dirty="0">
              <a:latin typeface="Arial" panose="020B0604020202020204" pitchFamily="34" charset="0"/>
              <a:cs typeface="Arial" panose="020B0604020202020204" pitchFamily="34" charset="0"/>
            </a:endParaRPr>
          </a:p>
          <a:p>
            <a:r>
              <a:rPr lang="en-IN" sz="2000" dirty="0">
                <a:latin typeface="Arial" panose="020B0604020202020204" pitchFamily="34" charset="0"/>
                <a:cs typeface="Arial" panose="020B0604020202020204" pitchFamily="34" charset="0"/>
              </a:rPr>
              <a:t>and provides an estimated change in:</a:t>
            </a:r>
          </a:p>
          <a:p>
            <a:pPr lvl="0"/>
            <a:r>
              <a:rPr lang="en-IN" sz="2000" dirty="0">
                <a:latin typeface="Arial" panose="020B0604020202020204" pitchFamily="34" charset="0"/>
                <a:cs typeface="Arial" panose="020B0604020202020204" pitchFamily="34" charset="0"/>
              </a:rPr>
              <a:t>Salinity </a:t>
            </a:r>
          </a:p>
          <a:p>
            <a:pPr lvl="0"/>
            <a:r>
              <a:rPr lang="en-IN" sz="2000" dirty="0">
                <a:latin typeface="Arial" panose="020B0604020202020204" pitchFamily="34" charset="0"/>
                <a:cs typeface="Arial" panose="020B0604020202020204" pitchFamily="34" charset="0"/>
              </a:rPr>
              <a:t>Risk score </a:t>
            </a:r>
          </a:p>
          <a:p>
            <a:pPr lvl="0"/>
            <a:r>
              <a:rPr lang="en-IN" sz="2000" dirty="0">
                <a:latin typeface="Arial" panose="020B0604020202020204" pitchFamily="34" charset="0"/>
                <a:cs typeface="Arial" panose="020B0604020202020204" pitchFamily="34" charset="0"/>
              </a:rPr>
              <a:t>Farm health </a:t>
            </a:r>
          </a:p>
          <a:p>
            <a:pPr lvl="0"/>
            <a:r>
              <a:rPr lang="en-IN" sz="2000" dirty="0">
                <a:latin typeface="Arial" panose="020B0604020202020204" pitchFamily="34" charset="0"/>
                <a:cs typeface="Arial" panose="020B0604020202020204" pitchFamily="34" charset="0"/>
              </a:rPr>
              <a:t>Crop suitability </a:t>
            </a:r>
          </a:p>
          <a:p>
            <a:pPr lvl="0"/>
            <a:r>
              <a:rPr lang="en-IN" sz="2000" dirty="0">
                <a:latin typeface="Arial" panose="020B0604020202020204" pitchFamily="34" charset="0"/>
                <a:cs typeface="Arial" panose="020B0604020202020204" pitchFamily="34" charset="0"/>
              </a:rPr>
              <a:t>Long-term condition </a:t>
            </a:r>
          </a:p>
          <a:p>
            <a:r>
              <a:rPr lang="en-IN" sz="2000" dirty="0">
                <a:latin typeface="Arial" panose="020B0604020202020204" pitchFamily="34" charset="0"/>
                <a:cs typeface="Arial" panose="020B0604020202020204" pitchFamily="34" charset="0"/>
              </a:rPr>
              <a:t>This enables </a:t>
            </a:r>
            <a:r>
              <a:rPr lang="en-IN" sz="2000" b="1" dirty="0">
                <a:latin typeface="Arial" panose="020B0604020202020204" pitchFamily="34" charset="0"/>
                <a:cs typeface="Arial" panose="020B0604020202020204" pitchFamily="34" charset="0"/>
              </a:rPr>
              <a:t>data-driven decision making rather than trial and error</a:t>
            </a:r>
            <a:r>
              <a:rPr lang="en-IN" sz="2000" dirty="0">
                <a:latin typeface="Arial" panose="020B0604020202020204" pitchFamily="34" charset="0"/>
                <a:cs typeface="Arial" panose="020B0604020202020204" pitchFamily="34" charset="0"/>
              </a:rPr>
              <a:t>.</a:t>
            </a:r>
          </a:p>
          <a:p>
            <a:endParaRPr lang="en-IN" sz="20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60309571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CC78AB2A-4C51-D708-8840-F28A6123ED78}"/>
              </a:ext>
            </a:extLst>
          </p:cNvPr>
          <p:cNvSpPr>
            <a:spLocks noGrp="1"/>
          </p:cNvSpPr>
          <p:nvPr>
            <p:ph type="body" idx="1"/>
          </p:nvPr>
        </p:nvSpPr>
        <p:spPr>
          <a:xfrm>
            <a:off x="228600" y="190500"/>
            <a:ext cx="17830799" cy="9848850"/>
          </a:xfrm>
        </p:spPr>
        <p:txBody>
          <a:bodyPr/>
          <a:lstStyle/>
          <a:p>
            <a:r>
              <a:rPr lang="en-IN" sz="2000" b="1" dirty="0">
                <a:latin typeface="Arial" panose="020B0604020202020204" pitchFamily="34" charset="0"/>
                <a:cs typeface="Arial" panose="020B0604020202020204" pitchFamily="34" charset="0"/>
              </a:rPr>
              <a:t>10. Live Risk Map</a:t>
            </a:r>
          </a:p>
          <a:p>
            <a:r>
              <a:rPr lang="en-IN" sz="2000" dirty="0">
                <a:latin typeface="Arial" panose="020B0604020202020204" pitchFamily="34" charset="0"/>
                <a:cs typeface="Arial" panose="020B0604020202020204" pitchFamily="34" charset="0"/>
              </a:rPr>
              <a:t>The platform provides a </a:t>
            </a:r>
            <a:r>
              <a:rPr lang="en-IN" sz="2000" b="1" dirty="0">
                <a:latin typeface="Arial" panose="020B0604020202020204" pitchFamily="34" charset="0"/>
                <a:cs typeface="Arial" panose="020B0604020202020204" pitchFamily="34" charset="0"/>
              </a:rPr>
              <a:t>geospatial Live Risk Map</a:t>
            </a:r>
            <a:r>
              <a:rPr lang="en-IN" sz="2000" dirty="0">
                <a:latin typeface="Arial" panose="020B0604020202020204" pitchFamily="34" charset="0"/>
                <a:cs typeface="Arial" panose="020B0604020202020204" pitchFamily="34" charset="0"/>
              </a:rPr>
              <a:t> showing farms and their current risk levels.</a:t>
            </a:r>
          </a:p>
          <a:p>
            <a:endParaRPr lang="en-IN" sz="2000" dirty="0">
              <a:latin typeface="Arial" panose="020B0604020202020204" pitchFamily="34" charset="0"/>
              <a:cs typeface="Arial" panose="020B0604020202020204" pitchFamily="34" charset="0"/>
            </a:endParaRPr>
          </a:p>
          <a:p>
            <a:r>
              <a:rPr lang="en-IN" sz="2000" dirty="0">
                <a:latin typeface="Arial" panose="020B0604020202020204" pitchFamily="34" charset="0"/>
                <a:cs typeface="Arial" panose="020B0604020202020204" pitchFamily="34" charset="0"/>
              </a:rPr>
              <a:t>Authorities can quickly identify:</a:t>
            </a:r>
          </a:p>
          <a:p>
            <a:endParaRPr lang="en-IN" sz="2000" dirty="0">
              <a:latin typeface="Arial" panose="020B0604020202020204" pitchFamily="34" charset="0"/>
              <a:cs typeface="Arial" panose="020B0604020202020204" pitchFamily="34" charset="0"/>
            </a:endParaRPr>
          </a:p>
          <a:p>
            <a:pPr lvl="0"/>
            <a:r>
              <a:rPr lang="en-IN" sz="2000" dirty="0">
                <a:latin typeface="Arial" panose="020B0604020202020204" pitchFamily="34" charset="0"/>
                <a:cs typeface="Arial" panose="020B0604020202020204" pitchFamily="34" charset="0"/>
              </a:rPr>
              <a:t>High-risk farms </a:t>
            </a:r>
          </a:p>
          <a:p>
            <a:pPr lvl="0"/>
            <a:r>
              <a:rPr lang="en-IN" sz="2000" dirty="0">
                <a:latin typeface="Arial" panose="020B0604020202020204" pitchFamily="34" charset="0"/>
                <a:cs typeface="Arial" panose="020B0604020202020204" pitchFamily="34" charset="0"/>
              </a:rPr>
              <a:t>Critical farms </a:t>
            </a:r>
          </a:p>
          <a:p>
            <a:pPr lvl="0"/>
            <a:r>
              <a:rPr lang="en-IN" sz="2000" dirty="0">
                <a:latin typeface="Arial" panose="020B0604020202020204" pitchFamily="34" charset="0"/>
                <a:cs typeface="Arial" panose="020B0604020202020204" pitchFamily="34" charset="0"/>
              </a:rPr>
              <a:t>Salinity hotspots </a:t>
            </a:r>
          </a:p>
          <a:p>
            <a:pPr lvl="0"/>
            <a:r>
              <a:rPr lang="en-IN" sz="2000" dirty="0">
                <a:latin typeface="Arial" panose="020B0604020202020204" pitchFamily="34" charset="0"/>
                <a:cs typeface="Arial" panose="020B0604020202020204" pitchFamily="34" charset="0"/>
              </a:rPr>
              <a:t>Geographical patterns </a:t>
            </a:r>
          </a:p>
          <a:p>
            <a:pPr lvl="0"/>
            <a:r>
              <a:rPr lang="en-IN" sz="2000" dirty="0">
                <a:latin typeface="Arial" panose="020B0604020202020204" pitchFamily="34" charset="0"/>
                <a:cs typeface="Arial" panose="020B0604020202020204" pitchFamily="34" charset="0"/>
              </a:rPr>
              <a:t>Farms requiring intervention </a:t>
            </a:r>
          </a:p>
          <a:p>
            <a:pPr lvl="0"/>
            <a:endParaRPr lang="en-IN" sz="2000" dirty="0">
              <a:latin typeface="Arial" panose="020B0604020202020204" pitchFamily="34" charset="0"/>
              <a:cs typeface="Arial" panose="020B0604020202020204" pitchFamily="34" charset="0"/>
            </a:endParaRPr>
          </a:p>
          <a:p>
            <a:r>
              <a:rPr lang="en-IN" sz="2000" dirty="0">
                <a:latin typeface="Arial" panose="020B0604020202020204" pitchFamily="34" charset="0"/>
                <a:cs typeface="Arial" panose="020B0604020202020204" pitchFamily="34" charset="0"/>
              </a:rPr>
              <a:t>This transforms individual farm monitoring into a </a:t>
            </a:r>
            <a:r>
              <a:rPr lang="en-IN" sz="2000" b="1" dirty="0">
                <a:latin typeface="Arial" panose="020B0604020202020204" pitchFamily="34" charset="0"/>
                <a:cs typeface="Arial" panose="020B0604020202020204" pitchFamily="34" charset="0"/>
              </a:rPr>
              <a:t>regional coastal-salinity intelligence system</a:t>
            </a:r>
            <a:r>
              <a:rPr lang="en-IN" sz="2000" dirty="0">
                <a:latin typeface="Arial" panose="020B0604020202020204" pitchFamily="34" charset="0"/>
                <a:cs typeface="Arial" panose="020B0604020202020204" pitchFamily="34" charset="0"/>
              </a:rPr>
              <a:t>.</a:t>
            </a:r>
          </a:p>
          <a:p>
            <a:endParaRPr lang="en-IN" sz="2000" dirty="0">
              <a:latin typeface="Arial" panose="020B0604020202020204" pitchFamily="34" charset="0"/>
              <a:cs typeface="Arial" panose="020B0604020202020204" pitchFamily="34" charset="0"/>
            </a:endParaRPr>
          </a:p>
          <a:p>
            <a:r>
              <a:rPr lang="en-IN" sz="2000" b="1" dirty="0">
                <a:latin typeface="Arial" panose="020B0604020202020204" pitchFamily="34" charset="0"/>
                <a:cs typeface="Arial" panose="020B0604020202020204" pitchFamily="34" charset="0"/>
              </a:rPr>
              <a:t>11. Alert Centre</a:t>
            </a:r>
          </a:p>
          <a:p>
            <a:r>
              <a:rPr lang="en-IN" sz="2000" dirty="0">
                <a:latin typeface="Arial" panose="020B0604020202020204" pitchFamily="34" charset="0"/>
                <a:cs typeface="Arial" panose="020B0604020202020204" pitchFamily="34" charset="0"/>
              </a:rPr>
              <a:t>The </a:t>
            </a:r>
            <a:r>
              <a:rPr lang="en-IN" sz="2000" b="1" dirty="0">
                <a:latin typeface="Arial" panose="020B0604020202020204" pitchFamily="34" charset="0"/>
                <a:cs typeface="Arial" panose="020B0604020202020204" pitchFamily="34" charset="0"/>
              </a:rPr>
              <a:t>Alert Centre</a:t>
            </a:r>
            <a:r>
              <a:rPr lang="en-IN" sz="2000" dirty="0">
                <a:latin typeface="Arial" panose="020B0604020202020204" pitchFamily="34" charset="0"/>
                <a:cs typeface="Arial" panose="020B0604020202020204" pitchFamily="34" charset="0"/>
              </a:rPr>
              <a:t> provides prioritized notifications when:</a:t>
            </a:r>
          </a:p>
          <a:p>
            <a:endParaRPr lang="en-IN" sz="2000" dirty="0">
              <a:latin typeface="Arial" panose="020B0604020202020204" pitchFamily="34" charset="0"/>
              <a:cs typeface="Arial" panose="020B0604020202020204" pitchFamily="34" charset="0"/>
            </a:endParaRPr>
          </a:p>
          <a:p>
            <a:pPr lvl="0"/>
            <a:r>
              <a:rPr lang="en-IN" sz="2000" dirty="0">
                <a:latin typeface="Arial" panose="020B0604020202020204" pitchFamily="34" charset="0"/>
                <a:cs typeface="Arial" panose="020B0604020202020204" pitchFamily="34" charset="0"/>
              </a:rPr>
              <a:t>EC crosses a critical threshold </a:t>
            </a:r>
          </a:p>
          <a:p>
            <a:pPr lvl="0"/>
            <a:r>
              <a:rPr lang="en-IN" sz="2000" dirty="0">
                <a:latin typeface="Arial" panose="020B0604020202020204" pitchFamily="34" charset="0"/>
                <a:cs typeface="Arial" panose="020B0604020202020204" pitchFamily="34" charset="0"/>
              </a:rPr>
              <a:t>EC rises unusually quickly </a:t>
            </a:r>
          </a:p>
          <a:p>
            <a:pPr lvl="0"/>
            <a:r>
              <a:rPr lang="en-IN" sz="2000" dirty="0">
                <a:latin typeface="Arial" panose="020B0604020202020204" pitchFamily="34" charset="0"/>
                <a:cs typeface="Arial" panose="020B0604020202020204" pitchFamily="34" charset="0"/>
              </a:rPr>
              <a:t>Soil conditions deteriorate </a:t>
            </a:r>
          </a:p>
          <a:p>
            <a:pPr lvl="0"/>
            <a:r>
              <a:rPr lang="en-IN" sz="2000" dirty="0">
                <a:latin typeface="Arial" panose="020B0604020202020204" pitchFamily="34" charset="0"/>
                <a:cs typeface="Arial" panose="020B0604020202020204" pitchFamily="34" charset="0"/>
              </a:rPr>
              <a:t>Forecast predicts increasing salinity </a:t>
            </a:r>
          </a:p>
          <a:p>
            <a:pPr lvl="0"/>
            <a:r>
              <a:rPr lang="en-IN" sz="2000" dirty="0">
                <a:latin typeface="Arial" panose="020B0604020202020204" pitchFamily="34" charset="0"/>
                <a:cs typeface="Arial" panose="020B0604020202020204" pitchFamily="34" charset="0"/>
              </a:rPr>
              <a:t>Farm health drops </a:t>
            </a:r>
          </a:p>
          <a:p>
            <a:pPr lvl="0"/>
            <a:r>
              <a:rPr lang="en-IN" sz="2000" dirty="0">
                <a:latin typeface="Arial" panose="020B0604020202020204" pitchFamily="34" charset="0"/>
                <a:cs typeface="Arial" panose="020B0604020202020204" pitchFamily="34" charset="0"/>
              </a:rPr>
              <a:t>Immediate intervention is required </a:t>
            </a:r>
          </a:p>
          <a:p>
            <a:pPr lvl="0"/>
            <a:endParaRPr lang="en-IN" sz="2000" dirty="0">
              <a:latin typeface="Arial" panose="020B0604020202020204" pitchFamily="34" charset="0"/>
              <a:cs typeface="Arial" panose="020B0604020202020204" pitchFamily="34" charset="0"/>
            </a:endParaRPr>
          </a:p>
          <a:p>
            <a:r>
              <a:rPr lang="en-IN" sz="2000" dirty="0">
                <a:latin typeface="Arial" panose="020B0604020202020204" pitchFamily="34" charset="0"/>
                <a:cs typeface="Arial" panose="020B0604020202020204" pitchFamily="34" charset="0"/>
              </a:rPr>
              <a:t>Alerts can be classified according to severity:</a:t>
            </a:r>
          </a:p>
          <a:p>
            <a:endParaRPr lang="en-IN" sz="2000" dirty="0">
              <a:latin typeface="Arial" panose="020B0604020202020204" pitchFamily="34" charset="0"/>
              <a:cs typeface="Arial" panose="020B0604020202020204" pitchFamily="34" charset="0"/>
            </a:endParaRPr>
          </a:p>
          <a:p>
            <a:r>
              <a:rPr lang="en-IN" sz="2000" dirty="0">
                <a:latin typeface="Arial" panose="020B0604020202020204" pitchFamily="34" charset="0"/>
                <a:cs typeface="Arial" panose="020B0604020202020204" pitchFamily="34" charset="0"/>
              </a:rPr>
              <a:t>🔵 Informational</a:t>
            </a:r>
            <a:br>
              <a:rPr lang="en-IN" sz="2000" dirty="0">
                <a:latin typeface="Arial" panose="020B0604020202020204" pitchFamily="34" charset="0"/>
                <a:cs typeface="Arial" panose="020B0604020202020204" pitchFamily="34" charset="0"/>
              </a:rPr>
            </a:br>
            <a:r>
              <a:rPr lang="en-IN" sz="2000" dirty="0">
                <a:latin typeface="Arial" panose="020B0604020202020204" pitchFamily="34" charset="0"/>
                <a:cs typeface="Arial" panose="020B0604020202020204" pitchFamily="34" charset="0"/>
              </a:rPr>
              <a:t>🟡 Warning</a:t>
            </a:r>
            <a:br>
              <a:rPr lang="en-IN" sz="2000" dirty="0">
                <a:latin typeface="Arial" panose="020B0604020202020204" pitchFamily="34" charset="0"/>
                <a:cs typeface="Arial" panose="020B0604020202020204" pitchFamily="34" charset="0"/>
              </a:rPr>
            </a:br>
            <a:r>
              <a:rPr lang="en-IN" sz="2000" dirty="0">
                <a:latin typeface="Arial" panose="020B0604020202020204" pitchFamily="34" charset="0"/>
                <a:cs typeface="Arial" panose="020B0604020202020204" pitchFamily="34" charset="0"/>
              </a:rPr>
              <a:t>🟠 High Risk</a:t>
            </a:r>
            <a:br>
              <a:rPr lang="en-IN" sz="2000" dirty="0">
                <a:latin typeface="Arial" panose="020B0604020202020204" pitchFamily="34" charset="0"/>
                <a:cs typeface="Arial" panose="020B0604020202020204" pitchFamily="34" charset="0"/>
              </a:rPr>
            </a:br>
            <a:r>
              <a:rPr lang="en-IN" sz="2000" dirty="0">
                <a:latin typeface="Arial" panose="020B0604020202020204" pitchFamily="34" charset="0"/>
                <a:cs typeface="Arial" panose="020B0604020202020204" pitchFamily="34" charset="0"/>
              </a:rPr>
              <a:t>🔴 Critical</a:t>
            </a:r>
          </a:p>
          <a:p>
            <a:endParaRPr lang="en-IN" sz="2000" dirty="0">
              <a:latin typeface="Arial" panose="020B0604020202020204" pitchFamily="34" charset="0"/>
              <a:cs typeface="Arial" panose="020B0604020202020204" pitchFamily="34" charset="0"/>
            </a:endParaRPr>
          </a:p>
          <a:p>
            <a:r>
              <a:rPr lang="en-IN" sz="2000" dirty="0">
                <a:latin typeface="Arial" panose="020B0604020202020204" pitchFamily="34" charset="0"/>
                <a:cs typeface="Arial" panose="020B0604020202020204" pitchFamily="34" charset="0"/>
              </a:rPr>
              <a:t>This ensures that important problems are not buried inside large amounts of sensor data.</a:t>
            </a:r>
          </a:p>
          <a:p>
            <a:endParaRPr lang="en-IN" sz="20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86425109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46FAF879-CE58-FAB3-DCDD-88DD7A0082D2}"/>
              </a:ext>
            </a:extLst>
          </p:cNvPr>
          <p:cNvSpPr>
            <a:spLocks noGrp="1"/>
          </p:cNvSpPr>
          <p:nvPr>
            <p:ph type="body" idx="1"/>
          </p:nvPr>
        </p:nvSpPr>
        <p:spPr>
          <a:xfrm>
            <a:off x="304800" y="266700"/>
            <a:ext cx="17754600" cy="9233297"/>
          </a:xfrm>
        </p:spPr>
        <p:txBody>
          <a:bodyPr/>
          <a:lstStyle/>
          <a:p>
            <a:r>
              <a:rPr lang="en-IN" sz="2000" b="1" dirty="0">
                <a:latin typeface="Arial" panose="020B0604020202020204" pitchFamily="34" charset="0"/>
                <a:cs typeface="Arial" panose="020B0604020202020204" pitchFamily="34" charset="0"/>
              </a:rPr>
              <a:t>12. Farm Health Score</a:t>
            </a:r>
          </a:p>
          <a:p>
            <a:r>
              <a:rPr lang="en-IN" sz="2000" dirty="0">
                <a:latin typeface="Arial" panose="020B0604020202020204" pitchFamily="34" charset="0"/>
                <a:cs typeface="Arial" panose="020B0604020202020204" pitchFamily="34" charset="0"/>
              </a:rPr>
              <a:t>Each farm receives a simplified </a:t>
            </a:r>
            <a:r>
              <a:rPr lang="en-IN" sz="2000" b="1" dirty="0">
                <a:latin typeface="Arial" panose="020B0604020202020204" pitchFamily="34" charset="0"/>
                <a:cs typeface="Arial" panose="020B0604020202020204" pitchFamily="34" charset="0"/>
              </a:rPr>
              <a:t>Farm Health Score /100</a:t>
            </a:r>
            <a:r>
              <a:rPr lang="en-IN" sz="2000" dirty="0">
                <a:latin typeface="Arial" panose="020B0604020202020204" pitchFamily="34" charset="0"/>
                <a:cs typeface="Arial" panose="020B0604020202020204" pitchFamily="34" charset="0"/>
              </a:rPr>
              <a:t>.</a:t>
            </a:r>
          </a:p>
          <a:p>
            <a:r>
              <a:rPr lang="en-IN" sz="2000" dirty="0">
                <a:latin typeface="Arial" panose="020B0604020202020204" pitchFamily="34" charset="0"/>
                <a:cs typeface="Arial" panose="020B0604020202020204" pitchFamily="34" charset="0"/>
              </a:rPr>
              <a:t>The score can consider:</a:t>
            </a:r>
          </a:p>
          <a:p>
            <a:pPr lvl="0"/>
            <a:r>
              <a:rPr lang="en-IN" sz="2000" dirty="0">
                <a:latin typeface="Arial" panose="020B0604020202020204" pitchFamily="34" charset="0"/>
                <a:cs typeface="Arial" panose="020B0604020202020204" pitchFamily="34" charset="0"/>
              </a:rPr>
              <a:t>Soil salinity </a:t>
            </a:r>
          </a:p>
          <a:p>
            <a:pPr lvl="0"/>
            <a:r>
              <a:rPr lang="en-IN" sz="2000" dirty="0">
                <a:latin typeface="Arial" panose="020B0604020202020204" pitchFamily="34" charset="0"/>
                <a:cs typeface="Arial" panose="020B0604020202020204" pitchFamily="34" charset="0"/>
              </a:rPr>
              <a:t>Salinity trend </a:t>
            </a:r>
          </a:p>
          <a:p>
            <a:pPr lvl="0"/>
            <a:r>
              <a:rPr lang="en-IN" sz="2000" dirty="0">
                <a:latin typeface="Arial" panose="020B0604020202020204" pitchFamily="34" charset="0"/>
                <a:cs typeface="Arial" panose="020B0604020202020204" pitchFamily="34" charset="0"/>
              </a:rPr>
              <a:t>Soil moisture </a:t>
            </a:r>
          </a:p>
          <a:p>
            <a:pPr lvl="0"/>
            <a:r>
              <a:rPr lang="en-IN" sz="2000" dirty="0">
                <a:latin typeface="Arial" panose="020B0604020202020204" pitchFamily="34" charset="0"/>
                <a:cs typeface="Arial" panose="020B0604020202020204" pitchFamily="34" charset="0"/>
              </a:rPr>
              <a:t>pH </a:t>
            </a:r>
          </a:p>
          <a:p>
            <a:pPr lvl="0"/>
            <a:r>
              <a:rPr lang="en-IN" sz="2000" dirty="0">
                <a:latin typeface="Arial" panose="020B0604020202020204" pitchFamily="34" charset="0"/>
                <a:cs typeface="Arial" panose="020B0604020202020204" pitchFamily="34" charset="0"/>
              </a:rPr>
              <a:t>Crop condition </a:t>
            </a:r>
          </a:p>
          <a:p>
            <a:pPr lvl="0"/>
            <a:r>
              <a:rPr lang="en-IN" sz="2000" dirty="0">
                <a:latin typeface="Arial" panose="020B0604020202020204" pitchFamily="34" charset="0"/>
                <a:cs typeface="Arial" panose="020B0604020202020204" pitchFamily="34" charset="0"/>
              </a:rPr>
              <a:t>Historical health </a:t>
            </a:r>
          </a:p>
          <a:p>
            <a:pPr lvl="0"/>
            <a:r>
              <a:rPr lang="en-IN" sz="2000" dirty="0">
                <a:latin typeface="Arial" panose="020B0604020202020204" pitchFamily="34" charset="0"/>
                <a:cs typeface="Arial" panose="020B0604020202020204" pitchFamily="34" charset="0"/>
              </a:rPr>
              <a:t>Environmental conditions </a:t>
            </a:r>
          </a:p>
          <a:p>
            <a:r>
              <a:rPr lang="en-IN" sz="2000" dirty="0">
                <a:latin typeface="Arial" panose="020B0604020202020204" pitchFamily="34" charset="0"/>
                <a:cs typeface="Arial" panose="020B0604020202020204" pitchFamily="34" charset="0"/>
              </a:rPr>
              <a:t>Instead of requiring farmers to interpret multiple technical parameters, they receive a simple overall indicator.</a:t>
            </a:r>
          </a:p>
          <a:p>
            <a:endParaRPr lang="en-IN" sz="2000" dirty="0">
              <a:latin typeface="Arial" panose="020B0604020202020204" pitchFamily="34" charset="0"/>
              <a:cs typeface="Arial" panose="020B0604020202020204" pitchFamily="34" charset="0"/>
            </a:endParaRPr>
          </a:p>
          <a:p>
            <a:r>
              <a:rPr lang="en-IN" sz="2000" b="1" dirty="0">
                <a:latin typeface="Arial" panose="020B0604020202020204" pitchFamily="34" charset="0"/>
                <a:cs typeface="Arial" panose="020B0604020202020204" pitchFamily="34" charset="0"/>
              </a:rPr>
              <a:t>13. Farm Intelligence Page</a:t>
            </a:r>
          </a:p>
          <a:p>
            <a:r>
              <a:rPr lang="en-IN" sz="2000" dirty="0">
                <a:latin typeface="Arial" panose="020B0604020202020204" pitchFamily="34" charset="0"/>
                <a:cs typeface="Arial" panose="020B0604020202020204" pitchFamily="34" charset="0"/>
              </a:rPr>
              <a:t>Selecting </a:t>
            </a:r>
            <a:r>
              <a:rPr lang="en-IN" sz="2000" b="1" dirty="0">
                <a:latin typeface="Arial" panose="020B0604020202020204" pitchFamily="34" charset="0"/>
                <a:cs typeface="Arial" panose="020B0604020202020204" pitchFamily="34" charset="0"/>
              </a:rPr>
              <a:t>“View Farm Intelligence”</a:t>
            </a:r>
            <a:r>
              <a:rPr lang="en-IN" sz="2000" dirty="0">
                <a:latin typeface="Arial" panose="020B0604020202020204" pitchFamily="34" charset="0"/>
                <a:cs typeface="Arial" panose="020B0604020202020204" pitchFamily="34" charset="0"/>
              </a:rPr>
              <a:t> opens detailed information for that specific farm.</a:t>
            </a:r>
          </a:p>
          <a:p>
            <a:r>
              <a:rPr lang="en-IN" sz="2000" dirty="0">
                <a:latin typeface="Arial" panose="020B0604020202020204" pitchFamily="34" charset="0"/>
                <a:cs typeface="Arial" panose="020B0604020202020204" pitchFamily="34" charset="0"/>
              </a:rPr>
              <a:t>It can contain:</a:t>
            </a:r>
          </a:p>
          <a:p>
            <a:pPr lvl="0"/>
            <a:r>
              <a:rPr lang="en-IN" sz="2000" dirty="0">
                <a:latin typeface="Arial" panose="020B0604020202020204" pitchFamily="34" charset="0"/>
                <a:cs typeface="Arial" panose="020B0604020202020204" pitchFamily="34" charset="0"/>
              </a:rPr>
              <a:t>Farm overview </a:t>
            </a:r>
          </a:p>
          <a:p>
            <a:pPr lvl="0"/>
            <a:r>
              <a:rPr lang="en-IN" sz="2000" dirty="0">
                <a:latin typeface="Arial" panose="020B0604020202020204" pitchFamily="34" charset="0"/>
                <a:cs typeface="Arial" panose="020B0604020202020204" pitchFamily="34" charset="0"/>
              </a:rPr>
              <a:t>Current EC </a:t>
            </a:r>
          </a:p>
          <a:p>
            <a:pPr lvl="0"/>
            <a:r>
              <a:rPr lang="en-IN" sz="2000" dirty="0">
                <a:latin typeface="Arial" panose="020B0604020202020204" pitchFamily="34" charset="0"/>
                <a:cs typeface="Arial" panose="020B0604020202020204" pitchFamily="34" charset="0"/>
              </a:rPr>
              <a:t>Historical EC graph </a:t>
            </a:r>
          </a:p>
          <a:p>
            <a:pPr lvl="0"/>
            <a:r>
              <a:rPr lang="en-IN" sz="2000" dirty="0">
                <a:latin typeface="Arial" panose="020B0604020202020204" pitchFamily="34" charset="0"/>
                <a:cs typeface="Arial" panose="020B0604020202020204" pitchFamily="34" charset="0"/>
              </a:rPr>
              <a:t>Soil parameters </a:t>
            </a:r>
          </a:p>
          <a:p>
            <a:pPr lvl="0"/>
            <a:r>
              <a:rPr lang="en-IN" sz="2000" dirty="0">
                <a:latin typeface="Arial" panose="020B0604020202020204" pitchFamily="34" charset="0"/>
                <a:cs typeface="Arial" panose="020B0604020202020204" pitchFamily="34" charset="0"/>
              </a:rPr>
              <a:t>Risk score </a:t>
            </a:r>
          </a:p>
          <a:p>
            <a:pPr lvl="0"/>
            <a:r>
              <a:rPr lang="en-IN" sz="2000" dirty="0">
                <a:latin typeface="Arial" panose="020B0604020202020204" pitchFamily="34" charset="0"/>
                <a:cs typeface="Arial" panose="020B0604020202020204" pitchFamily="34" charset="0"/>
              </a:rPr>
              <a:t>Farm health </a:t>
            </a:r>
          </a:p>
          <a:p>
            <a:pPr lvl="0"/>
            <a:r>
              <a:rPr lang="en-IN" sz="2000" dirty="0">
                <a:latin typeface="Arial" panose="020B0604020202020204" pitchFamily="34" charset="0"/>
                <a:cs typeface="Arial" panose="020B0604020202020204" pitchFamily="34" charset="0"/>
              </a:rPr>
              <a:t>Salinity trend </a:t>
            </a:r>
          </a:p>
          <a:p>
            <a:pPr lvl="0"/>
            <a:r>
              <a:rPr lang="en-IN" sz="2000" dirty="0">
                <a:latin typeface="Arial" panose="020B0604020202020204" pitchFamily="34" charset="0"/>
                <a:cs typeface="Arial" panose="020B0604020202020204" pitchFamily="34" charset="0"/>
              </a:rPr>
              <a:t>Forecast </a:t>
            </a:r>
          </a:p>
          <a:p>
            <a:pPr lvl="0"/>
            <a:r>
              <a:rPr lang="en-IN" sz="2000" dirty="0">
                <a:latin typeface="Arial" panose="020B0604020202020204" pitchFamily="34" charset="0"/>
                <a:cs typeface="Arial" panose="020B0604020202020204" pitchFamily="34" charset="0"/>
              </a:rPr>
              <a:t>Alerts </a:t>
            </a:r>
          </a:p>
          <a:p>
            <a:pPr lvl="0"/>
            <a:r>
              <a:rPr lang="en-IN" sz="2000" dirty="0">
                <a:latin typeface="Arial" panose="020B0604020202020204" pitchFamily="34" charset="0"/>
                <a:cs typeface="Arial" panose="020B0604020202020204" pitchFamily="34" charset="0"/>
              </a:rPr>
              <a:t>AI-generated explanation </a:t>
            </a:r>
          </a:p>
          <a:p>
            <a:pPr lvl="0"/>
            <a:r>
              <a:rPr lang="en-IN" sz="2000" dirty="0">
                <a:latin typeface="Arial" panose="020B0604020202020204" pitchFamily="34" charset="0"/>
                <a:cs typeface="Arial" panose="020B0604020202020204" pitchFamily="34" charset="0"/>
              </a:rPr>
              <a:t>Recommended actions </a:t>
            </a:r>
          </a:p>
          <a:p>
            <a:pPr lvl="0"/>
            <a:r>
              <a:rPr lang="en-IN" sz="2000" dirty="0">
                <a:latin typeface="Arial" panose="020B0604020202020204" pitchFamily="34" charset="0"/>
                <a:cs typeface="Arial" panose="020B0604020202020204" pitchFamily="34" charset="0"/>
              </a:rPr>
              <a:t>AI decision trace </a:t>
            </a:r>
          </a:p>
          <a:p>
            <a:pPr lvl="0"/>
            <a:r>
              <a:rPr lang="en-IN" sz="2000" dirty="0">
                <a:latin typeface="Arial" panose="020B0604020202020204" pitchFamily="34" charset="0"/>
                <a:cs typeface="Arial" panose="020B0604020202020204" pitchFamily="34" charset="0"/>
              </a:rPr>
              <a:t>What-if simulations </a:t>
            </a:r>
          </a:p>
          <a:p>
            <a:r>
              <a:rPr lang="en-IN" sz="2000" dirty="0">
                <a:latin typeface="Arial" panose="020B0604020202020204" pitchFamily="34" charset="0"/>
                <a:cs typeface="Arial" panose="020B0604020202020204" pitchFamily="34" charset="0"/>
              </a:rPr>
              <a:t>This provides a </a:t>
            </a:r>
            <a:r>
              <a:rPr lang="en-IN" sz="2000" b="1" dirty="0">
                <a:latin typeface="Arial" panose="020B0604020202020204" pitchFamily="34" charset="0"/>
                <a:cs typeface="Arial" panose="020B0604020202020204" pitchFamily="34" charset="0"/>
              </a:rPr>
              <a:t>complete digital health record for each farm</a:t>
            </a:r>
            <a:r>
              <a:rPr lang="en-IN" sz="2000" dirty="0">
                <a:latin typeface="Arial" panose="020B0604020202020204" pitchFamily="34" charset="0"/>
                <a:cs typeface="Arial" panose="020B0604020202020204" pitchFamily="34" charset="0"/>
              </a:rPr>
              <a:t>.</a:t>
            </a:r>
          </a:p>
          <a:p>
            <a:endParaRPr lang="en-IN" sz="20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97468823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B2EAE403-DCBC-EB28-3E0B-AE27E97261A1}"/>
              </a:ext>
            </a:extLst>
          </p:cNvPr>
          <p:cNvSpPr>
            <a:spLocks noGrp="1"/>
          </p:cNvSpPr>
          <p:nvPr>
            <p:ph type="body" idx="1"/>
          </p:nvPr>
        </p:nvSpPr>
        <p:spPr>
          <a:xfrm>
            <a:off x="228600" y="266700"/>
            <a:ext cx="17830800" cy="2769989"/>
          </a:xfrm>
        </p:spPr>
        <p:txBody>
          <a:bodyPr/>
          <a:lstStyle/>
          <a:p>
            <a:r>
              <a:rPr lang="en-IN" sz="2000" b="1" dirty="0">
                <a:latin typeface="Arial" panose="020B0604020202020204" pitchFamily="34" charset="0"/>
                <a:cs typeface="Arial" panose="020B0604020202020204" pitchFamily="34" charset="0"/>
              </a:rPr>
              <a:t>14. IBM Granite Integration</a:t>
            </a:r>
          </a:p>
          <a:p>
            <a:r>
              <a:rPr lang="en-IN" sz="2000" dirty="0">
                <a:latin typeface="Arial" panose="020B0604020202020204" pitchFamily="34" charset="0"/>
                <a:cs typeface="Arial" panose="020B0604020202020204" pitchFamily="34" charset="0"/>
              </a:rPr>
              <a:t>The platform can use </a:t>
            </a:r>
            <a:r>
              <a:rPr lang="en-IN" sz="2000" b="1" dirty="0">
                <a:latin typeface="Arial" panose="020B0604020202020204" pitchFamily="34" charset="0"/>
                <a:cs typeface="Arial" panose="020B0604020202020204" pitchFamily="34" charset="0"/>
              </a:rPr>
              <a:t>IBM Granite</a:t>
            </a:r>
            <a:r>
              <a:rPr lang="en-IN" sz="2000" dirty="0">
                <a:latin typeface="Arial" panose="020B0604020202020204" pitchFamily="34" charset="0"/>
                <a:cs typeface="Arial" panose="020B0604020202020204" pitchFamily="34" charset="0"/>
              </a:rPr>
              <a:t> as the generative AI intelligence layer.</a:t>
            </a:r>
          </a:p>
          <a:p>
            <a:r>
              <a:rPr lang="en-IN" sz="2000" dirty="0">
                <a:latin typeface="Arial" panose="020B0604020202020204" pitchFamily="34" charset="0"/>
                <a:cs typeface="Arial" panose="020B0604020202020204" pitchFamily="34" charset="0"/>
              </a:rPr>
              <a:t>Granite can help transform structured farm data into:</a:t>
            </a:r>
          </a:p>
          <a:p>
            <a:pPr lvl="0"/>
            <a:r>
              <a:rPr lang="en-IN" sz="2000" dirty="0">
                <a:latin typeface="Arial" panose="020B0604020202020204" pitchFamily="34" charset="0"/>
                <a:cs typeface="Arial" panose="020B0604020202020204" pitchFamily="34" charset="0"/>
              </a:rPr>
              <a:t>Natural-language explanations </a:t>
            </a:r>
          </a:p>
          <a:p>
            <a:pPr lvl="0"/>
            <a:r>
              <a:rPr lang="en-IN" sz="2000" dirty="0">
                <a:latin typeface="Arial" panose="020B0604020202020204" pitchFamily="34" charset="0"/>
                <a:cs typeface="Arial" panose="020B0604020202020204" pitchFamily="34" charset="0"/>
              </a:rPr>
              <a:t>Farm-specific insights </a:t>
            </a:r>
          </a:p>
          <a:p>
            <a:pPr lvl="0"/>
            <a:r>
              <a:rPr lang="en-IN" sz="2000" dirty="0">
                <a:latin typeface="Arial" panose="020B0604020202020204" pitchFamily="34" charset="0"/>
                <a:cs typeface="Arial" panose="020B0604020202020204" pitchFamily="34" charset="0"/>
              </a:rPr>
              <a:t>Recommendations </a:t>
            </a:r>
          </a:p>
          <a:p>
            <a:pPr lvl="0"/>
            <a:r>
              <a:rPr lang="en-IN" sz="2000" dirty="0">
                <a:latin typeface="Arial" panose="020B0604020202020204" pitchFamily="34" charset="0"/>
                <a:cs typeface="Arial" panose="020B0604020202020204" pitchFamily="34" charset="0"/>
              </a:rPr>
              <a:t>Decision reasoning </a:t>
            </a:r>
          </a:p>
          <a:p>
            <a:pPr lvl="0"/>
            <a:r>
              <a:rPr lang="en-IN" sz="2000" dirty="0">
                <a:latin typeface="Arial" panose="020B0604020202020204" pitchFamily="34" charset="0"/>
                <a:cs typeface="Arial" panose="020B0604020202020204" pitchFamily="34" charset="0"/>
              </a:rPr>
              <a:t>Risk summaries </a:t>
            </a:r>
          </a:p>
          <a:p>
            <a:pPr lvl="0"/>
            <a:r>
              <a:rPr lang="en-IN" sz="2000" dirty="0">
                <a:latin typeface="Arial" panose="020B0604020202020204" pitchFamily="34" charset="0"/>
                <a:cs typeface="Arial" panose="020B0604020202020204" pitchFamily="34" charset="0"/>
              </a:rPr>
              <a:t>Farmer-friendly responses</a:t>
            </a:r>
          </a:p>
        </p:txBody>
      </p:sp>
      <p:pic>
        <p:nvPicPr>
          <p:cNvPr id="7" name="Picture 6">
            <a:extLst>
              <a:ext uri="{FF2B5EF4-FFF2-40B4-BE49-F238E27FC236}">
                <a16:creationId xmlns:a16="http://schemas.microsoft.com/office/drawing/2014/main" id="{106F5686-B42E-D2F9-60D3-63E98BB5516F}"/>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276600" y="4276781"/>
            <a:ext cx="10405399" cy="5675672"/>
          </a:xfrm>
          <a:prstGeom prst="rect">
            <a:avLst/>
          </a:prstGeom>
        </p:spPr>
      </p:pic>
      <p:sp>
        <p:nvSpPr>
          <p:cNvPr id="8" name="TextBox 7">
            <a:extLst>
              <a:ext uri="{FF2B5EF4-FFF2-40B4-BE49-F238E27FC236}">
                <a16:creationId xmlns:a16="http://schemas.microsoft.com/office/drawing/2014/main" id="{AF5CAE71-E16F-7312-ECD8-DF623B1718AD}"/>
              </a:ext>
            </a:extLst>
          </p:cNvPr>
          <p:cNvSpPr txBox="1"/>
          <p:nvPr/>
        </p:nvSpPr>
        <p:spPr>
          <a:xfrm>
            <a:off x="5943600" y="3544409"/>
            <a:ext cx="6400800" cy="800219"/>
          </a:xfrm>
          <a:prstGeom prst="rect">
            <a:avLst/>
          </a:prstGeom>
          <a:noFill/>
        </p:spPr>
        <p:txBody>
          <a:bodyPr wrap="square" rtlCol="0">
            <a:spAutoFit/>
          </a:bodyPr>
          <a:lstStyle/>
          <a:p>
            <a:r>
              <a:rPr lang="en-IN" sz="2800" b="1" dirty="0">
                <a:latin typeface="Times New Roman" panose="02020603050405020304" pitchFamily="18" charset="0"/>
                <a:cs typeface="Times New Roman" panose="02020603050405020304" pitchFamily="18" charset="0"/>
              </a:rPr>
              <a:t>15. Complete System Workflow</a:t>
            </a:r>
          </a:p>
          <a:p>
            <a:endParaRPr lang="en-IN" b="1" dirty="0"/>
          </a:p>
        </p:txBody>
      </p:sp>
    </p:spTree>
    <p:extLst>
      <p:ext uri="{BB962C8B-B14F-4D97-AF65-F5344CB8AC3E}">
        <p14:creationId xmlns:p14="http://schemas.microsoft.com/office/powerpoint/2010/main" val="256572741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xfrm>
            <a:off x="343781" y="275000"/>
            <a:ext cx="10057645" cy="894941"/>
          </a:xfrm>
          <a:prstGeom prst="rect">
            <a:avLst/>
          </a:prstGeom>
        </p:spPr>
        <p:txBody>
          <a:bodyPr vert="horz" wrap="square" lIns="0" tIns="459566" rIns="0" bIns="0" rtlCol="0">
            <a:spAutoFit/>
          </a:bodyPr>
          <a:lstStyle/>
          <a:p>
            <a:pPr marL="913130">
              <a:lnSpc>
                <a:spcPct val="100000"/>
              </a:lnSpc>
              <a:spcBef>
                <a:spcPts val="100"/>
              </a:spcBef>
            </a:pPr>
            <a:r>
              <a:rPr lang="en-IN" sz="2800" dirty="0">
                <a:latin typeface="Arial" panose="020B0604020202020204" pitchFamily="34" charset="0"/>
                <a:cs typeface="Arial" panose="020B0604020202020204" pitchFamily="34" charset="0"/>
              </a:rPr>
              <a:t>TECHNOLOGY </a:t>
            </a:r>
            <a:r>
              <a:rPr lang="en-IN" sz="2800" spc="-20" dirty="0">
                <a:latin typeface="Arial" panose="020B0604020202020204" pitchFamily="34" charset="0"/>
                <a:cs typeface="Arial" panose="020B0604020202020204" pitchFamily="34" charset="0"/>
              </a:rPr>
              <a:t>USED</a:t>
            </a:r>
          </a:p>
        </p:txBody>
      </p:sp>
      <p:sp>
        <p:nvSpPr>
          <p:cNvPr id="4" name="object 4"/>
          <p:cNvSpPr txBox="1">
            <a:spLocks noGrp="1"/>
          </p:cNvSpPr>
          <p:nvPr>
            <p:ph type="body" idx="1"/>
          </p:nvPr>
        </p:nvSpPr>
        <p:spPr>
          <a:xfrm>
            <a:off x="685800" y="1790700"/>
            <a:ext cx="16208761" cy="5552802"/>
          </a:xfrm>
          <a:prstGeom prst="rect">
            <a:avLst/>
          </a:prstGeom>
        </p:spPr>
        <p:txBody>
          <a:bodyPr vert="horz" wrap="square" lIns="0" tIns="12700" rIns="0" bIns="0" rtlCol="0">
            <a:spAutoFit/>
          </a:bodyPr>
          <a:lstStyle/>
          <a:p>
            <a:pPr marL="457200" indent="-457200">
              <a:buFont typeface="Arial" panose="020B0604020202020204" pitchFamily="34" charset="0"/>
              <a:buChar char="•"/>
            </a:pPr>
            <a:r>
              <a:rPr lang="en-IN" sz="2000" b="1" dirty="0">
                <a:latin typeface="Arial" panose="020B0604020202020204" pitchFamily="34" charset="0"/>
                <a:cs typeface="Arial" panose="020B0604020202020204" pitchFamily="34" charset="0"/>
              </a:rPr>
              <a:t>IBM Agentic AI</a:t>
            </a:r>
            <a:r>
              <a:rPr lang="en-IN" sz="2000" dirty="0">
                <a:latin typeface="Arial" panose="020B0604020202020204" pitchFamily="34" charset="0"/>
                <a:cs typeface="Arial" panose="020B0604020202020204" pitchFamily="34" charset="0"/>
              </a:rPr>
              <a:t> – Full-stack AI workflow orchestration for intelligent farm monitoring and decision-making.</a:t>
            </a:r>
          </a:p>
          <a:p>
            <a:pPr marL="457200" indent="-457200">
              <a:buFont typeface="Arial" panose="020B0604020202020204" pitchFamily="34" charset="0"/>
              <a:buChar char="•"/>
            </a:pPr>
            <a:endParaRPr lang="en-IN" sz="2000" dirty="0">
              <a:latin typeface="Arial" panose="020B0604020202020204" pitchFamily="34" charset="0"/>
              <a:cs typeface="Arial" panose="020B0604020202020204" pitchFamily="34" charset="0"/>
            </a:endParaRPr>
          </a:p>
          <a:p>
            <a:pPr marL="457200" indent="-457200">
              <a:buFont typeface="Arial" panose="020B0604020202020204" pitchFamily="34" charset="0"/>
              <a:buChar char="•"/>
            </a:pPr>
            <a:r>
              <a:rPr lang="en-IN" sz="2000" b="1" dirty="0">
                <a:latin typeface="Arial" panose="020B0604020202020204" pitchFamily="34" charset="0"/>
                <a:cs typeface="Arial" panose="020B0604020202020204" pitchFamily="34" charset="0"/>
              </a:rPr>
              <a:t>IBM Granite</a:t>
            </a:r>
            <a:r>
              <a:rPr lang="en-IN" sz="2000" dirty="0">
                <a:latin typeface="Arial" panose="020B0604020202020204" pitchFamily="34" charset="0"/>
                <a:cs typeface="Arial" panose="020B0604020202020204" pitchFamily="34" charset="0"/>
              </a:rPr>
              <a:t> – Multilingual reasoning, farm-health summarization, explainable insights, and recommendation generation.</a:t>
            </a:r>
          </a:p>
          <a:p>
            <a:pPr marL="457200" indent="-457200">
              <a:buFont typeface="Arial" panose="020B0604020202020204" pitchFamily="34" charset="0"/>
              <a:buChar char="•"/>
            </a:pPr>
            <a:endParaRPr lang="en-IN" sz="2000" dirty="0">
              <a:latin typeface="Arial" panose="020B0604020202020204" pitchFamily="34" charset="0"/>
              <a:cs typeface="Arial" panose="020B0604020202020204" pitchFamily="34" charset="0"/>
            </a:endParaRPr>
          </a:p>
          <a:p>
            <a:pPr marL="457200" indent="-457200">
              <a:buFont typeface="Arial" panose="020B0604020202020204" pitchFamily="34" charset="0"/>
              <a:buChar char="•"/>
            </a:pPr>
            <a:r>
              <a:rPr lang="en-IN" sz="2000" b="1" dirty="0">
                <a:latin typeface="Arial" panose="020B0604020202020204" pitchFamily="34" charset="0"/>
                <a:cs typeface="Arial" panose="020B0604020202020204" pitchFamily="34" charset="0"/>
              </a:rPr>
              <a:t>IBM Cloud</a:t>
            </a:r>
            <a:r>
              <a:rPr lang="en-IN" sz="2000" dirty="0">
                <a:latin typeface="Arial" panose="020B0604020202020204" pitchFamily="34" charset="0"/>
                <a:cs typeface="Arial" panose="020B0604020202020204" pitchFamily="34" charset="0"/>
              </a:rPr>
              <a:t> – Secure and scalable deployment infrastructure for Salinity Shield AI.</a:t>
            </a:r>
          </a:p>
          <a:p>
            <a:pPr marL="457200" indent="-457200">
              <a:buFont typeface="Arial" panose="020B0604020202020204" pitchFamily="34" charset="0"/>
              <a:buChar char="•"/>
            </a:pPr>
            <a:endParaRPr lang="en-IN" sz="2000" dirty="0">
              <a:latin typeface="Arial" panose="020B0604020202020204" pitchFamily="34" charset="0"/>
              <a:cs typeface="Arial" panose="020B0604020202020204" pitchFamily="34" charset="0"/>
            </a:endParaRPr>
          </a:p>
          <a:p>
            <a:pPr marL="457200" indent="-457200">
              <a:buFont typeface="Arial" panose="020B0604020202020204" pitchFamily="34" charset="0"/>
              <a:buChar char="•"/>
            </a:pPr>
            <a:r>
              <a:rPr lang="en-IN" sz="2000" b="1" dirty="0">
                <a:latin typeface="Arial" panose="020B0604020202020204" pitchFamily="34" charset="0"/>
                <a:cs typeface="Arial" panose="020B0604020202020204" pitchFamily="34" charset="0"/>
              </a:rPr>
              <a:t>Grounded AI</a:t>
            </a:r>
            <a:r>
              <a:rPr lang="en-IN" sz="2000" dirty="0">
                <a:latin typeface="Arial" panose="020B0604020202020204" pitchFamily="34" charset="0"/>
                <a:cs typeface="Arial" panose="020B0604020202020204" pitchFamily="34" charset="0"/>
              </a:rPr>
              <a:t> – Supplies real-time farm and sensor data as context to Granite for reliable, data-grounded recommendations.</a:t>
            </a:r>
          </a:p>
          <a:p>
            <a:pPr marL="457200" indent="-457200">
              <a:buFont typeface="Arial" panose="020B0604020202020204" pitchFamily="34" charset="0"/>
              <a:buChar char="•"/>
            </a:pPr>
            <a:endParaRPr lang="en-IN" sz="2000" dirty="0">
              <a:latin typeface="Arial" panose="020B0604020202020204" pitchFamily="34" charset="0"/>
              <a:cs typeface="Arial" panose="020B0604020202020204" pitchFamily="34" charset="0"/>
            </a:endParaRPr>
          </a:p>
          <a:p>
            <a:pPr marL="457200" indent="-457200">
              <a:buFont typeface="Arial" panose="020B0604020202020204" pitchFamily="34" charset="0"/>
              <a:buChar char="•"/>
            </a:pPr>
            <a:r>
              <a:rPr lang="en-IN" sz="2000" b="1" dirty="0">
                <a:latin typeface="Arial" panose="020B0604020202020204" pitchFamily="34" charset="0"/>
                <a:cs typeface="Arial" panose="020B0604020202020204" pitchFamily="34" charset="0"/>
              </a:rPr>
              <a:t>Machine Learning</a:t>
            </a:r>
            <a:r>
              <a:rPr lang="en-IN" sz="2000" dirty="0">
                <a:latin typeface="Arial" panose="020B0604020202020204" pitchFamily="34" charset="0"/>
                <a:cs typeface="Arial" panose="020B0604020202020204" pitchFamily="34" charset="0"/>
              </a:rPr>
              <a:t> – Predicts salinity risk using EC, moisture, pH, historical readings, crop, irrigation, weather, and coastal-location features.</a:t>
            </a:r>
          </a:p>
          <a:p>
            <a:pPr marL="457200" indent="-457200">
              <a:buFont typeface="Arial" panose="020B0604020202020204" pitchFamily="34" charset="0"/>
              <a:buChar char="•"/>
            </a:pPr>
            <a:endParaRPr lang="en-IN" sz="2000" dirty="0">
              <a:latin typeface="Arial" panose="020B0604020202020204" pitchFamily="34" charset="0"/>
              <a:cs typeface="Arial" panose="020B0604020202020204" pitchFamily="34" charset="0"/>
            </a:endParaRPr>
          </a:p>
          <a:p>
            <a:pPr marL="457200" indent="-457200">
              <a:buFont typeface="Arial" panose="020B0604020202020204" pitchFamily="34" charset="0"/>
              <a:buChar char="•"/>
            </a:pPr>
            <a:r>
              <a:rPr lang="en-IN" sz="2000" b="1" dirty="0">
                <a:latin typeface="Arial" panose="020B0604020202020204" pitchFamily="34" charset="0"/>
                <a:cs typeface="Arial" panose="020B0604020202020204" pitchFamily="34" charset="0"/>
              </a:rPr>
              <a:t>Geospatial Intelligence</a:t>
            </a:r>
            <a:r>
              <a:rPr lang="en-IN" sz="2000" dirty="0">
                <a:latin typeface="Arial" panose="020B0604020202020204" pitchFamily="34" charset="0"/>
                <a:cs typeface="Arial" panose="020B0604020202020204" pitchFamily="34" charset="0"/>
              </a:rPr>
              <a:t> – Interactive risk map showing farms, salinity hotspots, critical zones, and regional risk levels.</a:t>
            </a:r>
          </a:p>
          <a:p>
            <a:pPr marL="457200" indent="-457200">
              <a:buFont typeface="Arial" panose="020B0604020202020204" pitchFamily="34" charset="0"/>
              <a:buChar char="•"/>
            </a:pPr>
            <a:endParaRPr lang="en-IN" sz="2000" dirty="0">
              <a:latin typeface="Arial" panose="020B0604020202020204" pitchFamily="34" charset="0"/>
              <a:cs typeface="Arial" panose="020B0604020202020204" pitchFamily="34" charset="0"/>
            </a:endParaRPr>
          </a:p>
          <a:p>
            <a:pPr marL="457200" indent="-457200">
              <a:buFont typeface="Arial" panose="020B0604020202020204" pitchFamily="34" charset="0"/>
              <a:buChar char="•"/>
            </a:pPr>
            <a:r>
              <a:rPr lang="en-IN" sz="2000" b="1" dirty="0">
                <a:latin typeface="Arial" panose="020B0604020202020204" pitchFamily="34" charset="0"/>
                <a:cs typeface="Arial" panose="020B0604020202020204" pitchFamily="34" charset="0"/>
              </a:rPr>
              <a:t>Predictive Analytics</a:t>
            </a:r>
            <a:r>
              <a:rPr lang="en-IN" sz="2000" dirty="0">
                <a:latin typeface="Arial" panose="020B0604020202020204" pitchFamily="34" charset="0"/>
                <a:cs typeface="Arial" panose="020B0604020202020204" pitchFamily="34" charset="0"/>
              </a:rPr>
              <a:t> – Forecasts future salinity trends and enables early intervention.</a:t>
            </a:r>
          </a:p>
          <a:p>
            <a:pPr marL="457200" indent="-457200">
              <a:buFont typeface="Arial" panose="020B0604020202020204" pitchFamily="34" charset="0"/>
              <a:buChar char="•"/>
            </a:pPr>
            <a:endParaRPr lang="en-IN" sz="2000" dirty="0">
              <a:latin typeface="Arial" panose="020B0604020202020204" pitchFamily="34" charset="0"/>
              <a:cs typeface="Arial" panose="020B0604020202020204" pitchFamily="34" charset="0"/>
            </a:endParaRPr>
          </a:p>
          <a:p>
            <a:pPr marL="457200" indent="-457200">
              <a:buFont typeface="Arial" panose="020B0604020202020204" pitchFamily="34" charset="0"/>
              <a:buChar char="•"/>
            </a:pPr>
            <a:r>
              <a:rPr lang="en-IN" sz="2000" b="1" dirty="0">
                <a:latin typeface="Arial" panose="020B0604020202020204" pitchFamily="34" charset="0"/>
                <a:cs typeface="Arial" panose="020B0604020202020204" pitchFamily="34" charset="0"/>
              </a:rPr>
              <a:t>Explainable AI</a:t>
            </a:r>
            <a:r>
              <a:rPr lang="en-IN" sz="2000" dirty="0">
                <a:latin typeface="Arial" panose="020B0604020202020204" pitchFamily="34" charset="0"/>
                <a:cs typeface="Arial" panose="020B0604020202020204" pitchFamily="34" charset="0"/>
              </a:rPr>
              <a:t> – AI Decision Trace explains observations, risk assessment, and recommended actions.</a:t>
            </a:r>
          </a:p>
          <a:p>
            <a:pPr marL="457200" indent="-457200">
              <a:buFont typeface="Arial" panose="020B0604020202020204" pitchFamily="34" charset="0"/>
              <a:buChar char="•"/>
            </a:pPr>
            <a:endParaRPr lang="en-IN" sz="2000" dirty="0">
              <a:latin typeface="Arial" panose="020B0604020202020204" pitchFamily="34" charset="0"/>
              <a:cs typeface="Arial" panose="020B0604020202020204" pitchFamily="34" charset="0"/>
            </a:endParaRPr>
          </a:p>
          <a:p>
            <a:pPr marL="457200" indent="-457200">
              <a:buFont typeface="Arial" panose="020B0604020202020204" pitchFamily="34" charset="0"/>
              <a:buChar char="•"/>
            </a:pPr>
            <a:r>
              <a:rPr lang="en-IN" sz="2000" b="1" dirty="0">
                <a:latin typeface="Arial" panose="020B0604020202020204" pitchFamily="34" charset="0"/>
                <a:cs typeface="Arial" panose="020B0604020202020204" pitchFamily="34" charset="0"/>
              </a:rPr>
              <a:t>What-If Simulation</a:t>
            </a:r>
            <a:r>
              <a:rPr lang="en-IN" sz="2000" dirty="0">
                <a:latin typeface="Arial" panose="020B0604020202020204" pitchFamily="34" charset="0"/>
                <a:cs typeface="Arial" panose="020B0604020202020204" pitchFamily="34" charset="0"/>
              </a:rPr>
              <a:t> – Evaluates potential interventions and their impact on farm health and salinity risk.</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808032" y="723900"/>
            <a:ext cx="6354768" cy="443711"/>
          </a:xfrm>
          <a:prstGeom prst="rect">
            <a:avLst/>
          </a:prstGeom>
        </p:spPr>
        <p:txBody>
          <a:bodyPr vert="horz" wrap="square" lIns="0" tIns="12700" rIns="0" bIns="0" rtlCol="0">
            <a:spAutoFit/>
          </a:bodyPr>
          <a:lstStyle/>
          <a:p>
            <a:pPr marL="12700">
              <a:lnSpc>
                <a:spcPct val="100000"/>
              </a:lnSpc>
              <a:spcBef>
                <a:spcPts val="100"/>
              </a:spcBef>
            </a:pPr>
            <a:r>
              <a:rPr sz="2800" b="1" dirty="0">
                <a:latin typeface="Arial" panose="020B0604020202020204" pitchFamily="34" charset="0"/>
                <a:cs typeface="Arial" panose="020B0604020202020204" pitchFamily="34" charset="0"/>
              </a:rPr>
              <a:t>Core Components Used </a:t>
            </a:r>
            <a:r>
              <a:rPr sz="2800" b="1" spc="-50" dirty="0">
                <a:latin typeface="Arial" panose="020B0604020202020204" pitchFamily="34" charset="0"/>
                <a:cs typeface="Arial" panose="020B0604020202020204" pitchFamily="34" charset="0"/>
              </a:rPr>
              <a:t>–</a:t>
            </a:r>
            <a:endParaRPr sz="2800" b="1" dirty="0">
              <a:latin typeface="Arial" panose="020B0604020202020204" pitchFamily="34" charset="0"/>
              <a:cs typeface="Arial" panose="020B0604020202020204" pitchFamily="34" charset="0"/>
            </a:endParaRPr>
          </a:p>
        </p:txBody>
      </p:sp>
      <p:sp>
        <p:nvSpPr>
          <p:cNvPr id="3" name="object 3"/>
          <p:cNvSpPr txBox="1"/>
          <p:nvPr/>
        </p:nvSpPr>
        <p:spPr>
          <a:xfrm>
            <a:off x="790972" y="1623076"/>
            <a:ext cx="17116028" cy="4629472"/>
          </a:xfrm>
          <a:prstGeom prst="rect">
            <a:avLst/>
          </a:prstGeom>
        </p:spPr>
        <p:txBody>
          <a:bodyPr vert="horz" wrap="square" lIns="0" tIns="12700" rIns="0" bIns="0" rtlCol="0">
            <a:spAutoFit/>
          </a:bodyPr>
          <a:lstStyle/>
          <a:p>
            <a:pPr marL="342900" indent="-342900">
              <a:buFont typeface="Arial" panose="020B0604020202020204" pitchFamily="34" charset="0"/>
              <a:buChar char="•"/>
            </a:pPr>
            <a:r>
              <a:rPr lang="en-IN" sz="2000" b="1" dirty="0">
                <a:latin typeface="Arial" panose="020B0604020202020204" pitchFamily="34" charset="0"/>
                <a:cs typeface="Arial" panose="020B0604020202020204" pitchFamily="34" charset="0"/>
              </a:rPr>
              <a:t> Farmer Input</a:t>
            </a:r>
            <a:r>
              <a:rPr lang="en-IN" sz="2000" dirty="0">
                <a:latin typeface="Arial" panose="020B0604020202020204" pitchFamily="34" charset="0"/>
                <a:cs typeface="Arial" panose="020B0604020202020204" pitchFamily="34" charset="0"/>
              </a:rPr>
              <a:t> – Interface for farm details, crop information, observations, and sensor/simulated sensor data.</a:t>
            </a:r>
          </a:p>
          <a:p>
            <a:pPr marL="342900" indent="-342900">
              <a:buFont typeface="Arial" panose="020B0604020202020204" pitchFamily="34" charset="0"/>
              <a:buChar char="•"/>
            </a:pPr>
            <a:endParaRPr lang="en-IN" sz="2000" dirty="0">
              <a:latin typeface="Arial" panose="020B0604020202020204" pitchFamily="34" charset="0"/>
              <a:cs typeface="Arial" panose="020B0604020202020204" pitchFamily="34" charset="0"/>
            </a:endParaRPr>
          </a:p>
          <a:p>
            <a:pPr marL="342900" indent="-342900">
              <a:buFont typeface="Arial" panose="020B0604020202020204" pitchFamily="34" charset="0"/>
              <a:buChar char="•"/>
            </a:pPr>
            <a:r>
              <a:rPr lang="en-IN" sz="2000" b="1" dirty="0">
                <a:latin typeface="Arial" panose="020B0604020202020204" pitchFamily="34" charset="0"/>
                <a:cs typeface="Arial" panose="020B0604020202020204" pitchFamily="34" charset="0"/>
              </a:rPr>
              <a:t> IBM Granite Agent</a:t>
            </a:r>
            <a:r>
              <a:rPr lang="en-IN" sz="2000" dirty="0">
                <a:latin typeface="Arial" panose="020B0604020202020204" pitchFamily="34" charset="0"/>
                <a:cs typeface="Arial" panose="020B0604020202020204" pitchFamily="34" charset="0"/>
              </a:rPr>
              <a:t> – Analyses farm conditions, summarizes salinity incidents, detects abnormal trends, and generates grounded recommendations.</a:t>
            </a:r>
          </a:p>
          <a:p>
            <a:pPr marL="342900" indent="-342900">
              <a:buFont typeface="Arial" panose="020B0604020202020204" pitchFamily="34" charset="0"/>
              <a:buChar char="•"/>
            </a:pPr>
            <a:endParaRPr lang="en-IN" sz="2000" dirty="0">
              <a:latin typeface="Arial" panose="020B0604020202020204" pitchFamily="34" charset="0"/>
              <a:cs typeface="Arial" panose="020B0604020202020204" pitchFamily="34" charset="0"/>
            </a:endParaRPr>
          </a:p>
          <a:p>
            <a:pPr marL="342900" indent="-342900">
              <a:buFont typeface="Arial" panose="020B0604020202020204" pitchFamily="34" charset="0"/>
              <a:buChar char="•"/>
            </a:pPr>
            <a:r>
              <a:rPr lang="en-IN" sz="2000" b="1" dirty="0">
                <a:latin typeface="Arial" panose="020B0604020202020204" pitchFamily="34" charset="0"/>
                <a:cs typeface="Arial" panose="020B0604020202020204" pitchFamily="34" charset="0"/>
              </a:rPr>
              <a:t> IBM Granite Model</a:t>
            </a:r>
            <a:r>
              <a:rPr lang="en-IN" sz="2000" dirty="0">
                <a:latin typeface="Arial" panose="020B0604020202020204" pitchFamily="34" charset="0"/>
                <a:cs typeface="Arial" panose="020B0604020202020204" pitchFamily="34" charset="0"/>
              </a:rPr>
              <a:t> – Provides multilingual understanding, reasoning, explanation, and AI-powered farm advisory.</a:t>
            </a:r>
          </a:p>
          <a:p>
            <a:pPr marL="342900" indent="-342900">
              <a:buFont typeface="Arial" panose="020B0604020202020204" pitchFamily="34" charset="0"/>
              <a:buChar char="•"/>
            </a:pPr>
            <a:endParaRPr lang="en-IN" sz="2000" dirty="0">
              <a:latin typeface="Arial" panose="020B0604020202020204" pitchFamily="34" charset="0"/>
              <a:cs typeface="Arial" panose="020B0604020202020204" pitchFamily="34" charset="0"/>
            </a:endParaRPr>
          </a:p>
          <a:p>
            <a:pPr marL="342900" indent="-342900">
              <a:buFont typeface="Arial" panose="020B0604020202020204" pitchFamily="34" charset="0"/>
              <a:buChar char="•"/>
            </a:pPr>
            <a:r>
              <a:rPr lang="en-IN" sz="2000" b="1" dirty="0">
                <a:latin typeface="Arial" panose="020B0604020202020204" pitchFamily="34" charset="0"/>
                <a:cs typeface="Arial" panose="020B0604020202020204" pitchFamily="34" charset="0"/>
              </a:rPr>
              <a:t> AI Output</a:t>
            </a:r>
            <a:r>
              <a:rPr lang="en-IN" sz="2000" dirty="0">
                <a:latin typeface="Arial" panose="020B0604020202020204" pitchFamily="34" charset="0"/>
                <a:cs typeface="Arial" panose="020B0604020202020204" pitchFamily="34" charset="0"/>
              </a:rPr>
              <a:t> – Displays risk explanations, farm-health summaries, forecasts, alerts, recommended actions, and AI Decision Traces.</a:t>
            </a:r>
          </a:p>
          <a:p>
            <a:pPr marL="342900" indent="-342900">
              <a:buFont typeface="Arial" panose="020B0604020202020204" pitchFamily="34" charset="0"/>
              <a:buChar char="•"/>
            </a:pPr>
            <a:endParaRPr lang="en-IN" sz="2000" dirty="0">
              <a:latin typeface="Arial" panose="020B0604020202020204" pitchFamily="34" charset="0"/>
              <a:cs typeface="Arial" panose="020B0604020202020204" pitchFamily="34" charset="0"/>
            </a:endParaRPr>
          </a:p>
          <a:p>
            <a:pPr marL="342900" indent="-342900">
              <a:buFont typeface="Arial" panose="020B0604020202020204" pitchFamily="34" charset="0"/>
              <a:buChar char="•"/>
            </a:pPr>
            <a:r>
              <a:rPr lang="en-IN" sz="2000" b="1" dirty="0">
                <a:latin typeface="Arial" panose="020B0604020202020204" pitchFamily="34" charset="0"/>
                <a:cs typeface="Arial" panose="020B0604020202020204" pitchFamily="34" charset="0"/>
              </a:rPr>
              <a:t> Data Layer</a:t>
            </a:r>
            <a:r>
              <a:rPr lang="en-IN" sz="2000" dirty="0">
                <a:latin typeface="Arial" panose="020B0604020202020204" pitchFamily="34" charset="0"/>
                <a:cs typeface="Arial" panose="020B0604020202020204" pitchFamily="34" charset="0"/>
              </a:rPr>
              <a:t> – Stores farms, sensor readings, EC, moisture, pH, historical data, risk predictions, alerts, recommendations, simulations, and audit logs.</a:t>
            </a:r>
          </a:p>
          <a:p>
            <a:pPr marL="342900" indent="-342900">
              <a:buFont typeface="Arial" panose="020B0604020202020204" pitchFamily="34" charset="0"/>
              <a:buChar char="•"/>
            </a:pPr>
            <a:endParaRPr lang="en-IN" sz="2000" dirty="0">
              <a:latin typeface="Arial" panose="020B0604020202020204" pitchFamily="34" charset="0"/>
              <a:cs typeface="Arial" panose="020B0604020202020204" pitchFamily="34" charset="0"/>
            </a:endParaRPr>
          </a:p>
          <a:p>
            <a:pPr marL="342900" indent="-342900">
              <a:buFont typeface="Arial" panose="020B0604020202020204" pitchFamily="34" charset="0"/>
              <a:buChar char="•"/>
            </a:pPr>
            <a:r>
              <a:rPr lang="en-IN" sz="2000" b="1" dirty="0">
                <a:latin typeface="Arial" panose="020B0604020202020204" pitchFamily="34" charset="0"/>
                <a:cs typeface="Arial" panose="020B0604020202020204" pitchFamily="34" charset="0"/>
              </a:rPr>
              <a:t> Interactive Map &amp; Dashboard</a:t>
            </a:r>
            <a:r>
              <a:rPr lang="en-IN" sz="2000" dirty="0">
                <a:latin typeface="Arial" panose="020B0604020202020204" pitchFamily="34" charset="0"/>
                <a:cs typeface="Arial" panose="020B0604020202020204" pitchFamily="34" charset="0"/>
              </a:rPr>
              <a:t> – Visualizes farms, salinity-risk zones, hotspots, critical farms, sensor conditions, alerts, and regional coastal risk.</a:t>
            </a:r>
          </a:p>
          <a:p>
            <a:pPr marL="342900" indent="-342900">
              <a:buFont typeface="Arial" panose="020B0604020202020204" pitchFamily="34" charset="0"/>
              <a:buChar char="•"/>
            </a:pPr>
            <a:endParaRPr lang="en-IN" sz="2000" dirty="0">
              <a:latin typeface="Arial" panose="020B0604020202020204" pitchFamily="34" charset="0"/>
              <a:cs typeface="Arial" panose="020B0604020202020204" pitchFamily="34" charset="0"/>
            </a:endParaRPr>
          </a:p>
          <a:p>
            <a:pPr marL="342900" indent="-342900">
              <a:buFont typeface="Arial" panose="020B0604020202020204" pitchFamily="34" charset="0"/>
              <a:buChar char="•"/>
            </a:pPr>
            <a:r>
              <a:rPr lang="en-IN" sz="2000" b="1" dirty="0">
                <a:latin typeface="Arial" panose="020B0604020202020204" pitchFamily="34" charset="0"/>
                <a:cs typeface="Arial" panose="020B0604020202020204" pitchFamily="34" charset="0"/>
              </a:rPr>
              <a:t> ML Prediction Engine</a:t>
            </a:r>
            <a:r>
              <a:rPr lang="en-IN" sz="2000" dirty="0">
                <a:latin typeface="Arial" panose="020B0604020202020204" pitchFamily="34" charset="0"/>
                <a:cs typeface="Arial" panose="020B0604020202020204" pitchFamily="34" charset="0"/>
              </a:rPr>
              <a:t> – Predicts future salinity risk using sensor, historical, crop, irrigation, weather, and location data.</a:t>
            </a:r>
          </a:p>
          <a:p>
            <a:pPr marL="342900" indent="-342900">
              <a:buFont typeface="Arial" panose="020B0604020202020204" pitchFamily="34" charset="0"/>
              <a:buChar char="•"/>
            </a:pPr>
            <a:endParaRPr lang="en-IN" sz="2000" dirty="0">
              <a:latin typeface="Arial" panose="020B0604020202020204" pitchFamily="34" charset="0"/>
              <a:cs typeface="Arial" panose="020B0604020202020204" pitchFamily="34" charset="0"/>
            </a:endParaRPr>
          </a:p>
          <a:p>
            <a:pPr marL="342900" indent="-342900">
              <a:buFont typeface="Arial" panose="020B0604020202020204" pitchFamily="34" charset="0"/>
              <a:buChar char="•"/>
            </a:pPr>
            <a:r>
              <a:rPr lang="en-IN" sz="2000" b="1" dirty="0">
                <a:latin typeface="Arial" panose="020B0604020202020204" pitchFamily="34" charset="0"/>
                <a:cs typeface="Arial" panose="020B0604020202020204" pitchFamily="34" charset="0"/>
              </a:rPr>
              <a:t> What-If Simulator</a:t>
            </a:r>
            <a:r>
              <a:rPr lang="en-IN" sz="2000" dirty="0">
                <a:latin typeface="Arial" panose="020B0604020202020204" pitchFamily="34" charset="0"/>
                <a:cs typeface="Arial" panose="020B0604020202020204" pitchFamily="34" charset="0"/>
              </a:rPr>
              <a:t> – Evaluates potential interventions and their impact on salinity, farm health, and risk.</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29694988-8890-565A-A6A7-3450F0CC034A}"/>
              </a:ext>
            </a:extLst>
          </p:cNvPr>
          <p:cNvPicPr>
            <a:picLocks noChangeAspect="1"/>
          </p:cNvPicPr>
          <p:nvPr/>
        </p:nvPicPr>
        <p:blipFill>
          <a:blip r:embed="rId2"/>
          <a:stretch>
            <a:fillRect/>
          </a:stretch>
        </p:blipFill>
        <p:spPr>
          <a:xfrm>
            <a:off x="1219200" y="931145"/>
            <a:ext cx="15381603" cy="9155142"/>
          </a:xfrm>
          <a:prstGeom prst="rect">
            <a:avLst/>
          </a:prstGeom>
        </p:spPr>
      </p:pic>
      <p:sp>
        <p:nvSpPr>
          <p:cNvPr id="5" name="TextBox 4">
            <a:extLst>
              <a:ext uri="{FF2B5EF4-FFF2-40B4-BE49-F238E27FC236}">
                <a16:creationId xmlns:a16="http://schemas.microsoft.com/office/drawing/2014/main" id="{64EB9BFB-6D29-ABD3-56BD-F9F28CD8E7F8}"/>
              </a:ext>
            </a:extLst>
          </p:cNvPr>
          <p:cNvSpPr txBox="1"/>
          <p:nvPr/>
        </p:nvSpPr>
        <p:spPr>
          <a:xfrm>
            <a:off x="1219200" y="190500"/>
            <a:ext cx="9144000" cy="523220"/>
          </a:xfrm>
          <a:prstGeom prst="rect">
            <a:avLst/>
          </a:prstGeom>
          <a:noFill/>
        </p:spPr>
        <p:txBody>
          <a:bodyPr wrap="square">
            <a:spAutoFit/>
          </a:bodyPr>
          <a:lstStyle/>
          <a:p>
            <a:pPr marL="0" marR="0" lvl="0" indent="0" algn="l" rtl="0">
              <a:lnSpc>
                <a:spcPct val="100000"/>
              </a:lnSpc>
              <a:spcBef>
                <a:spcPts val="0"/>
              </a:spcBef>
              <a:spcAft>
                <a:spcPts val="0"/>
              </a:spcAft>
              <a:buClr>
                <a:srgbClr val="051D3A"/>
              </a:buClr>
              <a:buSzPts val="3500"/>
              <a:buFont typeface="Times New Roman"/>
              <a:buNone/>
            </a:pPr>
            <a:r>
              <a:rPr lang="en-US" sz="2800" b="1" dirty="0">
                <a:sym typeface="Times New Roman"/>
              </a:rPr>
              <a:t>Required Files created using IBM bob -</a:t>
            </a:r>
          </a:p>
        </p:txBody>
      </p:sp>
    </p:spTree>
    <p:extLst>
      <p:ext uri="{BB962C8B-B14F-4D97-AF65-F5344CB8AC3E}">
        <p14:creationId xmlns:p14="http://schemas.microsoft.com/office/powerpoint/2010/main" val="136833768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6543433F-DA87-6C6A-1A74-06100DC9E38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71600" y="952500"/>
            <a:ext cx="15286240" cy="9106357"/>
          </a:xfrm>
          <a:prstGeom prst="rect">
            <a:avLst/>
          </a:prstGeom>
        </p:spPr>
      </p:pic>
      <p:sp>
        <p:nvSpPr>
          <p:cNvPr id="2" name="TextBox 1">
            <a:extLst>
              <a:ext uri="{FF2B5EF4-FFF2-40B4-BE49-F238E27FC236}">
                <a16:creationId xmlns:a16="http://schemas.microsoft.com/office/drawing/2014/main" id="{0A5ADCC9-289F-BF8B-810D-1B0B94853887}"/>
              </a:ext>
            </a:extLst>
          </p:cNvPr>
          <p:cNvSpPr txBox="1"/>
          <p:nvPr/>
        </p:nvSpPr>
        <p:spPr>
          <a:xfrm>
            <a:off x="1219200" y="265106"/>
            <a:ext cx="4110421" cy="800219"/>
          </a:xfrm>
          <a:prstGeom prst="rect">
            <a:avLst/>
          </a:prstGeom>
          <a:noFill/>
        </p:spPr>
        <p:txBody>
          <a:bodyPr wrap="none" rtlCol="0">
            <a:spAutoFit/>
          </a:bodyPr>
          <a:lstStyle/>
          <a:p>
            <a:pPr algn="l" rtl="0"/>
            <a:r>
              <a:rPr lang="en-US" sz="2800" b="1" i="0" u="none" strike="noStrike" cap="none" dirty="0">
                <a:solidFill>
                  <a:srgbClr val="051D3A"/>
                </a:solidFill>
                <a:latin typeface="Times New Roman"/>
                <a:ea typeface="Times New Roman"/>
                <a:cs typeface="Times New Roman"/>
                <a:sym typeface="Times New Roman"/>
              </a:rPr>
              <a:t/>
            </a:r>
            <a:r>
              <a:rPr lang="en-US" sz="2800" b="1" i="0" u="none" strike="noStrike" cap="none" dirty="0">
                <a:solidFill>
                  <a:srgbClr val="051D3A"/>
                </a:solidFill>
                <a:latin typeface="Arial" panose="020B0604020202020204" pitchFamily="34" charset="0"/>
                <a:ea typeface="Times New Roman"/>
                <a:cs typeface="Arial" panose="020B0604020202020204" pitchFamily="34" charset="0"/>
                <a:sym typeface="Times New Roman"/>
              </a:rPr>
              <a:t>IBM Bob Screenshots:</a:t>
            </a:r>
            <a:endParaRPr lang="en-US" sz="2800" b="1" dirty="0">
              <a:latin typeface="Arial" panose="020B0604020202020204" pitchFamily="34" charset="0"/>
              <a:cs typeface="Arial" panose="020B0604020202020204" pitchFamily="34" charset="0"/>
              <a:sym typeface="Times New Roman"/>
            </a:endParaRPr>
          </a:p>
          <a:p>
            <a:endParaRPr lang="en-IN" dirty="0"/>
          </a:p>
        </p:txBody>
      </p:sp>
    </p:spTree>
    <p:extLst>
      <p:ext uri="{BB962C8B-B14F-4D97-AF65-F5344CB8AC3E}">
        <p14:creationId xmlns:p14="http://schemas.microsoft.com/office/powerpoint/2010/main" val="420921537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1D450BED-36FF-D6B4-20E0-4D19E6CD5DA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95400" y="876300"/>
            <a:ext cx="15371049" cy="9156879"/>
          </a:xfrm>
          <a:prstGeom prst="rect">
            <a:avLst/>
          </a:prstGeom>
        </p:spPr>
      </p:pic>
      <p:sp>
        <p:nvSpPr>
          <p:cNvPr id="4" name="TextBox 3">
            <a:extLst>
              <a:ext uri="{FF2B5EF4-FFF2-40B4-BE49-F238E27FC236}">
                <a16:creationId xmlns:a16="http://schemas.microsoft.com/office/drawing/2014/main" id="{0A4DA2C9-445C-DC27-F4B9-6A26857EABFA}"/>
              </a:ext>
            </a:extLst>
          </p:cNvPr>
          <p:cNvSpPr txBox="1"/>
          <p:nvPr/>
        </p:nvSpPr>
        <p:spPr>
          <a:xfrm>
            <a:off x="1289713" y="253821"/>
            <a:ext cx="4110421" cy="800219"/>
          </a:xfrm>
          <a:prstGeom prst="rect">
            <a:avLst/>
          </a:prstGeom>
          <a:noFill/>
        </p:spPr>
        <p:txBody>
          <a:bodyPr wrap="none" rtlCol="0">
            <a:spAutoFit/>
          </a:bodyPr>
          <a:lstStyle/>
          <a:p>
            <a:pPr algn="l" rtl="0"/>
            <a:r>
              <a:rPr lang="en-US" sz="2800" b="1" i="0" u="none" strike="noStrike" cap="none" dirty="0">
                <a:solidFill>
                  <a:srgbClr val="051D3A"/>
                </a:solidFill>
                <a:latin typeface="Times New Roman"/>
                <a:ea typeface="Times New Roman"/>
                <a:cs typeface="Times New Roman"/>
                <a:sym typeface="Times New Roman"/>
              </a:rPr>
              <a:t/>
            </a:r>
            <a:r>
              <a:rPr lang="en-US" sz="2800" b="1" i="0" u="none" strike="noStrike" cap="none" dirty="0">
                <a:solidFill>
                  <a:srgbClr val="051D3A"/>
                </a:solidFill>
                <a:latin typeface="Arial" panose="020B0604020202020204" pitchFamily="34" charset="0"/>
                <a:ea typeface="Times New Roman"/>
                <a:cs typeface="Arial" panose="020B0604020202020204" pitchFamily="34" charset="0"/>
                <a:sym typeface="Times New Roman"/>
              </a:rPr>
              <a:t>IBM Bob Screenshots:</a:t>
            </a:r>
            <a:endParaRPr lang="en-US" sz="2800" b="1" dirty="0">
              <a:latin typeface="Arial" panose="020B0604020202020204" pitchFamily="34" charset="0"/>
              <a:cs typeface="Arial" panose="020B0604020202020204" pitchFamily="34" charset="0"/>
              <a:sym typeface="Times New Roman"/>
            </a:endParaRPr>
          </a:p>
          <a:p>
            <a:endParaRPr lang="en-IN" dirty="0"/>
          </a:p>
        </p:txBody>
      </p:sp>
    </p:spTree>
    <p:extLst>
      <p:ext uri="{BB962C8B-B14F-4D97-AF65-F5344CB8AC3E}">
        <p14:creationId xmlns:p14="http://schemas.microsoft.com/office/powerpoint/2010/main" val="16578615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753AFFE5-E09C-76C7-7A70-46DE0DDF492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50669" y="922250"/>
            <a:ext cx="16041931" cy="9230177"/>
          </a:xfrm>
          <a:prstGeom prst="rect">
            <a:avLst/>
          </a:prstGeom>
        </p:spPr>
      </p:pic>
      <p:sp>
        <p:nvSpPr>
          <p:cNvPr id="4" name="TextBox 3">
            <a:extLst>
              <a:ext uri="{FF2B5EF4-FFF2-40B4-BE49-F238E27FC236}">
                <a16:creationId xmlns:a16="http://schemas.microsoft.com/office/drawing/2014/main" id="{3845556C-106C-E5E1-A21D-CBCA79FBBAB5}"/>
              </a:ext>
            </a:extLst>
          </p:cNvPr>
          <p:cNvSpPr txBox="1"/>
          <p:nvPr/>
        </p:nvSpPr>
        <p:spPr>
          <a:xfrm>
            <a:off x="838200" y="266700"/>
            <a:ext cx="4110421" cy="800219"/>
          </a:xfrm>
          <a:prstGeom prst="rect">
            <a:avLst/>
          </a:prstGeom>
          <a:noFill/>
        </p:spPr>
        <p:txBody>
          <a:bodyPr wrap="none" rtlCol="0">
            <a:spAutoFit/>
          </a:bodyPr>
          <a:lstStyle/>
          <a:p>
            <a:pPr algn="l" rtl="0"/>
            <a:r>
              <a:rPr lang="en-US" sz="2800" b="1" i="0" u="none" strike="noStrike" cap="none" dirty="0">
                <a:solidFill>
                  <a:srgbClr val="051D3A"/>
                </a:solidFill>
                <a:latin typeface="Times New Roman"/>
                <a:ea typeface="Times New Roman"/>
                <a:cs typeface="Times New Roman"/>
                <a:sym typeface="Times New Roman"/>
              </a:rPr>
              <a:t/>
            </a:r>
            <a:r>
              <a:rPr lang="en-US" sz="2800" b="1" i="0" u="none" strike="noStrike" cap="none" dirty="0">
                <a:solidFill>
                  <a:srgbClr val="051D3A"/>
                </a:solidFill>
                <a:latin typeface="Arial" panose="020B0604020202020204" pitchFamily="34" charset="0"/>
                <a:ea typeface="Times New Roman"/>
                <a:cs typeface="Arial" panose="020B0604020202020204" pitchFamily="34" charset="0"/>
                <a:sym typeface="Times New Roman"/>
              </a:rPr>
              <a:t>IBM Bob Screenshots:</a:t>
            </a:r>
            <a:endParaRPr lang="en-US" sz="2800" b="1" dirty="0">
              <a:latin typeface="Arial" panose="020B0604020202020204" pitchFamily="34" charset="0"/>
              <a:cs typeface="Arial" panose="020B0604020202020204" pitchFamily="34" charset="0"/>
              <a:sym typeface="Times New Roman"/>
            </a:endParaRPr>
          </a:p>
          <a:p>
            <a:endParaRPr lang="en-IN" dirty="0"/>
          </a:p>
        </p:txBody>
      </p:sp>
    </p:spTree>
    <p:extLst>
      <p:ext uri="{BB962C8B-B14F-4D97-AF65-F5344CB8AC3E}">
        <p14:creationId xmlns:p14="http://schemas.microsoft.com/office/powerpoint/2010/main" val="150863010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34037614-C218-A191-AA2C-00102D07F4B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81100" y="876300"/>
            <a:ext cx="15925800" cy="9196589"/>
          </a:xfrm>
          <a:prstGeom prst="rect">
            <a:avLst/>
          </a:prstGeom>
        </p:spPr>
      </p:pic>
      <p:sp>
        <p:nvSpPr>
          <p:cNvPr id="4" name="TextBox 3">
            <a:extLst>
              <a:ext uri="{FF2B5EF4-FFF2-40B4-BE49-F238E27FC236}">
                <a16:creationId xmlns:a16="http://schemas.microsoft.com/office/drawing/2014/main" id="{72CA858B-AE15-F71A-A4EC-9B5C157884B6}"/>
              </a:ext>
            </a:extLst>
          </p:cNvPr>
          <p:cNvSpPr txBox="1"/>
          <p:nvPr/>
        </p:nvSpPr>
        <p:spPr>
          <a:xfrm>
            <a:off x="1181100" y="214111"/>
            <a:ext cx="4110421" cy="800219"/>
          </a:xfrm>
          <a:prstGeom prst="rect">
            <a:avLst/>
          </a:prstGeom>
          <a:noFill/>
        </p:spPr>
        <p:txBody>
          <a:bodyPr wrap="none" rtlCol="0">
            <a:spAutoFit/>
          </a:bodyPr>
          <a:lstStyle/>
          <a:p>
            <a:pPr algn="l" rtl="0"/>
            <a:r>
              <a:rPr lang="en-US" sz="2800" b="1" i="0" u="none" strike="noStrike" cap="none" dirty="0">
                <a:solidFill>
                  <a:srgbClr val="051D3A"/>
                </a:solidFill>
                <a:latin typeface="Times New Roman"/>
                <a:ea typeface="Times New Roman"/>
                <a:cs typeface="Times New Roman"/>
                <a:sym typeface="Times New Roman"/>
              </a:rPr>
              <a:t/>
            </a:r>
            <a:r>
              <a:rPr lang="en-US" sz="2800" b="1" i="0" u="none" strike="noStrike" cap="none" dirty="0">
                <a:solidFill>
                  <a:srgbClr val="051D3A"/>
                </a:solidFill>
                <a:latin typeface="Arial" panose="020B0604020202020204" pitchFamily="34" charset="0"/>
                <a:ea typeface="Times New Roman"/>
                <a:cs typeface="Arial" panose="020B0604020202020204" pitchFamily="34" charset="0"/>
                <a:sym typeface="Times New Roman"/>
              </a:rPr>
              <a:t>IBM Bob Screenshots:</a:t>
            </a:r>
            <a:endParaRPr lang="en-US" sz="2800" b="1" dirty="0">
              <a:latin typeface="Arial" panose="020B0604020202020204" pitchFamily="34" charset="0"/>
              <a:cs typeface="Arial" panose="020B0604020202020204" pitchFamily="34" charset="0"/>
              <a:sym typeface="Times New Roman"/>
            </a:endParaRPr>
          </a:p>
          <a:p>
            <a:endParaRPr lang="en-IN" dirty="0"/>
          </a:p>
        </p:txBody>
      </p:sp>
    </p:spTree>
    <p:extLst>
      <p:ext uri="{BB962C8B-B14F-4D97-AF65-F5344CB8AC3E}">
        <p14:creationId xmlns:p14="http://schemas.microsoft.com/office/powerpoint/2010/main" val="299259082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9EC868BF-98C4-1AC1-BA43-47646302964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81100" y="800100"/>
            <a:ext cx="15925800" cy="9179974"/>
          </a:xfrm>
          <a:prstGeom prst="rect">
            <a:avLst/>
          </a:prstGeom>
        </p:spPr>
      </p:pic>
      <p:sp>
        <p:nvSpPr>
          <p:cNvPr id="4" name="TextBox 3">
            <a:extLst>
              <a:ext uri="{FF2B5EF4-FFF2-40B4-BE49-F238E27FC236}">
                <a16:creationId xmlns:a16="http://schemas.microsoft.com/office/drawing/2014/main" id="{227B4578-10AB-2167-AFFA-6CBB406DD4D4}"/>
              </a:ext>
            </a:extLst>
          </p:cNvPr>
          <p:cNvSpPr txBox="1"/>
          <p:nvPr/>
        </p:nvSpPr>
        <p:spPr>
          <a:xfrm>
            <a:off x="990600" y="114300"/>
            <a:ext cx="4110421" cy="800219"/>
          </a:xfrm>
          <a:prstGeom prst="rect">
            <a:avLst/>
          </a:prstGeom>
          <a:noFill/>
        </p:spPr>
        <p:txBody>
          <a:bodyPr wrap="none" rtlCol="0">
            <a:spAutoFit/>
          </a:bodyPr>
          <a:lstStyle/>
          <a:p>
            <a:pPr algn="l" rtl="0"/>
            <a:r>
              <a:rPr lang="en-US" sz="2800" b="1" i="0" u="none" strike="noStrike" cap="none" dirty="0">
                <a:solidFill>
                  <a:srgbClr val="051D3A"/>
                </a:solidFill>
                <a:latin typeface="Times New Roman"/>
                <a:ea typeface="Times New Roman"/>
                <a:cs typeface="Times New Roman"/>
                <a:sym typeface="Times New Roman"/>
              </a:rPr>
              <a:t/>
            </a:r>
            <a:r>
              <a:rPr lang="en-US" sz="2800" b="1" i="0" u="none" strike="noStrike" cap="none" dirty="0">
                <a:solidFill>
                  <a:srgbClr val="051D3A"/>
                </a:solidFill>
                <a:latin typeface="Arial" panose="020B0604020202020204" pitchFamily="34" charset="0"/>
                <a:ea typeface="Times New Roman"/>
                <a:cs typeface="Arial" panose="020B0604020202020204" pitchFamily="34" charset="0"/>
                <a:sym typeface="Times New Roman"/>
              </a:rPr>
              <a:t>IBM Bob Screenshots:</a:t>
            </a:r>
            <a:endParaRPr lang="en-US" sz="2800" b="1" dirty="0">
              <a:latin typeface="Arial" panose="020B0604020202020204" pitchFamily="34" charset="0"/>
              <a:cs typeface="Arial" panose="020B0604020202020204" pitchFamily="34" charset="0"/>
              <a:sym typeface="Times New Roman"/>
            </a:endParaRPr>
          </a:p>
          <a:p>
            <a:endParaRPr lang="en-IN" dirty="0"/>
          </a:p>
        </p:txBody>
      </p:sp>
    </p:spTree>
    <p:extLst>
      <p:ext uri="{BB962C8B-B14F-4D97-AF65-F5344CB8AC3E}">
        <p14:creationId xmlns:p14="http://schemas.microsoft.com/office/powerpoint/2010/main" val="270110716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5DC7A692-09D8-CE6B-0888-776E83F2B62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24000" y="876300"/>
            <a:ext cx="15365683" cy="9121621"/>
          </a:xfrm>
          <a:prstGeom prst="rect">
            <a:avLst/>
          </a:prstGeom>
        </p:spPr>
      </p:pic>
      <p:sp>
        <p:nvSpPr>
          <p:cNvPr id="4" name="TextBox 3">
            <a:extLst>
              <a:ext uri="{FF2B5EF4-FFF2-40B4-BE49-F238E27FC236}">
                <a16:creationId xmlns:a16="http://schemas.microsoft.com/office/drawing/2014/main" id="{A7ED1406-0588-9423-D9DA-46B274C52DB7}"/>
              </a:ext>
            </a:extLst>
          </p:cNvPr>
          <p:cNvSpPr txBox="1"/>
          <p:nvPr/>
        </p:nvSpPr>
        <p:spPr>
          <a:xfrm>
            <a:off x="1398317" y="277137"/>
            <a:ext cx="4110421" cy="800219"/>
          </a:xfrm>
          <a:prstGeom prst="rect">
            <a:avLst/>
          </a:prstGeom>
          <a:noFill/>
        </p:spPr>
        <p:txBody>
          <a:bodyPr wrap="none" rtlCol="0">
            <a:spAutoFit/>
          </a:bodyPr>
          <a:lstStyle/>
          <a:p>
            <a:pPr algn="l" rtl="0"/>
            <a:r>
              <a:rPr lang="en-US" sz="2800" b="1" i="0" u="none" strike="noStrike" cap="none" dirty="0">
                <a:solidFill>
                  <a:srgbClr val="051D3A"/>
                </a:solidFill>
                <a:latin typeface="Times New Roman"/>
                <a:ea typeface="Times New Roman"/>
                <a:cs typeface="Times New Roman"/>
                <a:sym typeface="Times New Roman"/>
              </a:rPr>
              <a:t/>
            </a:r>
            <a:r>
              <a:rPr lang="en-US" sz="2800" b="1" i="0" u="none" strike="noStrike" cap="none" dirty="0">
                <a:solidFill>
                  <a:srgbClr val="051D3A"/>
                </a:solidFill>
                <a:latin typeface="Arial" panose="020B0604020202020204" pitchFamily="34" charset="0"/>
                <a:ea typeface="Times New Roman"/>
                <a:cs typeface="Arial" panose="020B0604020202020204" pitchFamily="34" charset="0"/>
                <a:sym typeface="Times New Roman"/>
              </a:rPr>
              <a:t>IBM Bob Screenshots:</a:t>
            </a:r>
            <a:endParaRPr lang="en-US" sz="2800" b="1" dirty="0">
              <a:latin typeface="Arial" panose="020B0604020202020204" pitchFamily="34" charset="0"/>
              <a:cs typeface="Arial" panose="020B0604020202020204" pitchFamily="34" charset="0"/>
              <a:sym typeface="Times New Roman"/>
            </a:endParaRPr>
          </a:p>
          <a:p>
            <a:endParaRPr lang="en-IN" dirty="0"/>
          </a:p>
        </p:txBody>
      </p:sp>
    </p:spTree>
    <p:extLst>
      <p:ext uri="{BB962C8B-B14F-4D97-AF65-F5344CB8AC3E}">
        <p14:creationId xmlns:p14="http://schemas.microsoft.com/office/powerpoint/2010/main" val="26076849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C5881C0A-9780-EFC6-B7E4-984061E99E2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20485" y="876300"/>
            <a:ext cx="16047029" cy="9249852"/>
          </a:xfrm>
          <a:prstGeom prst="rect">
            <a:avLst/>
          </a:prstGeom>
        </p:spPr>
      </p:pic>
      <p:sp>
        <p:nvSpPr>
          <p:cNvPr id="4" name="TextBox 3">
            <a:extLst>
              <a:ext uri="{FF2B5EF4-FFF2-40B4-BE49-F238E27FC236}">
                <a16:creationId xmlns:a16="http://schemas.microsoft.com/office/drawing/2014/main" id="{5265CE23-3252-19C1-3B53-FF053D589B55}"/>
              </a:ext>
            </a:extLst>
          </p:cNvPr>
          <p:cNvSpPr txBox="1"/>
          <p:nvPr/>
        </p:nvSpPr>
        <p:spPr>
          <a:xfrm>
            <a:off x="990600" y="266700"/>
            <a:ext cx="4110421" cy="800219"/>
          </a:xfrm>
          <a:prstGeom prst="rect">
            <a:avLst/>
          </a:prstGeom>
          <a:noFill/>
        </p:spPr>
        <p:txBody>
          <a:bodyPr wrap="none" rtlCol="0">
            <a:spAutoFit/>
          </a:bodyPr>
          <a:lstStyle/>
          <a:p>
            <a:pPr algn="l" rtl="0"/>
            <a:r>
              <a:rPr lang="en-US" sz="2800" b="1" i="0" u="none" strike="noStrike" cap="none" dirty="0">
                <a:solidFill>
                  <a:srgbClr val="051D3A"/>
                </a:solidFill>
                <a:latin typeface="Times New Roman"/>
                <a:ea typeface="Times New Roman"/>
                <a:cs typeface="Times New Roman"/>
                <a:sym typeface="Times New Roman"/>
              </a:rPr>
              <a:t/>
            </a:r>
            <a:r>
              <a:rPr lang="en-US" sz="2800" b="1" i="0" u="none" strike="noStrike" cap="none" dirty="0">
                <a:solidFill>
                  <a:srgbClr val="051D3A"/>
                </a:solidFill>
                <a:latin typeface="Arial" panose="020B0604020202020204" pitchFamily="34" charset="0"/>
                <a:ea typeface="Times New Roman"/>
                <a:cs typeface="Arial" panose="020B0604020202020204" pitchFamily="34" charset="0"/>
                <a:sym typeface="Times New Roman"/>
              </a:rPr>
              <a:t>IBM Bob Screenshots:</a:t>
            </a:r>
            <a:endParaRPr lang="en-US" sz="2800" b="1" dirty="0">
              <a:latin typeface="Arial" panose="020B0604020202020204" pitchFamily="34" charset="0"/>
              <a:cs typeface="Arial" panose="020B0604020202020204" pitchFamily="34" charset="0"/>
              <a:sym typeface="Times New Roman"/>
            </a:endParaRPr>
          </a:p>
          <a:p>
            <a:endParaRPr lang="en-IN" dirty="0"/>
          </a:p>
        </p:txBody>
      </p:sp>
    </p:spTree>
    <p:extLst>
      <p:ext uri="{BB962C8B-B14F-4D97-AF65-F5344CB8AC3E}">
        <p14:creationId xmlns:p14="http://schemas.microsoft.com/office/powerpoint/2010/main" val="59534289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2B25BFC4-C689-71AB-D1A0-E3C95E5F7E4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99760" y="876300"/>
            <a:ext cx="15488480" cy="9275313"/>
          </a:xfrm>
          <a:prstGeom prst="rect">
            <a:avLst/>
          </a:prstGeom>
        </p:spPr>
      </p:pic>
      <p:sp>
        <p:nvSpPr>
          <p:cNvPr id="4" name="TextBox 3">
            <a:extLst>
              <a:ext uri="{FF2B5EF4-FFF2-40B4-BE49-F238E27FC236}">
                <a16:creationId xmlns:a16="http://schemas.microsoft.com/office/drawing/2014/main" id="{0D7887D6-6BCA-C0C2-0922-CB5607EB8699}"/>
              </a:ext>
            </a:extLst>
          </p:cNvPr>
          <p:cNvSpPr txBox="1"/>
          <p:nvPr/>
        </p:nvSpPr>
        <p:spPr>
          <a:xfrm>
            <a:off x="1399760" y="266700"/>
            <a:ext cx="4110421" cy="800219"/>
          </a:xfrm>
          <a:prstGeom prst="rect">
            <a:avLst/>
          </a:prstGeom>
          <a:noFill/>
        </p:spPr>
        <p:txBody>
          <a:bodyPr wrap="none" rtlCol="0">
            <a:spAutoFit/>
          </a:bodyPr>
          <a:lstStyle/>
          <a:p>
            <a:pPr algn="l" rtl="0"/>
            <a:r>
              <a:rPr lang="en-US" sz="2800" b="1" i="0" u="none" strike="noStrike" cap="none" dirty="0">
                <a:solidFill>
                  <a:srgbClr val="051D3A"/>
                </a:solidFill>
                <a:latin typeface="Times New Roman"/>
                <a:ea typeface="Times New Roman"/>
                <a:cs typeface="Times New Roman"/>
                <a:sym typeface="Times New Roman"/>
              </a:rPr>
              <a:t/>
            </a:r>
            <a:r>
              <a:rPr lang="en-US" sz="2800" b="1" i="0" u="none" strike="noStrike" cap="none" dirty="0">
                <a:solidFill>
                  <a:srgbClr val="051D3A"/>
                </a:solidFill>
                <a:latin typeface="Arial" panose="020B0604020202020204" pitchFamily="34" charset="0"/>
                <a:ea typeface="Times New Roman"/>
                <a:cs typeface="Arial" panose="020B0604020202020204" pitchFamily="34" charset="0"/>
                <a:sym typeface="Times New Roman"/>
              </a:rPr>
              <a:t>IBM Bob Screenshots:</a:t>
            </a:r>
            <a:endParaRPr lang="en-US" sz="2800" b="1" dirty="0">
              <a:latin typeface="Arial" panose="020B0604020202020204" pitchFamily="34" charset="0"/>
              <a:cs typeface="Arial" panose="020B0604020202020204" pitchFamily="34" charset="0"/>
              <a:sym typeface="Times New Roman"/>
            </a:endParaRPr>
          </a:p>
          <a:p>
            <a:endParaRPr lang="en-IN" dirty="0"/>
          </a:p>
        </p:txBody>
      </p:sp>
    </p:spTree>
    <p:extLst>
      <p:ext uri="{BB962C8B-B14F-4D97-AF65-F5344CB8AC3E}">
        <p14:creationId xmlns:p14="http://schemas.microsoft.com/office/powerpoint/2010/main" val="23414461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23ACC057-F026-6CE0-7114-6291D4A23F0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14400" y="876300"/>
            <a:ext cx="16078200" cy="9225883"/>
          </a:xfrm>
          <a:prstGeom prst="rect">
            <a:avLst/>
          </a:prstGeom>
        </p:spPr>
      </p:pic>
      <p:sp>
        <p:nvSpPr>
          <p:cNvPr id="4" name="TextBox 3">
            <a:extLst>
              <a:ext uri="{FF2B5EF4-FFF2-40B4-BE49-F238E27FC236}">
                <a16:creationId xmlns:a16="http://schemas.microsoft.com/office/drawing/2014/main" id="{82A5340A-8B09-DFD0-BD25-2BB61A2929CF}"/>
              </a:ext>
            </a:extLst>
          </p:cNvPr>
          <p:cNvSpPr txBox="1"/>
          <p:nvPr/>
        </p:nvSpPr>
        <p:spPr>
          <a:xfrm>
            <a:off x="762000" y="186523"/>
            <a:ext cx="4110421" cy="800219"/>
          </a:xfrm>
          <a:prstGeom prst="rect">
            <a:avLst/>
          </a:prstGeom>
          <a:noFill/>
        </p:spPr>
        <p:txBody>
          <a:bodyPr wrap="none" rtlCol="0">
            <a:spAutoFit/>
          </a:bodyPr>
          <a:lstStyle/>
          <a:p>
            <a:pPr algn="l" rtl="0"/>
            <a:r>
              <a:rPr lang="en-US" sz="2800" b="1" i="0" u="none" strike="noStrike" cap="none" dirty="0">
                <a:solidFill>
                  <a:srgbClr val="051D3A"/>
                </a:solidFill>
                <a:latin typeface="Times New Roman"/>
                <a:ea typeface="Times New Roman"/>
                <a:cs typeface="Times New Roman"/>
                <a:sym typeface="Times New Roman"/>
              </a:rPr>
              <a:t/>
            </a:r>
            <a:r>
              <a:rPr lang="en-US" sz="2800" b="1" i="0" u="none" strike="noStrike" cap="none" dirty="0">
                <a:solidFill>
                  <a:srgbClr val="051D3A"/>
                </a:solidFill>
                <a:latin typeface="Arial" panose="020B0604020202020204" pitchFamily="34" charset="0"/>
                <a:ea typeface="Times New Roman"/>
                <a:cs typeface="Arial" panose="020B0604020202020204" pitchFamily="34" charset="0"/>
                <a:sym typeface="Times New Roman"/>
              </a:rPr>
              <a:t>IBM Bob Screenshots:</a:t>
            </a:r>
            <a:endParaRPr lang="en-US" sz="2800" b="1" dirty="0">
              <a:latin typeface="Arial" panose="020B0604020202020204" pitchFamily="34" charset="0"/>
              <a:cs typeface="Arial" panose="020B0604020202020204" pitchFamily="34" charset="0"/>
              <a:sym typeface="Times New Roman"/>
            </a:endParaRPr>
          </a:p>
          <a:p>
            <a:endParaRPr lang="en-IN" dirty="0"/>
          </a:p>
        </p:txBody>
      </p:sp>
    </p:spTree>
    <p:extLst>
      <p:ext uri="{BB962C8B-B14F-4D97-AF65-F5344CB8AC3E}">
        <p14:creationId xmlns:p14="http://schemas.microsoft.com/office/powerpoint/2010/main" val="84241845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6DC08D98-2396-5D4C-D93B-8EFC415EE40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38250" y="1028700"/>
            <a:ext cx="15811500" cy="9089345"/>
          </a:xfrm>
          <a:prstGeom prst="rect">
            <a:avLst/>
          </a:prstGeom>
        </p:spPr>
      </p:pic>
      <p:sp>
        <p:nvSpPr>
          <p:cNvPr id="4" name="TextBox 3">
            <a:extLst>
              <a:ext uri="{FF2B5EF4-FFF2-40B4-BE49-F238E27FC236}">
                <a16:creationId xmlns:a16="http://schemas.microsoft.com/office/drawing/2014/main" id="{90779102-030A-AB37-3C76-2FC4CD5A2A57}"/>
              </a:ext>
            </a:extLst>
          </p:cNvPr>
          <p:cNvSpPr txBox="1"/>
          <p:nvPr/>
        </p:nvSpPr>
        <p:spPr>
          <a:xfrm>
            <a:off x="1066800" y="342900"/>
            <a:ext cx="4110421" cy="800219"/>
          </a:xfrm>
          <a:prstGeom prst="rect">
            <a:avLst/>
          </a:prstGeom>
          <a:noFill/>
        </p:spPr>
        <p:txBody>
          <a:bodyPr wrap="none" rtlCol="0">
            <a:spAutoFit/>
          </a:bodyPr>
          <a:lstStyle/>
          <a:p>
            <a:pPr algn="l" rtl="0"/>
            <a:r>
              <a:rPr lang="en-US" sz="2800" b="1" i="0" u="none" strike="noStrike" cap="none" dirty="0">
                <a:solidFill>
                  <a:srgbClr val="051D3A"/>
                </a:solidFill>
                <a:latin typeface="Times New Roman"/>
                <a:ea typeface="Times New Roman"/>
                <a:cs typeface="Times New Roman"/>
                <a:sym typeface="Times New Roman"/>
              </a:rPr>
              <a:t/>
            </a:r>
            <a:r>
              <a:rPr lang="en-US" sz="2800" b="1" i="0" u="none" strike="noStrike" cap="none" dirty="0">
                <a:solidFill>
                  <a:srgbClr val="051D3A"/>
                </a:solidFill>
                <a:latin typeface="Arial" panose="020B0604020202020204" pitchFamily="34" charset="0"/>
                <a:ea typeface="Times New Roman"/>
                <a:cs typeface="Arial" panose="020B0604020202020204" pitchFamily="34" charset="0"/>
                <a:sym typeface="Times New Roman"/>
              </a:rPr>
              <a:t>IBM Bob Screenshots:</a:t>
            </a:r>
            <a:endParaRPr lang="en-US" sz="2800" b="1" dirty="0">
              <a:latin typeface="Arial" panose="020B0604020202020204" pitchFamily="34" charset="0"/>
              <a:cs typeface="Arial" panose="020B0604020202020204" pitchFamily="34" charset="0"/>
              <a:sym typeface="Times New Roman"/>
            </a:endParaRPr>
          </a:p>
          <a:p>
            <a:endParaRPr lang="en-IN" dirty="0"/>
          </a:p>
        </p:txBody>
      </p:sp>
    </p:spTree>
    <p:extLst>
      <p:ext uri="{BB962C8B-B14F-4D97-AF65-F5344CB8AC3E}">
        <p14:creationId xmlns:p14="http://schemas.microsoft.com/office/powerpoint/2010/main" val="349466507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D9E90ADD-7F97-0CCD-BFB3-07C500B491B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47700" y="1028700"/>
            <a:ext cx="16992600" cy="9164247"/>
          </a:xfrm>
          <a:prstGeom prst="rect">
            <a:avLst/>
          </a:prstGeom>
        </p:spPr>
      </p:pic>
      <p:sp>
        <p:nvSpPr>
          <p:cNvPr id="3" name="Google Shape;278;p18">
            <a:extLst>
              <a:ext uri="{FF2B5EF4-FFF2-40B4-BE49-F238E27FC236}">
                <a16:creationId xmlns:a16="http://schemas.microsoft.com/office/drawing/2014/main" id="{2D5C357C-EAAD-6509-FC3A-BFF18E81EBED}"/>
              </a:ext>
            </a:extLst>
          </p:cNvPr>
          <p:cNvSpPr/>
          <p:nvPr/>
        </p:nvSpPr>
        <p:spPr>
          <a:xfrm>
            <a:off x="647700" y="94053"/>
            <a:ext cx="6444496" cy="704017"/>
          </a:xfrm>
          <a:prstGeom prst="rect">
            <a:avLst/>
          </a:prstGeom>
          <a:noFill/>
          <a:ln>
            <a:noFill/>
          </a:ln>
        </p:spPr>
        <p:txBody>
          <a:bodyPr spcFirstLastPara="1" wrap="square" lIns="0" tIns="0" rIns="0" bIns="0" anchor="t" anchorCtr="0">
            <a:noAutofit/>
          </a:bodyPr>
          <a:lstStyle/>
          <a:p>
            <a:pPr>
              <a:lnSpc>
                <a:spcPct val="157142"/>
              </a:lnSpc>
              <a:buClr>
                <a:srgbClr val="051D3A"/>
              </a:buClr>
              <a:buSzPts val="3500"/>
            </a:pPr>
            <a:r>
              <a:rPr lang="en-US" sz="2800" b="1" dirty="0">
                <a:latin typeface="Arial" panose="020B0604020202020204" pitchFamily="34" charset="0"/>
                <a:cs typeface="Arial" panose="020B0604020202020204" pitchFamily="34" charset="0"/>
                <a:sym typeface="Times New Roman"/>
              </a:rPr>
              <a:t> Project Output Screenshot</a:t>
            </a:r>
            <a:endParaRPr sz="2800" b="1" dirty="0">
              <a:latin typeface="Arial" panose="020B0604020202020204" pitchFamily="34" charset="0"/>
              <a:cs typeface="Arial" panose="020B0604020202020204" pitchFamily="34" charset="0"/>
              <a:sym typeface="Times New Roman"/>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D28D1451-323A-12FC-E668-D5FAA40C38A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66700" y="441240"/>
            <a:ext cx="17754600" cy="9404519"/>
          </a:xfrm>
          <a:prstGeom prst="rect">
            <a:avLst/>
          </a:prstGeo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A8E0D910-B73F-05F5-A513-4E012E35A26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8600" y="373308"/>
            <a:ext cx="17754600" cy="9646992"/>
          </a:xfrm>
          <a:prstGeom prst="rect">
            <a:avLst/>
          </a:prstGeom>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4F258F67-8AA1-7D91-3D67-AD079B3DD1E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94716" y="342900"/>
            <a:ext cx="17898568" cy="9448800"/>
          </a:xfrm>
          <a:prstGeom prst="rect">
            <a:avLst/>
          </a:prstGeom>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C5BD5D6F-B077-EAF2-6372-35DD9197510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04800" y="342900"/>
            <a:ext cx="17627298" cy="9601200"/>
          </a:xfrm>
          <a:prstGeom prst="rect">
            <a:avLst/>
          </a:prstGeom>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7E141044-855D-0EE0-11C3-34C5483410E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04800" y="342900"/>
            <a:ext cx="17788484" cy="9677400"/>
          </a:xfrm>
          <a:prstGeom prst="rect">
            <a:avLst/>
          </a:prstGeom>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438CEDED-A656-72E7-9C38-AE83898E5FD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2400" y="266700"/>
            <a:ext cx="17971875" cy="9677400"/>
          </a:xfrm>
          <a:prstGeom prst="rect">
            <a:avLst/>
          </a:prstGeom>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3F756532-408C-CD5E-92C3-5282C107E29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2399" y="266700"/>
            <a:ext cx="17971875" cy="9677400"/>
          </a:xfrm>
          <a:prstGeom prst="rect">
            <a:avLst/>
          </a:prstGeom>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B5DC2C08-EB97-B376-3CCD-7BAD7A5B2DB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8599" y="266700"/>
            <a:ext cx="17861221" cy="9601200"/>
          </a:xfrm>
          <a:prstGeom prst="rect">
            <a:avLst/>
          </a:prstGeom>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87DB9EB6-994C-75D3-658B-E158D6CDEBA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04800" y="342900"/>
            <a:ext cx="17697318" cy="9525000"/>
          </a:xfrm>
          <a:prstGeom prst="rect">
            <a:avLst/>
          </a:prstGeom>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DF4FCD56-958C-C49B-A908-73462D98139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64907" y="266700"/>
            <a:ext cx="17758185" cy="9601200"/>
          </a:xfrm>
          <a:prstGeom prst="rect">
            <a:avLst/>
          </a:prstGeom>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19864D5F-0AC4-15CF-3CD5-4CA6BC790B0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8600" y="266700"/>
            <a:ext cx="17869540" cy="9677400"/>
          </a:xfrm>
          <a:prstGeom prst="rect">
            <a:avLst/>
          </a:prstGeom>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7DFDE0B7-5381-65A5-E4F7-1204FDCE0F5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8600" y="266700"/>
            <a:ext cx="17837871" cy="9677400"/>
          </a:xfrm>
          <a:prstGeom prst="rect">
            <a:avLst/>
          </a:prstGeom>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23602675-54C5-9E92-4CC2-5FE4489E398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8600" y="328271"/>
            <a:ext cx="17830800" cy="9630457"/>
          </a:xfrm>
          <a:prstGeom prst="rect">
            <a:avLst/>
          </a:prstGeom>
        </p:spPr>
      </p:pic>
    </p:spTree>
    <p:extLst>
      <p:ext uri="{BB962C8B-B14F-4D97-AF65-F5344CB8AC3E}">
        <p14:creationId xmlns:p14="http://schemas.microsoft.com/office/powerpoint/2010/main" val="74124792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9DE15BF9-3B90-1165-628C-FF43B57159F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6036" y="304800"/>
            <a:ext cx="18035927" cy="9677400"/>
          </a:xfrm>
          <a:prstGeom prst="rect">
            <a:avLst/>
          </a:prstGeom>
        </p:spPr>
      </p:pic>
    </p:spTree>
    <p:extLst>
      <p:ext uri="{BB962C8B-B14F-4D97-AF65-F5344CB8AC3E}">
        <p14:creationId xmlns:p14="http://schemas.microsoft.com/office/powerpoint/2010/main" val="382954445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11FFDA6A-05A5-E64B-70E0-1802616ABA4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2400" y="190500"/>
            <a:ext cx="17927067" cy="9677400"/>
          </a:xfrm>
          <a:prstGeom prst="rect">
            <a:avLst/>
          </a:prstGeom>
        </p:spPr>
      </p:pic>
    </p:spTree>
    <p:extLst>
      <p:ext uri="{BB962C8B-B14F-4D97-AF65-F5344CB8AC3E}">
        <p14:creationId xmlns:p14="http://schemas.microsoft.com/office/powerpoint/2010/main" val="262968219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A210FA5-BCCE-26FF-8602-A841BF89CB9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8600" y="190500"/>
            <a:ext cx="17807149" cy="9677400"/>
          </a:xfrm>
          <a:prstGeom prst="rect">
            <a:avLst/>
          </a:prstGeom>
        </p:spPr>
      </p:pic>
    </p:spTree>
    <p:extLst>
      <p:ext uri="{BB962C8B-B14F-4D97-AF65-F5344CB8AC3E}">
        <p14:creationId xmlns:p14="http://schemas.microsoft.com/office/powerpoint/2010/main" val="24436740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0C03BB44-4BDF-2E40-C2DC-D285B48F32D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8600" y="190500"/>
            <a:ext cx="17883864" cy="9753600"/>
          </a:xfrm>
          <a:prstGeom prst="rect">
            <a:avLst/>
          </a:prstGeom>
        </p:spPr>
      </p:pic>
    </p:spTree>
    <p:extLst>
      <p:ext uri="{BB962C8B-B14F-4D97-AF65-F5344CB8AC3E}">
        <p14:creationId xmlns:p14="http://schemas.microsoft.com/office/powerpoint/2010/main" val="94733646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5FD3485-A100-75AD-390B-0B335A9076F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2400" y="190500"/>
            <a:ext cx="17947363" cy="9753600"/>
          </a:xfrm>
          <a:prstGeom prst="rect">
            <a:avLst/>
          </a:prstGeom>
        </p:spPr>
      </p:pic>
    </p:spTree>
    <p:extLst>
      <p:ext uri="{BB962C8B-B14F-4D97-AF65-F5344CB8AC3E}">
        <p14:creationId xmlns:p14="http://schemas.microsoft.com/office/powerpoint/2010/main" val="20807494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CDDCC946-A968-44E2-5007-FD9E8ECBB14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10817" y="266700"/>
            <a:ext cx="17866365" cy="9677400"/>
          </a:xfrm>
          <a:prstGeom prst="rect">
            <a:avLst/>
          </a:prstGeom>
        </p:spPr>
      </p:pic>
    </p:spTree>
    <p:extLst>
      <p:ext uri="{BB962C8B-B14F-4D97-AF65-F5344CB8AC3E}">
        <p14:creationId xmlns:p14="http://schemas.microsoft.com/office/powerpoint/2010/main" val="4155110501"/>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F3170EA-8044-6A80-35D0-D2678D096D1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9950" y="190500"/>
            <a:ext cx="17828100" cy="9677400"/>
          </a:xfrm>
          <a:prstGeom prst="rect">
            <a:avLst/>
          </a:prstGeom>
        </p:spPr>
      </p:pic>
    </p:spTree>
    <p:extLst>
      <p:ext uri="{BB962C8B-B14F-4D97-AF65-F5344CB8AC3E}">
        <p14:creationId xmlns:p14="http://schemas.microsoft.com/office/powerpoint/2010/main" val="3272298808"/>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5FE28C21-93DB-06E2-EF55-DEE74C653A5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10817" y="190500"/>
            <a:ext cx="17866365" cy="9601200"/>
          </a:xfrm>
          <a:prstGeom prst="rect">
            <a:avLst/>
          </a:prstGeom>
        </p:spPr>
      </p:pic>
    </p:spTree>
    <p:extLst>
      <p:ext uri="{BB962C8B-B14F-4D97-AF65-F5344CB8AC3E}">
        <p14:creationId xmlns:p14="http://schemas.microsoft.com/office/powerpoint/2010/main" val="3626530468"/>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99452C2C-007E-5A99-3AF7-397A67971A3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2400" y="190500"/>
            <a:ext cx="17982729" cy="9753600"/>
          </a:xfrm>
          <a:prstGeom prst="rect">
            <a:avLst/>
          </a:prstGeom>
        </p:spPr>
      </p:pic>
    </p:spTree>
    <p:extLst>
      <p:ext uri="{BB962C8B-B14F-4D97-AF65-F5344CB8AC3E}">
        <p14:creationId xmlns:p14="http://schemas.microsoft.com/office/powerpoint/2010/main" val="2167660262"/>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B0BC2A04-2FA3-9E60-9C00-36A407A733A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2400" y="190500"/>
            <a:ext cx="17965029" cy="9753600"/>
          </a:xfrm>
          <a:prstGeom prst="rect">
            <a:avLst/>
          </a:prstGeom>
        </p:spPr>
      </p:pic>
    </p:spTree>
    <p:extLst>
      <p:ext uri="{BB962C8B-B14F-4D97-AF65-F5344CB8AC3E}">
        <p14:creationId xmlns:p14="http://schemas.microsoft.com/office/powerpoint/2010/main" val="3897544165"/>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B8ADC916-E9D7-16C3-FE39-51E057F01A9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43361" y="266700"/>
            <a:ext cx="17801278" cy="9525000"/>
          </a:xfrm>
          <a:prstGeom prst="rect">
            <a:avLst/>
          </a:prstGeom>
        </p:spPr>
      </p:pic>
    </p:spTree>
    <p:extLst>
      <p:ext uri="{BB962C8B-B14F-4D97-AF65-F5344CB8AC3E}">
        <p14:creationId xmlns:p14="http://schemas.microsoft.com/office/powerpoint/2010/main" val="3346431289"/>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7FE45BA1-F270-C175-E6F8-081C887A838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8600" y="266699"/>
            <a:ext cx="17830800" cy="9811679"/>
          </a:xfrm>
          <a:prstGeom prst="rect">
            <a:avLst/>
          </a:prstGeom>
        </p:spPr>
      </p:pic>
    </p:spTree>
    <p:extLst>
      <p:ext uri="{BB962C8B-B14F-4D97-AF65-F5344CB8AC3E}">
        <p14:creationId xmlns:p14="http://schemas.microsoft.com/office/powerpoint/2010/main" val="441733331"/>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3A8DE08A-8349-6508-2A3B-5C5282F9E05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8600" y="266700"/>
            <a:ext cx="17898568" cy="9677400"/>
          </a:xfrm>
          <a:prstGeom prst="rect">
            <a:avLst/>
          </a:prstGeom>
        </p:spPr>
      </p:pic>
    </p:spTree>
    <p:extLst>
      <p:ext uri="{BB962C8B-B14F-4D97-AF65-F5344CB8AC3E}">
        <p14:creationId xmlns:p14="http://schemas.microsoft.com/office/powerpoint/2010/main" val="179630685"/>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8B49E14-3B0A-9B36-9A63-FFCEC510E3E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8600" y="266700"/>
            <a:ext cx="17657719" cy="9677400"/>
          </a:xfrm>
          <a:prstGeom prst="rect">
            <a:avLst/>
          </a:prstGeom>
        </p:spPr>
      </p:pic>
    </p:spTree>
    <p:extLst>
      <p:ext uri="{BB962C8B-B14F-4D97-AF65-F5344CB8AC3E}">
        <p14:creationId xmlns:p14="http://schemas.microsoft.com/office/powerpoint/2010/main" val="195580365"/>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730FC7CB-73D1-6789-154B-77DD062CC33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8599" y="266700"/>
            <a:ext cx="17758185" cy="9753600"/>
          </a:xfrm>
          <a:prstGeom prst="rect">
            <a:avLst/>
          </a:prstGeom>
        </p:spPr>
      </p:pic>
    </p:spTree>
    <p:extLst>
      <p:ext uri="{BB962C8B-B14F-4D97-AF65-F5344CB8AC3E}">
        <p14:creationId xmlns:p14="http://schemas.microsoft.com/office/powerpoint/2010/main" val="542197604"/>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2AC4B7AA-1E04-1C0C-76CB-9829D01BFC7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8600" y="190500"/>
            <a:ext cx="17887478" cy="9677400"/>
          </a:xfrm>
          <a:prstGeom prst="rect">
            <a:avLst/>
          </a:prstGeom>
        </p:spPr>
      </p:pic>
    </p:spTree>
    <p:extLst>
      <p:ext uri="{BB962C8B-B14F-4D97-AF65-F5344CB8AC3E}">
        <p14:creationId xmlns:p14="http://schemas.microsoft.com/office/powerpoint/2010/main" val="803878639"/>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73C1096D-4B8C-A31E-DC6E-DBFA1B53535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04800" y="342900"/>
            <a:ext cx="17723434" cy="9525000"/>
          </a:xfrm>
          <a:prstGeom prst="rect">
            <a:avLst/>
          </a:prstGeom>
        </p:spPr>
      </p:pic>
    </p:spTree>
    <p:extLst>
      <p:ext uri="{BB962C8B-B14F-4D97-AF65-F5344CB8AC3E}">
        <p14:creationId xmlns:p14="http://schemas.microsoft.com/office/powerpoint/2010/main" val="4246161195"/>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6E4F03E9-71E6-4574-E9FE-B7837A11823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8599" y="190500"/>
            <a:ext cx="17862623" cy="9677400"/>
          </a:xfrm>
          <a:prstGeom prst="rect">
            <a:avLst/>
          </a:prstGeom>
        </p:spPr>
      </p:pic>
    </p:spTree>
    <p:extLst>
      <p:ext uri="{BB962C8B-B14F-4D97-AF65-F5344CB8AC3E}">
        <p14:creationId xmlns:p14="http://schemas.microsoft.com/office/powerpoint/2010/main" val="708245672"/>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1ACDECE1-37B1-8AF9-DAF6-68687DE01D8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04799" y="342900"/>
            <a:ext cx="17684325" cy="9601200"/>
          </a:xfrm>
          <a:prstGeom prst="rect">
            <a:avLst/>
          </a:prstGeom>
        </p:spPr>
      </p:pic>
    </p:spTree>
    <p:extLst>
      <p:ext uri="{BB962C8B-B14F-4D97-AF65-F5344CB8AC3E}">
        <p14:creationId xmlns:p14="http://schemas.microsoft.com/office/powerpoint/2010/main" val="617619603"/>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0A1BA91D-C86C-0C51-6306-889C96C5915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2400" y="190500"/>
            <a:ext cx="17898568" cy="9753600"/>
          </a:xfrm>
          <a:prstGeom prst="rect">
            <a:avLst/>
          </a:prstGeom>
        </p:spPr>
      </p:pic>
    </p:spTree>
    <p:extLst>
      <p:ext uri="{BB962C8B-B14F-4D97-AF65-F5344CB8AC3E}">
        <p14:creationId xmlns:p14="http://schemas.microsoft.com/office/powerpoint/2010/main" val="338045990"/>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70EA2FCD-4FA2-BBD5-44A6-FDC25620A5B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04800" y="342900"/>
            <a:ext cx="17602200" cy="9601200"/>
          </a:xfrm>
          <a:prstGeom prst="rect">
            <a:avLst/>
          </a:prstGeom>
        </p:spPr>
      </p:pic>
    </p:spTree>
    <p:extLst>
      <p:ext uri="{BB962C8B-B14F-4D97-AF65-F5344CB8AC3E}">
        <p14:creationId xmlns:p14="http://schemas.microsoft.com/office/powerpoint/2010/main" val="2846112725"/>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13716000" y="1714500"/>
            <a:ext cx="4411004" cy="6621148"/>
          </a:xfrm>
          <a:prstGeom prst="rect">
            <a:avLst/>
          </a:prstGeom>
        </p:spPr>
      </p:pic>
      <p:sp>
        <p:nvSpPr>
          <p:cNvPr id="3" name="object 3" descr="$PPTXTitle"/>
          <p:cNvSpPr txBox="1">
            <a:spLocks noGrp="1"/>
          </p:cNvSpPr>
          <p:nvPr>
            <p:ph type="title"/>
          </p:nvPr>
        </p:nvSpPr>
        <p:spPr>
          <a:xfrm>
            <a:off x="170095" y="723900"/>
            <a:ext cx="12762619" cy="590242"/>
          </a:xfrm>
          <a:prstGeom prst="rect">
            <a:avLst/>
          </a:prstGeom>
        </p:spPr>
        <p:txBody>
          <a:bodyPr vert="horz" wrap="square" lIns="0" tIns="157814" rIns="0" bIns="0" rtlCol="0">
            <a:spAutoFit/>
          </a:bodyPr>
          <a:lstStyle/>
          <a:p>
            <a:pPr marL="460375">
              <a:lnSpc>
                <a:spcPct val="100000"/>
              </a:lnSpc>
              <a:spcBef>
                <a:spcPts val="100"/>
              </a:spcBef>
              <a:tabLst>
                <a:tab pos="1950720" algn="l"/>
                <a:tab pos="2695575" algn="l"/>
                <a:tab pos="5100320" algn="l"/>
                <a:tab pos="5879465" algn="l"/>
                <a:tab pos="6590665" algn="l"/>
                <a:tab pos="7674609" algn="l"/>
              </a:tabLst>
            </a:pPr>
            <a:r>
              <a:rPr lang="en-US" sz="2800" dirty="0">
                <a:latin typeface="Arial" panose="020B0604020202020204" pitchFamily="34" charset="0"/>
                <a:cs typeface="Arial" panose="020B0604020202020204" pitchFamily="34" charset="0"/>
              </a:rPr>
              <a:t>ROLE OF AGENTIC AI IN SOLUTION</a:t>
            </a:r>
          </a:p>
        </p:txBody>
      </p:sp>
      <p:sp>
        <p:nvSpPr>
          <p:cNvPr id="15" name="TextBox 14">
            <a:extLst>
              <a:ext uri="{FF2B5EF4-FFF2-40B4-BE49-F238E27FC236}">
                <a16:creationId xmlns:a16="http://schemas.microsoft.com/office/drawing/2014/main" id="{9AF622BA-C1DC-6522-5567-6E94FD67CA24}"/>
              </a:ext>
            </a:extLst>
          </p:cNvPr>
          <p:cNvSpPr txBox="1"/>
          <p:nvPr/>
        </p:nvSpPr>
        <p:spPr>
          <a:xfrm>
            <a:off x="192841" y="1780007"/>
            <a:ext cx="13219818" cy="6555641"/>
          </a:xfrm>
          <a:prstGeom prst="rect">
            <a:avLst/>
          </a:prstGeom>
          <a:noFill/>
        </p:spPr>
        <p:txBody>
          <a:bodyPr wrap="square" rtlCol="0">
            <a:spAutoFit/>
          </a:bodyPr>
          <a:lstStyle/>
          <a:p>
            <a:r>
              <a:rPr lang="en-IN" sz="2000" dirty="0">
                <a:latin typeface="Arial" panose="020B0604020202020204" pitchFamily="34" charset="0"/>
                <a:cs typeface="Arial" panose="020B0604020202020204" pitchFamily="34" charset="0"/>
              </a:rPr>
              <a:t>Agentic AI transforms </a:t>
            </a:r>
            <a:r>
              <a:rPr lang="en-IN" sz="2000" b="1" dirty="0">
                <a:latin typeface="Arial" panose="020B0604020202020204" pitchFamily="34" charset="0"/>
                <a:cs typeface="Arial" panose="020B0604020202020204" pitchFamily="34" charset="0"/>
              </a:rPr>
              <a:t>Salinity Shield AI</a:t>
            </a:r>
            <a:r>
              <a:rPr lang="en-IN" sz="2000" dirty="0">
                <a:latin typeface="Arial" panose="020B0604020202020204" pitchFamily="34" charset="0"/>
                <a:cs typeface="Arial" panose="020B0604020202020204" pitchFamily="34" charset="0"/>
              </a:rPr>
              <a:t> into a coordinated, proactive agricultural decision-support system where specialized AI agents collaborate through an orchestration layer. Each agent performs a specific role:</a:t>
            </a:r>
          </a:p>
          <a:p>
            <a:r>
              <a:rPr lang="en-IN" sz="2000" b="1" dirty="0">
                <a:latin typeface="Arial" panose="020B0604020202020204" pitchFamily="34" charset="0"/>
                <a:cs typeface="Arial" panose="020B0604020202020204" pitchFamily="34" charset="0"/>
              </a:rPr>
              <a:t>Salinity Risk Prediction</a:t>
            </a:r>
            <a:r>
              <a:rPr lang="en-IN" sz="2000" dirty="0">
                <a:latin typeface="Arial" panose="020B0604020202020204" pitchFamily="34" charset="0"/>
                <a:cs typeface="Arial" panose="020B0604020202020204" pitchFamily="34" charset="0"/>
              </a:rPr>
              <a:t> – Identifies current and changing soil-salinity risk levels using EC, moisture, pH, historical readings, crop conditions, irrigation, weather, and coastal-location data.</a:t>
            </a:r>
          </a:p>
          <a:p>
            <a:r>
              <a:rPr lang="en-IN" sz="2000" b="1" dirty="0">
                <a:latin typeface="Arial" panose="020B0604020202020204" pitchFamily="34" charset="0"/>
                <a:cs typeface="Arial" panose="020B0604020202020204" pitchFamily="34" charset="0"/>
              </a:rPr>
              <a:t>Farm Health Analysis</a:t>
            </a:r>
            <a:r>
              <a:rPr lang="en-IN" sz="2000" dirty="0">
                <a:latin typeface="Arial" panose="020B0604020202020204" pitchFamily="34" charset="0"/>
                <a:cs typeface="Arial" panose="020B0604020202020204" pitchFamily="34" charset="0"/>
              </a:rPr>
              <a:t> – Evaluates overall farm health, identifies abnormal soil conditions, and determines whether the farm is improving, stable, or deteriorating.</a:t>
            </a:r>
          </a:p>
          <a:p>
            <a:r>
              <a:rPr lang="en-IN" sz="2000" b="1" dirty="0">
                <a:latin typeface="Arial" panose="020B0604020202020204" pitchFamily="34" charset="0"/>
                <a:cs typeface="Arial" panose="020B0604020202020204" pitchFamily="34" charset="0"/>
              </a:rPr>
              <a:t>Sensor &amp; Trend Analysis</a:t>
            </a:r>
            <a:r>
              <a:rPr lang="en-IN" sz="2000" dirty="0">
                <a:latin typeface="Arial" panose="020B0604020202020204" pitchFamily="34" charset="0"/>
                <a:cs typeface="Arial" panose="020B0604020202020204" pitchFamily="34" charset="0"/>
              </a:rPr>
              <a:t> – Continuously analyses incoming sensor data and detects unusual changes, rapid EC increases, threshold violations, and emerging salinity patterns.</a:t>
            </a:r>
          </a:p>
          <a:p>
            <a:r>
              <a:rPr lang="en-IN" sz="2000" b="1" dirty="0">
                <a:latin typeface="Arial" panose="020B0604020202020204" pitchFamily="34" charset="0"/>
                <a:cs typeface="Arial" panose="020B0604020202020204" pitchFamily="34" charset="0"/>
              </a:rPr>
              <a:t>Salinity Forecasting</a:t>
            </a:r>
            <a:r>
              <a:rPr lang="en-IN" sz="2000" dirty="0">
                <a:latin typeface="Arial" panose="020B0604020202020204" pitchFamily="34" charset="0"/>
                <a:cs typeface="Arial" panose="020B0604020202020204" pitchFamily="34" charset="0"/>
              </a:rPr>
              <a:t> – Predicts future salinity levels and identifies farms that may move toward high or critical risk.</a:t>
            </a:r>
          </a:p>
          <a:p>
            <a:r>
              <a:rPr lang="en-IN" sz="2000" b="1" dirty="0">
                <a:latin typeface="Arial" panose="020B0604020202020204" pitchFamily="34" charset="0"/>
                <a:cs typeface="Arial" panose="020B0604020202020204" pitchFamily="34" charset="0"/>
              </a:rPr>
              <a:t>Farmer Query Understanding</a:t>
            </a:r>
            <a:r>
              <a:rPr lang="en-IN" sz="2000" dirty="0">
                <a:latin typeface="Arial" panose="020B0604020202020204" pitchFamily="34" charset="0"/>
                <a:cs typeface="Arial" panose="020B0604020202020204" pitchFamily="34" charset="0"/>
              </a:rPr>
              <a:t> – Understands natural-language farmer questions and converts them into relevant farm-specific insights using available application data.</a:t>
            </a:r>
          </a:p>
          <a:p>
            <a:r>
              <a:rPr lang="en-IN" sz="2000" b="1" dirty="0">
                <a:latin typeface="Arial" panose="020B0604020202020204" pitchFamily="34" charset="0"/>
                <a:cs typeface="Arial" panose="020B0604020202020204" pitchFamily="34" charset="0"/>
              </a:rPr>
              <a:t>AI Recommendation Agent</a:t>
            </a:r>
            <a:r>
              <a:rPr lang="en-IN" sz="2000" dirty="0">
                <a:latin typeface="Arial" panose="020B0604020202020204" pitchFamily="34" charset="0"/>
                <a:cs typeface="Arial" panose="020B0604020202020204" pitchFamily="34" charset="0"/>
              </a:rPr>
              <a:t> – Converts risk analysis and farm conditions into prioritized, practical recommendations for salinity management.</a:t>
            </a:r>
          </a:p>
          <a:p>
            <a:r>
              <a:rPr lang="en-IN" sz="2000" b="1" dirty="0">
                <a:latin typeface="Arial" panose="020B0604020202020204" pitchFamily="34" charset="0"/>
                <a:cs typeface="Arial" panose="020B0604020202020204" pitchFamily="34" charset="0"/>
              </a:rPr>
              <a:t>What-If Simulation Agent</a:t>
            </a:r>
            <a:r>
              <a:rPr lang="en-IN" sz="2000" dirty="0">
                <a:latin typeface="Arial" panose="020B0604020202020204" pitchFamily="34" charset="0"/>
                <a:cs typeface="Arial" panose="020B0604020202020204" pitchFamily="34" charset="0"/>
              </a:rPr>
              <a:t> – Evaluates potential interventions and estimates how different actions could affect salinity, farm health, and future risk.</a:t>
            </a:r>
          </a:p>
          <a:p>
            <a:r>
              <a:rPr lang="en-IN" sz="2000" b="1" dirty="0">
                <a:latin typeface="Arial" panose="020B0604020202020204" pitchFamily="34" charset="0"/>
                <a:cs typeface="Arial" panose="020B0604020202020204" pitchFamily="34" charset="0"/>
              </a:rPr>
              <a:t>Geospatial Risk Agent</a:t>
            </a:r>
            <a:r>
              <a:rPr lang="en-IN" sz="2000" dirty="0">
                <a:latin typeface="Arial" panose="020B0604020202020204" pitchFamily="34" charset="0"/>
                <a:cs typeface="Arial" panose="020B0604020202020204" pitchFamily="34" charset="0"/>
              </a:rPr>
              <a:t> – </a:t>
            </a:r>
            <a:r>
              <a:rPr lang="en-IN" sz="2000" dirty="0" err="1">
                <a:latin typeface="Arial" panose="020B0604020202020204" pitchFamily="34" charset="0"/>
                <a:cs typeface="Arial" panose="020B0604020202020204" pitchFamily="34" charset="0"/>
              </a:rPr>
              <a:t>Analyzes</a:t>
            </a:r>
            <a:r>
              <a:rPr lang="en-IN" sz="2000" dirty="0">
                <a:latin typeface="Arial" panose="020B0604020202020204" pitchFamily="34" charset="0"/>
                <a:cs typeface="Arial" panose="020B0604020202020204" pitchFamily="34" charset="0"/>
              </a:rPr>
              <a:t> geographical patterns and identifies salinity hotspots, vulnerable farms, and high-risk coastal zones.</a:t>
            </a:r>
          </a:p>
          <a:p>
            <a:r>
              <a:rPr lang="en-IN" sz="2000" b="1" dirty="0">
                <a:latin typeface="Arial" panose="020B0604020202020204" pitchFamily="34" charset="0"/>
                <a:cs typeface="Arial" panose="020B0604020202020204" pitchFamily="34" charset="0"/>
              </a:rPr>
              <a:t>Alert &amp; Prioritization Agent</a:t>
            </a:r>
            <a:r>
              <a:rPr lang="en-IN" sz="2000" dirty="0">
                <a:latin typeface="Arial" panose="020B0604020202020204" pitchFamily="34" charset="0"/>
                <a:cs typeface="Arial" panose="020B0604020202020204" pitchFamily="34" charset="0"/>
              </a:rPr>
              <a:t> – Determines the severity of detected conditions and prioritizes farms or situations requiring immediate attention.</a:t>
            </a:r>
          </a:p>
          <a:p>
            <a:r>
              <a:rPr lang="en-IN" sz="2000" b="1" dirty="0">
                <a:latin typeface="Arial" panose="020B0604020202020204" pitchFamily="34" charset="0"/>
                <a:cs typeface="Arial" panose="020B0604020202020204" pitchFamily="34" charset="0"/>
              </a:rPr>
              <a:t>IBM Granite Agent</a:t>
            </a:r>
            <a:r>
              <a:rPr lang="en-IN" sz="2000" dirty="0">
                <a:latin typeface="Arial" panose="020B0604020202020204" pitchFamily="34" charset="0"/>
                <a:cs typeface="Arial" panose="020B0604020202020204" pitchFamily="34" charset="0"/>
              </a:rPr>
              <a:t> – Coordinates contextual reasoning, generates multilingual explanations, summarizes farm conditions, and produces grounded recommendations using application data.</a:t>
            </a: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AA62E81C-1E79-90F0-02B1-84C1362E2EAD}"/>
              </a:ext>
            </a:extLst>
          </p:cNvPr>
          <p:cNvSpPr>
            <a:spLocks noGrp="1"/>
          </p:cNvSpPr>
          <p:nvPr>
            <p:ph type="body" idx="1"/>
          </p:nvPr>
        </p:nvSpPr>
        <p:spPr>
          <a:xfrm>
            <a:off x="304800" y="419100"/>
            <a:ext cx="17754600" cy="3200876"/>
          </a:xfrm>
        </p:spPr>
        <p:txBody>
          <a:bodyPr/>
          <a:lstStyle/>
          <a:p>
            <a:r>
              <a:rPr lang="en-IN" b="1" dirty="0">
                <a:latin typeface="Arial" panose="020B0604020202020204" pitchFamily="34" charset="0"/>
                <a:cs typeface="Arial" panose="020B0604020202020204" pitchFamily="34" charset="0"/>
              </a:rPr>
              <a:t>Context-Aware Agentic Workflow</a:t>
            </a:r>
          </a:p>
          <a:p>
            <a:endParaRPr lang="en-IN" sz="2000" b="1" dirty="0">
              <a:latin typeface="Arial" panose="020B0604020202020204" pitchFamily="34" charset="0"/>
              <a:cs typeface="Arial" panose="020B0604020202020204" pitchFamily="34" charset="0"/>
            </a:endParaRPr>
          </a:p>
          <a:p>
            <a:r>
              <a:rPr lang="en-IN" sz="2000" dirty="0">
                <a:latin typeface="Arial" panose="020B0604020202020204" pitchFamily="34" charset="0"/>
                <a:cs typeface="Arial" panose="020B0604020202020204" pitchFamily="34" charset="0"/>
              </a:rPr>
              <a:t>The system continuously updates its understanding as new </a:t>
            </a:r>
            <a:r>
              <a:rPr lang="en-IN" sz="2000" b="1" dirty="0">
                <a:latin typeface="Arial" panose="020B0604020202020204" pitchFamily="34" charset="0"/>
                <a:cs typeface="Arial" panose="020B0604020202020204" pitchFamily="34" charset="0"/>
              </a:rPr>
              <a:t>sensor readings, farm observations, environmental information, historical data, and user inputs</a:t>
            </a:r>
            <a:r>
              <a:rPr lang="en-IN" sz="2000" dirty="0">
                <a:latin typeface="Arial" panose="020B0604020202020204" pitchFamily="34" charset="0"/>
                <a:cs typeface="Arial" panose="020B0604020202020204" pitchFamily="34" charset="0"/>
              </a:rPr>
              <a:t> become available.</a:t>
            </a:r>
          </a:p>
          <a:p>
            <a:endParaRPr lang="en-IN" sz="2000" dirty="0">
              <a:latin typeface="Arial" panose="020B0604020202020204" pitchFamily="34" charset="0"/>
              <a:cs typeface="Arial" panose="020B0604020202020204" pitchFamily="34" charset="0"/>
            </a:endParaRPr>
          </a:p>
          <a:p>
            <a:r>
              <a:rPr lang="en-IN" sz="2000" dirty="0">
                <a:latin typeface="Arial" panose="020B0604020202020204" pitchFamily="34" charset="0"/>
                <a:cs typeface="Arial" panose="020B0604020202020204" pitchFamily="34" charset="0"/>
              </a:rPr>
              <a:t>Through agent collaboration, </a:t>
            </a:r>
            <a:r>
              <a:rPr lang="en-IN" sz="2000" b="1" dirty="0">
                <a:latin typeface="Arial" panose="020B0604020202020204" pitchFamily="34" charset="0"/>
                <a:cs typeface="Arial" panose="020B0604020202020204" pitchFamily="34" charset="0"/>
              </a:rPr>
              <a:t>Salinity Shield AI</a:t>
            </a:r>
            <a:r>
              <a:rPr lang="en-IN" sz="2000" dirty="0">
                <a:latin typeface="Arial" panose="020B0604020202020204" pitchFamily="34" charset="0"/>
                <a:cs typeface="Arial" panose="020B0604020202020204" pitchFamily="34" charset="0"/>
              </a:rPr>
              <a:t> moves from:</a:t>
            </a:r>
          </a:p>
          <a:p>
            <a:endParaRPr lang="en-IN" sz="2000" dirty="0">
              <a:latin typeface="Arial" panose="020B0604020202020204" pitchFamily="34" charset="0"/>
              <a:cs typeface="Arial" panose="020B0604020202020204" pitchFamily="34" charset="0"/>
            </a:endParaRPr>
          </a:p>
          <a:p>
            <a:r>
              <a:rPr lang="en-IN" sz="2000" b="1" dirty="0">
                <a:latin typeface="Arial" panose="020B0604020202020204" pitchFamily="34" charset="0"/>
                <a:cs typeface="Arial" panose="020B0604020202020204" pitchFamily="34" charset="0"/>
              </a:rPr>
              <a:t>Monitoring → Detection → Analysis → Prediction → Risk Prioritization → Recommendation → Human Decision → Intervention → Continuous Monitoring</a:t>
            </a:r>
          </a:p>
          <a:p>
            <a:endParaRPr lang="en-IN" sz="20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757134468"/>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xfrm>
            <a:off x="0" y="202491"/>
            <a:ext cx="9638419" cy="894941"/>
          </a:xfrm>
          <a:prstGeom prst="rect">
            <a:avLst/>
          </a:prstGeom>
        </p:spPr>
        <p:txBody>
          <a:bodyPr vert="horz" wrap="square" lIns="0" tIns="459566" rIns="0" bIns="0" rtlCol="0">
            <a:spAutoFit/>
          </a:bodyPr>
          <a:lstStyle/>
          <a:p>
            <a:pPr marL="913130" algn="l">
              <a:lnSpc>
                <a:spcPct val="100000"/>
              </a:lnSpc>
              <a:spcBef>
                <a:spcPts val="100"/>
              </a:spcBef>
            </a:pPr>
            <a:r>
              <a:rPr lang="en-IN" sz="2800" dirty="0">
                <a:latin typeface="Arial" panose="020B0604020202020204" pitchFamily="34" charset="0"/>
                <a:cs typeface="Arial" panose="020B0604020202020204" pitchFamily="34" charset="0"/>
              </a:rPr>
              <a:t>NOVELTY AND </a:t>
            </a:r>
            <a:r>
              <a:rPr lang="en-IN" sz="2800" spc="-10" dirty="0">
                <a:latin typeface="Arial" panose="020B0604020202020204" pitchFamily="34" charset="0"/>
                <a:cs typeface="Arial" panose="020B0604020202020204" pitchFamily="34" charset="0"/>
              </a:rPr>
              <a:t>UNIQUENESS</a:t>
            </a:r>
          </a:p>
        </p:txBody>
      </p:sp>
      <p:sp>
        <p:nvSpPr>
          <p:cNvPr id="13" name="TextBox 12">
            <a:extLst>
              <a:ext uri="{FF2B5EF4-FFF2-40B4-BE49-F238E27FC236}">
                <a16:creationId xmlns:a16="http://schemas.microsoft.com/office/drawing/2014/main" id="{A55AD667-7347-AEBC-E402-B5BAD004F472}"/>
              </a:ext>
            </a:extLst>
          </p:cNvPr>
          <p:cNvSpPr txBox="1"/>
          <p:nvPr/>
        </p:nvSpPr>
        <p:spPr>
          <a:xfrm>
            <a:off x="152400" y="1265515"/>
            <a:ext cx="17639419" cy="8371523"/>
          </a:xfrm>
          <a:prstGeom prst="rect">
            <a:avLst/>
          </a:prstGeom>
          <a:noFill/>
        </p:spPr>
        <p:txBody>
          <a:bodyPr wrap="square" rtlCol="0">
            <a:spAutoFit/>
          </a:bodyPr>
          <a:lstStyle/>
          <a:p>
            <a:r>
              <a:rPr lang="en-IN" sz="2000" b="1" dirty="0">
                <a:latin typeface="Arial" panose="020B0604020202020204" pitchFamily="34" charset="0"/>
                <a:cs typeface="Arial" panose="020B0604020202020204" pitchFamily="34" charset="0"/>
              </a:rPr>
              <a:t>Salinity Shield AI</a:t>
            </a:r>
            <a:r>
              <a:rPr lang="en-IN" sz="2000" dirty="0">
                <a:latin typeface="Arial" panose="020B0604020202020204" pitchFamily="34" charset="0"/>
                <a:cs typeface="Arial" panose="020B0604020202020204" pitchFamily="34" charset="0"/>
              </a:rPr>
              <a:t> combines </a:t>
            </a:r>
            <a:r>
              <a:rPr lang="en-IN" sz="2000" b="1" dirty="0">
                <a:latin typeface="Arial" panose="020B0604020202020204" pitchFamily="34" charset="0"/>
                <a:cs typeface="Arial" panose="020B0604020202020204" pitchFamily="34" charset="0"/>
              </a:rPr>
              <a:t>Agentic AI, Machine Learning, Grounded AI, Geospatial Intelligence, Predictive Analytics, and multilingual farmer interaction</a:t>
            </a:r>
            <a:r>
              <a:rPr lang="en-IN" sz="2000" dirty="0">
                <a:latin typeface="Arial" panose="020B0604020202020204" pitchFamily="34" charset="0"/>
                <a:cs typeface="Arial" panose="020B0604020202020204" pitchFamily="34" charset="0"/>
              </a:rPr>
              <a:t> to address the growing problem of </a:t>
            </a:r>
            <a:r>
              <a:rPr lang="en-IN" sz="2000" b="1" dirty="0">
                <a:latin typeface="Arial" panose="020B0604020202020204" pitchFamily="34" charset="0"/>
                <a:cs typeface="Arial" panose="020B0604020202020204" pitchFamily="34" charset="0"/>
              </a:rPr>
              <a:t>soil salinity and seawater intrusion in coastal agriculture</a:t>
            </a:r>
            <a:r>
              <a:rPr lang="en-IN" sz="2000" dirty="0">
                <a:latin typeface="Arial" panose="020B0604020202020204" pitchFamily="34" charset="0"/>
                <a:cs typeface="Arial" panose="020B0604020202020204" pitchFamily="34" charset="0"/>
              </a:rPr>
              <a:t>, with a focus on Gujarat's vulnerable farming regions.</a:t>
            </a:r>
          </a:p>
          <a:p>
            <a:r>
              <a:rPr lang="en-IN" sz="2000" b="1" dirty="0">
                <a:latin typeface="Arial" panose="020B0604020202020204" pitchFamily="34" charset="0"/>
                <a:cs typeface="Arial" panose="020B0604020202020204" pitchFamily="34" charset="0"/>
              </a:rPr>
              <a:t>Key Novel Features</a:t>
            </a:r>
          </a:p>
          <a:p>
            <a:r>
              <a:rPr lang="en-IN" sz="2000" b="1" dirty="0">
                <a:latin typeface="Arial" panose="020B0604020202020204" pitchFamily="34" charset="0"/>
                <a:cs typeface="Arial" panose="020B0604020202020204" pitchFamily="34" charset="0"/>
              </a:rPr>
              <a:t>Multi-Agent Intelligence</a:t>
            </a:r>
            <a:r>
              <a:rPr lang="en-IN" sz="2000" dirty="0">
                <a:latin typeface="Arial" panose="020B0604020202020204" pitchFamily="34" charset="0"/>
                <a:cs typeface="Arial" panose="020B0604020202020204" pitchFamily="34" charset="0"/>
              </a:rPr>
              <a:t> – Specialized AI agents collaborate for </a:t>
            </a:r>
            <a:r>
              <a:rPr lang="en-IN" sz="2000" b="1" dirty="0">
                <a:latin typeface="Arial" panose="020B0604020202020204" pitchFamily="34" charset="0"/>
                <a:cs typeface="Arial" panose="020B0604020202020204" pitchFamily="34" charset="0"/>
              </a:rPr>
              <a:t>salinity prediction, farm-health analysis, sensor monitoring, forecasting, recommendation, alerts, and decision support</a:t>
            </a:r>
            <a:r>
              <a:rPr lang="en-IN" sz="2000" dirty="0">
                <a:latin typeface="Arial" panose="020B0604020202020204" pitchFamily="34" charset="0"/>
                <a:cs typeface="Arial" panose="020B0604020202020204" pitchFamily="34" charset="0"/>
              </a:rPr>
              <a:t>, instead of relying on a single chatbot.</a:t>
            </a:r>
          </a:p>
          <a:p>
            <a:r>
              <a:rPr lang="en-IN" sz="2000" b="1" dirty="0">
                <a:latin typeface="Arial" panose="020B0604020202020204" pitchFamily="34" charset="0"/>
                <a:cs typeface="Arial" panose="020B0604020202020204" pitchFamily="34" charset="0"/>
              </a:rPr>
              <a:t>Grounded AI Recommendations</a:t>
            </a:r>
            <a:r>
              <a:rPr lang="en-IN" sz="2000" dirty="0">
                <a:latin typeface="Arial" panose="020B0604020202020204" pitchFamily="34" charset="0"/>
                <a:cs typeface="Arial" panose="020B0604020202020204" pitchFamily="34" charset="0"/>
              </a:rPr>
              <a:t> – IBM Granite uses </a:t>
            </a:r>
            <a:r>
              <a:rPr lang="en-IN" sz="2000" b="1" dirty="0">
                <a:latin typeface="Arial" panose="020B0604020202020204" pitchFamily="34" charset="0"/>
                <a:cs typeface="Arial" panose="020B0604020202020204" pitchFamily="34" charset="0"/>
              </a:rPr>
              <a:t>real-time and historical farm data, sensor readings, crop information, and environmental context</a:t>
            </a:r>
            <a:r>
              <a:rPr lang="en-IN" sz="2000" dirty="0">
                <a:latin typeface="Arial" panose="020B0604020202020204" pitchFamily="34" charset="0"/>
                <a:cs typeface="Arial" panose="020B0604020202020204" pitchFamily="34" charset="0"/>
              </a:rPr>
              <a:t> to generate reliable, farm-specific insights rather than generic recommendations.</a:t>
            </a:r>
          </a:p>
          <a:p>
            <a:r>
              <a:rPr lang="en-IN" sz="2000" b="1" dirty="0">
                <a:latin typeface="Arial" panose="020B0604020202020204" pitchFamily="34" charset="0"/>
                <a:cs typeface="Arial" panose="020B0604020202020204" pitchFamily="34" charset="0"/>
              </a:rPr>
              <a:t>Hyper-Localized Agriculture Intelligence</a:t>
            </a:r>
            <a:r>
              <a:rPr lang="en-IN" sz="2000" dirty="0">
                <a:latin typeface="Arial" panose="020B0604020202020204" pitchFamily="34" charset="0"/>
                <a:cs typeface="Arial" panose="020B0604020202020204" pitchFamily="34" charset="0"/>
              </a:rPr>
              <a:t> – Designed specifically for </a:t>
            </a:r>
            <a:r>
              <a:rPr lang="en-IN" sz="2000" b="1" dirty="0">
                <a:latin typeface="Arial" panose="020B0604020202020204" pitchFamily="34" charset="0"/>
                <a:cs typeface="Arial" panose="020B0604020202020204" pitchFamily="34" charset="0"/>
              </a:rPr>
              <a:t>Gujarat's coastal farming conditions</a:t>
            </a:r>
            <a:r>
              <a:rPr lang="en-IN" sz="2000" dirty="0">
                <a:latin typeface="Arial" panose="020B0604020202020204" pitchFamily="34" charset="0"/>
                <a:cs typeface="Arial" panose="020B0604020202020204" pitchFamily="34" charset="0"/>
              </a:rPr>
              <a:t>, considering salinity, soil characteristics, irrigation conditions, crop sensitivity, and coastal vulnerability.</a:t>
            </a:r>
          </a:p>
          <a:p>
            <a:r>
              <a:rPr lang="en-IN" sz="2000" b="1" dirty="0">
                <a:latin typeface="Arial" panose="020B0604020202020204" pitchFamily="34" charset="0"/>
                <a:cs typeface="Arial" panose="020B0604020202020204" pitchFamily="34" charset="0"/>
              </a:rPr>
              <a:t>Predictive Salinity Protection</a:t>
            </a:r>
            <a:r>
              <a:rPr lang="en-IN" sz="2000" dirty="0">
                <a:latin typeface="Arial" panose="020B0604020202020204" pitchFamily="34" charset="0"/>
                <a:cs typeface="Arial" panose="020B0604020202020204" pitchFamily="34" charset="0"/>
              </a:rPr>
              <a:t> – Uses Machine Learning to identify </a:t>
            </a:r>
            <a:r>
              <a:rPr lang="en-IN" sz="2000" b="1" dirty="0">
                <a:latin typeface="Arial" panose="020B0604020202020204" pitchFamily="34" charset="0"/>
                <a:cs typeface="Arial" panose="020B0604020202020204" pitchFamily="34" charset="0"/>
              </a:rPr>
              <a:t>changing salinity patterns and forecast future risk</a:t>
            </a:r>
            <a:r>
              <a:rPr lang="en-IN" sz="2000" dirty="0">
                <a:latin typeface="Arial" panose="020B0604020202020204" pitchFamily="34" charset="0"/>
                <a:cs typeface="Arial" panose="020B0604020202020204" pitchFamily="34" charset="0"/>
              </a:rPr>
              <a:t>, enabling intervention before severe soil and crop damage occurs.</a:t>
            </a:r>
          </a:p>
          <a:p>
            <a:r>
              <a:rPr lang="en-IN" sz="2000" b="1" dirty="0">
                <a:latin typeface="Arial" panose="020B0604020202020204" pitchFamily="34" charset="0"/>
                <a:cs typeface="Arial" panose="020B0604020202020204" pitchFamily="34" charset="0"/>
              </a:rPr>
              <a:t>Dynamic Risk Loop</a:t>
            </a:r>
            <a:r>
              <a:rPr lang="en-IN" sz="2000" dirty="0">
                <a:latin typeface="Arial" panose="020B0604020202020204" pitchFamily="34" charset="0"/>
                <a:cs typeface="Arial" panose="020B0604020202020204" pitchFamily="34" charset="0"/>
              </a:rPr>
              <a:t> – New sensor readings and farm observations continuously update </a:t>
            </a:r>
            <a:r>
              <a:rPr lang="en-IN" sz="2000" b="1" dirty="0">
                <a:latin typeface="Arial" panose="020B0604020202020204" pitchFamily="34" charset="0"/>
                <a:cs typeface="Arial" panose="020B0604020202020204" pitchFamily="34" charset="0"/>
              </a:rPr>
              <a:t>risk scores, forecasts, alerts, and recommendations</a:t>
            </a:r>
            <a:r>
              <a:rPr lang="en-IN" sz="2000" dirty="0">
                <a:latin typeface="Arial" panose="020B0604020202020204" pitchFamily="34" charset="0"/>
                <a:cs typeface="Arial" panose="020B0604020202020204" pitchFamily="34" charset="0"/>
              </a:rPr>
              <a:t>, allowing the system to adapt to changing conditions.</a:t>
            </a:r>
          </a:p>
          <a:p>
            <a:r>
              <a:rPr lang="en-IN" sz="2000" b="1" dirty="0">
                <a:latin typeface="Arial" panose="020B0604020202020204" pitchFamily="34" charset="0"/>
                <a:cs typeface="Arial" panose="020B0604020202020204" pitchFamily="34" charset="0"/>
              </a:rPr>
              <a:t>Multilingual Farmer Assistance</a:t>
            </a:r>
            <a:r>
              <a:rPr lang="en-IN" sz="2000" dirty="0">
                <a:latin typeface="Arial" panose="020B0604020202020204" pitchFamily="34" charset="0"/>
                <a:cs typeface="Arial" panose="020B0604020202020204" pitchFamily="34" charset="0"/>
              </a:rPr>
              <a:t> – Enables farmers to interact with the AI in </a:t>
            </a:r>
            <a:r>
              <a:rPr lang="en-IN" sz="2000" b="1" dirty="0">
                <a:latin typeface="Arial" panose="020B0604020202020204" pitchFamily="34" charset="0"/>
                <a:cs typeface="Arial" panose="020B0604020202020204" pitchFamily="34" charset="0"/>
              </a:rPr>
              <a:t>Gujarati, Hindi, and English</a:t>
            </a:r>
            <a:r>
              <a:rPr lang="en-IN" sz="2000" dirty="0">
                <a:latin typeface="Arial" panose="020B0604020202020204" pitchFamily="34" charset="0"/>
                <a:cs typeface="Arial" panose="020B0604020202020204" pitchFamily="34" charset="0"/>
              </a:rPr>
              <a:t>, making advanced AI-based agricultural intelligence more accessible.</a:t>
            </a:r>
          </a:p>
          <a:p>
            <a:r>
              <a:rPr lang="en-IN" sz="2000" b="1" dirty="0">
                <a:latin typeface="Arial" panose="020B0604020202020204" pitchFamily="34" charset="0"/>
                <a:cs typeface="Arial" panose="020B0604020202020204" pitchFamily="34" charset="0"/>
              </a:rPr>
              <a:t>Explainable AI Decision Trace</a:t>
            </a:r>
            <a:r>
              <a:rPr lang="en-IN" sz="2000" dirty="0">
                <a:latin typeface="Arial" panose="020B0604020202020204" pitchFamily="34" charset="0"/>
                <a:cs typeface="Arial" panose="020B0604020202020204" pitchFamily="34" charset="0"/>
              </a:rPr>
              <a:t> – Unlike a black-box recommendation system, the platform explains the chain of </a:t>
            </a:r>
            <a:r>
              <a:rPr lang="en-IN" sz="2000" b="1" dirty="0">
                <a:latin typeface="Arial" panose="020B0604020202020204" pitchFamily="34" charset="0"/>
                <a:cs typeface="Arial" panose="020B0604020202020204" pitchFamily="34" charset="0"/>
              </a:rPr>
              <a:t>observation → analysis → risk → recommendation</a:t>
            </a:r>
            <a:r>
              <a:rPr lang="en-IN" sz="2000" dirty="0">
                <a:latin typeface="Arial" panose="020B0604020202020204" pitchFamily="34" charset="0"/>
                <a:cs typeface="Arial" panose="020B0604020202020204" pitchFamily="34" charset="0"/>
              </a:rPr>
              <a:t>, increasing transparency and trust.</a:t>
            </a:r>
          </a:p>
          <a:p>
            <a:r>
              <a:rPr lang="en-IN" sz="2000" b="1" dirty="0">
                <a:latin typeface="Arial" panose="020B0604020202020204" pitchFamily="34" charset="0"/>
                <a:cs typeface="Arial" panose="020B0604020202020204" pitchFamily="34" charset="0"/>
              </a:rPr>
              <a:t>What-If Decision Intelligence</a:t>
            </a:r>
            <a:r>
              <a:rPr lang="en-IN" sz="2000" dirty="0">
                <a:latin typeface="Arial" panose="020B0604020202020204" pitchFamily="34" charset="0"/>
                <a:cs typeface="Arial" panose="020B0604020202020204" pitchFamily="34" charset="0"/>
              </a:rPr>
              <a:t> – Farmers and agricultural officers can test potential interventions and understand their possible impact on </a:t>
            </a:r>
            <a:r>
              <a:rPr lang="en-IN" sz="2000" b="1" dirty="0">
                <a:latin typeface="Arial" panose="020B0604020202020204" pitchFamily="34" charset="0"/>
                <a:cs typeface="Arial" panose="020B0604020202020204" pitchFamily="34" charset="0"/>
              </a:rPr>
              <a:t>salinity, farm health, and future risk</a:t>
            </a:r>
            <a:r>
              <a:rPr lang="en-IN" sz="2000" dirty="0">
                <a:latin typeface="Arial" panose="020B0604020202020204" pitchFamily="34" charset="0"/>
                <a:cs typeface="Arial" panose="020B0604020202020204" pitchFamily="34" charset="0"/>
              </a:rPr>
              <a:t> before taking action.</a:t>
            </a:r>
          </a:p>
          <a:p>
            <a:r>
              <a:rPr lang="en-IN" sz="2000" b="1" dirty="0">
                <a:latin typeface="Arial" panose="020B0604020202020204" pitchFamily="34" charset="0"/>
                <a:cs typeface="Arial" panose="020B0604020202020204" pitchFamily="34" charset="0"/>
              </a:rPr>
              <a:t>Geospatial Salinity Intelligence</a:t>
            </a:r>
            <a:r>
              <a:rPr lang="en-IN" sz="2000" dirty="0">
                <a:latin typeface="Arial" panose="020B0604020202020204" pitchFamily="34" charset="0"/>
                <a:cs typeface="Arial" panose="020B0604020202020204" pitchFamily="34" charset="0"/>
              </a:rPr>
              <a:t> – Interactive maps identify </a:t>
            </a:r>
            <a:r>
              <a:rPr lang="en-IN" sz="2000" b="1" dirty="0">
                <a:latin typeface="Arial" panose="020B0604020202020204" pitchFamily="34" charset="0"/>
                <a:cs typeface="Arial" panose="020B0604020202020204" pitchFamily="34" charset="0"/>
              </a:rPr>
              <a:t>salinity hotspots, high-risk farms, critical zones, and regional patterns</a:t>
            </a:r>
            <a:r>
              <a:rPr lang="en-IN" sz="2000" dirty="0">
                <a:latin typeface="Arial" panose="020B0604020202020204" pitchFamily="34" charset="0"/>
                <a:cs typeface="Arial" panose="020B0604020202020204" pitchFamily="34" charset="0"/>
              </a:rPr>
              <a:t>, enabling targeted intervention instead of treating every farm equally.</a:t>
            </a:r>
          </a:p>
          <a:p>
            <a:r>
              <a:rPr lang="en-IN" sz="2000" b="1" dirty="0">
                <a:latin typeface="Arial" panose="020B0604020202020204" pitchFamily="34" charset="0"/>
                <a:cs typeface="Arial" panose="020B0604020202020204" pitchFamily="34" charset="0"/>
              </a:rPr>
              <a:t>Action-Oriented Decision Support</a:t>
            </a:r>
            <a:r>
              <a:rPr lang="en-IN" sz="2000" dirty="0">
                <a:latin typeface="Arial" panose="020B0604020202020204" pitchFamily="34" charset="0"/>
                <a:cs typeface="Arial" panose="020B0604020202020204" pitchFamily="34" charset="0"/>
              </a:rPr>
              <a:t> – Converts complex sensor and prediction data into </a:t>
            </a:r>
            <a:r>
              <a:rPr lang="en-IN" sz="2000" b="1" dirty="0">
                <a:latin typeface="Arial" panose="020B0604020202020204" pitchFamily="34" charset="0"/>
                <a:cs typeface="Arial" panose="020B0604020202020204" pitchFamily="34" charset="0"/>
              </a:rPr>
              <a:t>prioritized alerts, practical recommendations, and intervention guidance</a:t>
            </a:r>
            <a:r>
              <a:rPr lang="en-IN" sz="2000" dirty="0">
                <a:latin typeface="Arial" panose="020B0604020202020204" pitchFamily="34" charset="0"/>
                <a:cs typeface="Arial" panose="020B0604020202020204" pitchFamily="34" charset="0"/>
              </a:rPr>
              <a:t>.</a:t>
            </a:r>
          </a:p>
          <a:p>
            <a:r>
              <a:rPr lang="en-IN" sz="2000" b="1" dirty="0">
                <a:latin typeface="Arial" panose="020B0604020202020204" pitchFamily="34" charset="0"/>
                <a:cs typeface="Arial" panose="020B0604020202020204" pitchFamily="34" charset="0"/>
              </a:rPr>
              <a:t>Scalable IBM Architecture</a:t>
            </a:r>
            <a:r>
              <a:rPr lang="en-IN" sz="2000" dirty="0">
                <a:latin typeface="Arial" panose="020B0604020202020204" pitchFamily="34" charset="0"/>
                <a:cs typeface="Arial" panose="020B0604020202020204" pitchFamily="34" charset="0"/>
              </a:rPr>
              <a:t> – Built around </a:t>
            </a:r>
            <a:r>
              <a:rPr lang="en-IN" sz="2000" b="1" dirty="0">
                <a:latin typeface="Arial" panose="020B0604020202020204" pitchFamily="34" charset="0"/>
                <a:cs typeface="Arial" panose="020B0604020202020204" pitchFamily="34" charset="0"/>
              </a:rPr>
              <a:t>IBM Granite, IBM Cloud, and agentic AI workflows</a:t>
            </a:r>
            <a:r>
              <a:rPr lang="en-IN" sz="2000" dirty="0">
                <a:latin typeface="Arial" panose="020B0604020202020204" pitchFamily="34" charset="0"/>
                <a:cs typeface="Arial" panose="020B0604020202020204" pitchFamily="34" charset="0"/>
              </a:rPr>
              <a:t>, with modular components that can later integrate real IoT sensors, satellite data, weather information, and larger regional datasets.</a:t>
            </a:r>
          </a:p>
          <a:p>
            <a:endParaRPr lang="en-IN" dirty="0">
              <a:latin typeface="Arial" panose="020B0604020202020204" pitchFamily="34" charset="0"/>
              <a:cs typeface="Arial" panose="020B0604020202020204" pitchFamily="34" charset="0"/>
            </a:endParaRP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xfrm>
            <a:off x="343781" y="275000"/>
            <a:ext cx="10057645" cy="722158"/>
          </a:xfrm>
          <a:prstGeom prst="rect">
            <a:avLst/>
          </a:prstGeom>
        </p:spPr>
        <p:txBody>
          <a:bodyPr vert="horz" wrap="square" lIns="0" tIns="105574" rIns="0" bIns="0" rtlCol="0">
            <a:spAutoFit/>
          </a:bodyPr>
          <a:lstStyle/>
          <a:p>
            <a:pPr marL="684530">
              <a:lnSpc>
                <a:spcPct val="100000"/>
              </a:lnSpc>
              <a:spcBef>
                <a:spcPts val="100"/>
              </a:spcBef>
            </a:pPr>
            <a:r>
              <a:rPr sz="4000" dirty="0">
                <a:latin typeface="Times New Roman" panose="02020603050405020304" pitchFamily="18" charset="0"/>
                <a:cs typeface="Times New Roman" panose="02020603050405020304" pitchFamily="18" charset="0"/>
              </a:rPr>
              <a:t>Git</a:t>
            </a:r>
            <a:r>
              <a:rPr sz="4000" spc="-45" dirty="0">
                <a:latin typeface="Times New Roman" panose="02020603050405020304" pitchFamily="18" charset="0"/>
                <a:cs typeface="Times New Roman" panose="02020603050405020304" pitchFamily="18" charset="0"/>
              </a:rPr>
              <a:t/>
            </a:r>
            <a:r>
              <a:rPr sz="4000" dirty="0">
                <a:latin typeface="Times New Roman" panose="02020603050405020304" pitchFamily="18" charset="0"/>
                <a:cs typeface="Times New Roman" panose="02020603050405020304" pitchFamily="18" charset="0"/>
              </a:rPr>
              <a:t>Hub</a:t>
            </a:r>
            <a:r>
              <a:rPr sz="4000" spc="-40" dirty="0">
                <a:latin typeface="Times New Roman" panose="02020603050405020304" pitchFamily="18" charset="0"/>
                <a:cs typeface="Times New Roman" panose="02020603050405020304" pitchFamily="18" charset="0"/>
              </a:rPr>
              <a:t/>
            </a:r>
            <a:r>
              <a:rPr sz="4000" spc="-20" dirty="0">
                <a:latin typeface="Times New Roman" panose="02020603050405020304" pitchFamily="18" charset="0"/>
                <a:cs typeface="Times New Roman" panose="02020603050405020304" pitchFamily="18" charset="0"/>
              </a:rPr>
              <a:t>Link</a:t>
            </a:r>
            <a:endParaRPr sz="4000" dirty="0">
              <a:latin typeface="Times New Roman" panose="02020603050405020304" pitchFamily="18" charset="0"/>
              <a:cs typeface="Times New Roman" panose="02020603050405020304" pitchFamily="18" charset="0"/>
            </a:endParaRPr>
          </a:p>
        </p:txBody>
      </p:sp>
      <p:sp>
        <p:nvSpPr>
          <p:cNvPr id="12" name="object 12"/>
          <p:cNvSpPr txBox="1"/>
          <p:nvPr/>
        </p:nvSpPr>
        <p:spPr>
          <a:xfrm>
            <a:off x="1815386" y="8097173"/>
            <a:ext cx="142875" cy="448309"/>
          </a:xfrm>
          <a:prstGeom prst="rect">
            <a:avLst/>
          </a:prstGeom>
        </p:spPr>
        <p:txBody>
          <a:bodyPr vert="horz" wrap="square" lIns="0" tIns="15875" rIns="0" bIns="0" rtlCol="0">
            <a:spAutoFit/>
          </a:bodyPr>
          <a:lstStyle/>
          <a:p>
            <a:pPr marL="12700">
              <a:lnSpc>
                <a:spcPct val="100000"/>
              </a:lnSpc>
              <a:spcBef>
                <a:spcPts val="125"/>
              </a:spcBef>
            </a:pPr>
            <a:r>
              <a:rPr sz="2750" spc="-50" dirty="0">
                <a:solidFill>
                  <a:srgbClr val="2A3440"/>
                </a:solidFill>
                <a:latin typeface="Times New Roman"/>
                <a:cs typeface="Times New Roman"/>
              </a:rPr>
              <a:t>·</a:t>
            </a:r>
            <a:endParaRPr sz="2750">
              <a:latin typeface="Times New Roman"/>
              <a:cs typeface="Times New Roman"/>
            </a:endParaRPr>
          </a:p>
        </p:txBody>
      </p:sp>
      <p:sp>
        <p:nvSpPr>
          <p:cNvPr id="13" name="TextBox 12">
            <a:extLst>
              <a:ext uri="{FF2B5EF4-FFF2-40B4-BE49-F238E27FC236}">
                <a16:creationId xmlns:a16="http://schemas.microsoft.com/office/drawing/2014/main" id="{0A561787-36BC-3D29-5647-17FF2F7B9801}"/>
              </a:ext>
            </a:extLst>
          </p:cNvPr>
          <p:cNvSpPr txBox="1"/>
          <p:nvPr/>
        </p:nvSpPr>
        <p:spPr>
          <a:xfrm>
            <a:off x="724782" y="1333500"/>
            <a:ext cx="17563218" cy="3785652"/>
          </a:xfrm>
          <a:prstGeom prst="rect">
            <a:avLst/>
          </a:prstGeom>
          <a:noFill/>
        </p:spPr>
        <p:txBody>
          <a:bodyPr wrap="square" rtlCol="0">
            <a:spAutoFit/>
          </a:bodyPr>
          <a:lstStyle/>
          <a:p>
            <a:r>
              <a:rPr lang="en-US" sz="2000" dirty="0">
                <a:latin typeface="Arial" panose="020B0604020202020204" pitchFamily="34" charset="0"/>
                <a:cs typeface="Arial" panose="020B0604020202020204" pitchFamily="34" charset="0"/>
              </a:rPr>
              <a:t>GitHub Repository : </a:t>
            </a:r>
          </a:p>
          <a:p>
            <a:r>
              <a:rPr lang="en-US" sz="2000" dirty="0">
                <a:latin typeface="Arial" panose="020B0604020202020204" pitchFamily="34" charset="0"/>
                <a:cs typeface="Arial" panose="020B0604020202020204" pitchFamily="34" charset="0"/>
              </a:rPr>
              <a:t>Public GitHub Repository :</a:t>
            </a:r>
          </a:p>
          <a:p>
            <a:r>
              <a:rPr lang="en-IN" sz="2000" dirty="0">
                <a:latin typeface="Arial" panose="020B0604020202020204" pitchFamily="34" charset="0"/>
                <a:cs typeface="Arial" panose="020B0604020202020204" pitchFamily="34" charset="0"/>
                <a:hlinkClick r:id="rId2"/>
              </a:rPr>
              <a:t>https://github.com/VyasVraj/-Smart-Salinity-Ingress-Coastal-Farmland-Protection-Advisor-.git</a:t>
            </a:r>
            <a:endParaRPr lang="en-IN" sz="2000" dirty="0">
              <a:latin typeface="Arial" panose="020B0604020202020204" pitchFamily="34" charset="0"/>
              <a:cs typeface="Arial" panose="020B0604020202020204" pitchFamily="34" charset="0"/>
            </a:endParaRPr>
          </a:p>
          <a:p>
            <a:r>
              <a:rPr lang="en-IN" sz="2000" dirty="0">
                <a:latin typeface="Arial" panose="020B0604020202020204" pitchFamily="34" charset="0"/>
                <a:cs typeface="Arial" panose="020B0604020202020204" pitchFamily="34" charset="0"/>
              </a:rPr>
              <a:t>The repository contains the complete </a:t>
            </a:r>
            <a:r>
              <a:rPr lang="en-US" sz="2000" dirty="0">
                <a:latin typeface="Arial" panose="020B0604020202020204" pitchFamily="34" charset="0"/>
                <a:cs typeface="Arial" panose="020B0604020202020204" pitchFamily="34" charset="0"/>
              </a:rPr>
              <a:t>Smart Salinity Ingress &amp; Coastal Farmland Protection Advisor project and submission materials.</a:t>
            </a:r>
          </a:p>
          <a:p>
            <a:r>
              <a:rPr lang="en-US" sz="2000" dirty="0">
                <a:latin typeface="Arial" panose="020B0604020202020204" pitchFamily="34" charset="0"/>
                <a:cs typeface="Arial" panose="020B0604020202020204" pitchFamily="34" charset="0"/>
              </a:rPr>
              <a:t>Repository contents</a:t>
            </a:r>
          </a:p>
          <a:p>
            <a:pPr marL="285750" indent="-285750">
              <a:buFont typeface="Arial" panose="020B0604020202020204" pitchFamily="34" charset="0"/>
              <a:buChar char="•"/>
            </a:pPr>
            <a:r>
              <a:rPr lang="en-IN" sz="2000" dirty="0">
                <a:latin typeface="Arial" panose="020B0604020202020204" pitchFamily="34" charset="0"/>
                <a:cs typeface="Arial" panose="020B0604020202020204" pitchFamily="34" charset="0"/>
              </a:rPr>
              <a:t>Source</a:t>
            </a:r>
            <a:r>
              <a:rPr lang="en-IN" sz="2000" spc="-20" dirty="0">
                <a:latin typeface="Arial" panose="020B0604020202020204" pitchFamily="34" charset="0"/>
                <a:cs typeface="Arial" panose="020B0604020202020204" pitchFamily="34" charset="0"/>
              </a:rPr>
              <a:t/>
            </a:r>
            <a:r>
              <a:rPr lang="en-IN" sz="2000" dirty="0">
                <a:latin typeface="Arial" panose="020B0604020202020204" pitchFamily="34" charset="0"/>
                <a:cs typeface="Arial" panose="020B0604020202020204" pitchFamily="34" charset="0"/>
              </a:rPr>
              <a:t>Code</a:t>
            </a:r>
            <a:r>
              <a:rPr lang="en-IN" sz="2000" spc="-15" dirty="0">
                <a:latin typeface="Arial" panose="020B0604020202020204" pitchFamily="34" charset="0"/>
                <a:cs typeface="Arial" panose="020B0604020202020204" pitchFamily="34" charset="0"/>
              </a:rPr>
              <a:t/>
            </a:r>
            <a:r>
              <a:rPr lang="en-IN" sz="2000" dirty="0">
                <a:latin typeface="Arial" panose="020B0604020202020204" pitchFamily="34" charset="0"/>
                <a:cs typeface="Arial" panose="020B0604020202020204" pitchFamily="34" charset="0"/>
              </a:rPr>
              <a:t>–</a:t>
            </a:r>
            <a:r>
              <a:rPr lang="en-IN" sz="2000" spc="-15" dirty="0">
                <a:latin typeface="Arial" panose="020B0604020202020204" pitchFamily="34" charset="0"/>
                <a:cs typeface="Arial" panose="020B0604020202020204" pitchFamily="34" charset="0"/>
              </a:rPr>
              <a:t/>
            </a:r>
            <a:r>
              <a:rPr lang="en-IN" sz="2000" dirty="0">
                <a:latin typeface="Arial" panose="020B0604020202020204" pitchFamily="34" charset="0"/>
                <a:cs typeface="Arial" panose="020B0604020202020204" pitchFamily="34" charset="0"/>
              </a:rPr>
              <a:t>Complete</a:t>
            </a:r>
            <a:r>
              <a:rPr lang="en-IN" sz="2000" spc="-15" dirty="0">
                <a:latin typeface="Arial" panose="020B0604020202020204" pitchFamily="34" charset="0"/>
                <a:cs typeface="Arial" panose="020B0604020202020204" pitchFamily="34" charset="0"/>
              </a:rPr>
              <a:t/>
            </a:r>
            <a:r>
              <a:rPr lang="en-IN" sz="2000" dirty="0" err="1">
                <a:latin typeface="Arial" panose="020B0604020202020204" pitchFamily="34" charset="0"/>
                <a:cs typeface="Arial" panose="020B0604020202020204" pitchFamily="34" charset="0"/>
              </a:rPr>
              <a:t>Streamlit</a:t>
            </a:r>
            <a:r>
              <a:rPr lang="en-IN" sz="2000" spc="-20" dirty="0">
                <a:latin typeface="Arial" panose="020B0604020202020204" pitchFamily="34" charset="0"/>
                <a:cs typeface="Arial" panose="020B0604020202020204" pitchFamily="34" charset="0"/>
              </a:rPr>
              <a:t/>
            </a:r>
            <a:r>
              <a:rPr lang="en-IN" sz="2000" dirty="0">
                <a:latin typeface="Arial" panose="020B0604020202020204" pitchFamily="34" charset="0"/>
                <a:cs typeface="Arial" panose="020B0604020202020204" pitchFamily="34" charset="0"/>
              </a:rPr>
              <a:t>application</a:t>
            </a:r>
            <a:r>
              <a:rPr lang="en-IN" sz="2000" spc="-15" dirty="0">
                <a:latin typeface="Arial" panose="020B0604020202020204" pitchFamily="34" charset="0"/>
                <a:cs typeface="Arial" panose="020B0604020202020204" pitchFamily="34" charset="0"/>
              </a:rPr>
              <a:t/>
            </a:r>
            <a:r>
              <a:rPr lang="en-IN" sz="2000" dirty="0">
                <a:latin typeface="Arial" panose="020B0604020202020204" pitchFamily="34" charset="0"/>
                <a:cs typeface="Arial" panose="020B0604020202020204" pitchFamily="34" charset="0"/>
              </a:rPr>
              <a:t>and</a:t>
            </a:r>
            <a:r>
              <a:rPr lang="en-IN" sz="2000" spc="-15" dirty="0">
                <a:latin typeface="Arial" panose="020B0604020202020204" pitchFamily="34" charset="0"/>
                <a:cs typeface="Arial" panose="020B0604020202020204" pitchFamily="34" charset="0"/>
              </a:rPr>
              <a:t/>
            </a:r>
            <a:r>
              <a:rPr lang="en-IN" sz="2000" dirty="0">
                <a:latin typeface="Arial" panose="020B0604020202020204" pitchFamily="34" charset="0"/>
                <a:cs typeface="Arial" panose="020B0604020202020204" pitchFamily="34" charset="0"/>
              </a:rPr>
              <a:t>project</a:t>
            </a:r>
            <a:r>
              <a:rPr lang="en-IN" sz="2000" spc="-15" dirty="0">
                <a:latin typeface="Arial" panose="020B0604020202020204" pitchFamily="34" charset="0"/>
                <a:cs typeface="Arial" panose="020B0604020202020204" pitchFamily="34" charset="0"/>
              </a:rPr>
              <a:t/>
            </a:r>
            <a:r>
              <a:rPr lang="en-IN" sz="2000" spc="-10" dirty="0">
                <a:latin typeface="Arial" panose="020B0604020202020204" pitchFamily="34" charset="0"/>
                <a:cs typeface="Arial" panose="020B0604020202020204" pitchFamily="34" charset="0"/>
              </a:rPr>
              <a:t>files</a:t>
            </a:r>
          </a:p>
          <a:p>
            <a:pPr marL="285750" indent="-285750">
              <a:buFont typeface="Arial" panose="020B0604020202020204" pitchFamily="34" charset="0"/>
              <a:buChar char="•"/>
            </a:pPr>
            <a:r>
              <a:rPr lang="en-US" sz="2000" dirty="0">
                <a:latin typeface="Arial" panose="020B0604020202020204" pitchFamily="34" charset="0"/>
                <a:cs typeface="Arial" panose="020B0604020202020204" pitchFamily="34" charset="0"/>
              </a:rPr>
              <a:t>README.md</a:t>
            </a:r>
            <a:r>
              <a:rPr lang="en-US" sz="2000" spc="-20" dirty="0">
                <a:latin typeface="Arial" panose="020B0604020202020204" pitchFamily="34" charset="0"/>
                <a:cs typeface="Arial" panose="020B0604020202020204" pitchFamily="34" charset="0"/>
              </a:rPr>
              <a:t/>
            </a:r>
            <a:r>
              <a:rPr lang="en-US" sz="2000" dirty="0">
                <a:latin typeface="Arial" panose="020B0604020202020204" pitchFamily="34" charset="0"/>
                <a:cs typeface="Arial" panose="020B0604020202020204" pitchFamily="34" charset="0"/>
              </a:rPr>
              <a:t>–</a:t>
            </a:r>
            <a:r>
              <a:rPr lang="en-US" sz="2000" spc="-20" dirty="0">
                <a:latin typeface="Arial" panose="020B0604020202020204" pitchFamily="34" charset="0"/>
                <a:cs typeface="Arial" panose="020B0604020202020204" pitchFamily="34" charset="0"/>
              </a:rPr>
              <a:t/>
            </a:r>
            <a:r>
              <a:rPr lang="en-US" sz="2000" dirty="0">
                <a:latin typeface="Arial" panose="020B0604020202020204" pitchFamily="34" charset="0"/>
                <a:cs typeface="Arial" panose="020B0604020202020204" pitchFamily="34" charset="0"/>
              </a:rPr>
              <a:t>Project</a:t>
            </a:r>
            <a:r>
              <a:rPr lang="en-US" sz="2000" spc="-20" dirty="0">
                <a:latin typeface="Arial" panose="020B0604020202020204" pitchFamily="34" charset="0"/>
                <a:cs typeface="Arial" panose="020B0604020202020204" pitchFamily="34" charset="0"/>
              </a:rPr>
              <a:t/>
            </a:r>
            <a:r>
              <a:rPr lang="en-US" sz="2000" dirty="0">
                <a:latin typeface="Arial" panose="020B0604020202020204" pitchFamily="34" charset="0"/>
                <a:cs typeface="Arial" panose="020B0604020202020204" pitchFamily="34" charset="0"/>
              </a:rPr>
              <a:t>overview,</a:t>
            </a:r>
            <a:r>
              <a:rPr lang="en-US" sz="2000" spc="-15" dirty="0">
                <a:latin typeface="Arial" panose="020B0604020202020204" pitchFamily="34" charset="0"/>
                <a:cs typeface="Arial" panose="020B0604020202020204" pitchFamily="34" charset="0"/>
              </a:rPr>
              <a:t/>
            </a:r>
            <a:r>
              <a:rPr lang="en-US" sz="2000" dirty="0">
                <a:latin typeface="Arial" panose="020B0604020202020204" pitchFamily="34" charset="0"/>
                <a:cs typeface="Arial" panose="020B0604020202020204" pitchFamily="34" charset="0"/>
              </a:rPr>
              <a:t>setup</a:t>
            </a:r>
            <a:r>
              <a:rPr lang="en-US" sz="2000" spc="-20" dirty="0">
                <a:latin typeface="Arial" panose="020B0604020202020204" pitchFamily="34" charset="0"/>
                <a:cs typeface="Arial" panose="020B0604020202020204" pitchFamily="34" charset="0"/>
              </a:rPr>
              <a:t/>
            </a:r>
            <a:r>
              <a:rPr lang="en-US" sz="2000" dirty="0">
                <a:latin typeface="Arial" panose="020B0604020202020204" pitchFamily="34" charset="0"/>
                <a:cs typeface="Arial" panose="020B0604020202020204" pitchFamily="34" charset="0"/>
              </a:rPr>
              <a:t>instructions,</a:t>
            </a:r>
            <a:r>
              <a:rPr lang="en-US" sz="2000" spc="-20" dirty="0">
                <a:latin typeface="Arial" panose="020B0604020202020204" pitchFamily="34" charset="0"/>
                <a:cs typeface="Arial" panose="020B0604020202020204" pitchFamily="34" charset="0"/>
              </a:rPr>
              <a:t/>
            </a:r>
            <a:r>
              <a:rPr lang="en-US" sz="2000" dirty="0">
                <a:latin typeface="Arial" panose="020B0604020202020204" pitchFamily="34" charset="0"/>
                <a:cs typeface="Arial" panose="020B0604020202020204" pitchFamily="34" charset="0"/>
              </a:rPr>
              <a:t>architecture,</a:t>
            </a:r>
            <a:r>
              <a:rPr lang="en-US" sz="2000" spc="-20" dirty="0">
                <a:latin typeface="Arial" panose="020B0604020202020204" pitchFamily="34" charset="0"/>
                <a:cs typeface="Arial" panose="020B0604020202020204" pitchFamily="34" charset="0"/>
              </a:rPr>
              <a:t/>
            </a:r>
            <a:r>
              <a:rPr lang="en-US" sz="2000" dirty="0">
                <a:latin typeface="Arial" panose="020B0604020202020204" pitchFamily="34" charset="0"/>
                <a:cs typeface="Arial" panose="020B0604020202020204" pitchFamily="34" charset="0"/>
              </a:rPr>
              <a:t>and</a:t>
            </a:r>
            <a:r>
              <a:rPr lang="en-US" sz="2000" spc="-15" dirty="0">
                <a:latin typeface="Arial" panose="020B0604020202020204" pitchFamily="34" charset="0"/>
                <a:cs typeface="Arial" panose="020B0604020202020204" pitchFamily="34" charset="0"/>
              </a:rPr>
              <a:t/>
            </a:r>
            <a:r>
              <a:rPr lang="en-US" sz="2000" spc="-10" dirty="0">
                <a:latin typeface="Arial" panose="020B0604020202020204" pitchFamily="34" charset="0"/>
                <a:cs typeface="Arial" panose="020B0604020202020204" pitchFamily="34" charset="0"/>
              </a:rPr>
              <a:t>usage</a:t>
            </a:r>
          </a:p>
          <a:p>
            <a:pPr marL="285750" indent="-285750">
              <a:buFont typeface="Arial" panose="020B0604020202020204" pitchFamily="34" charset="0"/>
              <a:buChar char="•"/>
            </a:pPr>
            <a:r>
              <a:rPr lang="en-IN" sz="2000" dirty="0" err="1">
                <a:latin typeface="Arial" panose="020B0604020202020204" pitchFamily="34" charset="0"/>
                <a:cs typeface="Arial" panose="020B0604020202020204" pitchFamily="34" charset="0"/>
              </a:rPr>
              <a:t>app.json</a:t>
            </a:r>
            <a:r>
              <a:rPr lang="en-IN" sz="2000" spc="-20" dirty="0">
                <a:latin typeface="Arial" panose="020B0604020202020204" pitchFamily="34" charset="0"/>
                <a:cs typeface="Arial" panose="020B0604020202020204" pitchFamily="34" charset="0"/>
              </a:rPr>
              <a:t/>
            </a:r>
            <a:r>
              <a:rPr lang="en-IN" sz="2000" dirty="0">
                <a:latin typeface="Arial" panose="020B0604020202020204" pitchFamily="34" charset="0"/>
                <a:cs typeface="Arial" panose="020B0604020202020204" pitchFamily="34" charset="0"/>
              </a:rPr>
              <a:t>–</a:t>
            </a:r>
            <a:r>
              <a:rPr lang="en-IN" sz="2000" spc="-15" dirty="0">
                <a:latin typeface="Arial" panose="020B0604020202020204" pitchFamily="34" charset="0"/>
                <a:cs typeface="Arial" panose="020B0604020202020204" pitchFamily="34" charset="0"/>
              </a:rPr>
              <a:t/>
            </a:r>
            <a:r>
              <a:rPr lang="en-IN" sz="2000" dirty="0">
                <a:latin typeface="Arial" panose="020B0604020202020204" pitchFamily="34" charset="0"/>
                <a:cs typeface="Arial" panose="020B0604020202020204" pitchFamily="34" charset="0"/>
              </a:rPr>
              <a:t>Application</a:t>
            </a:r>
            <a:r>
              <a:rPr lang="en-IN" sz="2000" spc="-20" dirty="0">
                <a:latin typeface="Arial" panose="020B0604020202020204" pitchFamily="34" charset="0"/>
                <a:cs typeface="Arial" panose="020B0604020202020204" pitchFamily="34" charset="0"/>
              </a:rPr>
              <a:t/>
            </a:r>
            <a:r>
              <a:rPr lang="en-IN" sz="2000" spc="-10" dirty="0">
                <a:latin typeface="Arial" panose="020B0604020202020204" pitchFamily="34" charset="0"/>
                <a:cs typeface="Arial" panose="020B0604020202020204" pitchFamily="34" charset="0"/>
              </a:rPr>
              <a:t>configuration</a:t>
            </a:r>
            <a:endParaRPr lang="en-IN" sz="2000" dirty="0">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en-US" sz="2000" dirty="0">
                <a:latin typeface="Arial" panose="020B0604020202020204" pitchFamily="34" charset="0"/>
                <a:cs typeface="Arial" panose="020B0604020202020204" pitchFamily="34" charset="0"/>
              </a:rPr>
              <a:t>Problem</a:t>
            </a:r>
            <a:r>
              <a:rPr lang="en-US" sz="2000" spc="-25" dirty="0">
                <a:latin typeface="Arial" panose="020B0604020202020204" pitchFamily="34" charset="0"/>
                <a:cs typeface="Arial" panose="020B0604020202020204" pitchFamily="34" charset="0"/>
              </a:rPr>
              <a:t/>
            </a:r>
            <a:r>
              <a:rPr lang="en-US" sz="2000" dirty="0">
                <a:latin typeface="Arial" panose="020B0604020202020204" pitchFamily="34" charset="0"/>
                <a:cs typeface="Arial" panose="020B0604020202020204" pitchFamily="34" charset="0"/>
              </a:rPr>
              <a:t>Statement</a:t>
            </a:r>
            <a:r>
              <a:rPr lang="en-US" sz="2000" spc="-15" dirty="0">
                <a:latin typeface="Arial" panose="020B0604020202020204" pitchFamily="34" charset="0"/>
                <a:cs typeface="Arial" panose="020B0604020202020204" pitchFamily="34" charset="0"/>
              </a:rPr>
              <a:t/>
            </a:r>
            <a:r>
              <a:rPr lang="en-US" sz="2000" dirty="0">
                <a:latin typeface="Arial" panose="020B0604020202020204" pitchFamily="34" charset="0"/>
                <a:cs typeface="Arial" panose="020B0604020202020204" pitchFamily="34" charset="0"/>
              </a:rPr>
              <a:t>PDF</a:t>
            </a:r>
            <a:r>
              <a:rPr lang="en-US" sz="2000" spc="-15" dirty="0">
                <a:latin typeface="Arial" panose="020B0604020202020204" pitchFamily="34" charset="0"/>
                <a:cs typeface="Arial" panose="020B0604020202020204" pitchFamily="34" charset="0"/>
              </a:rPr>
              <a:t/>
            </a:r>
            <a:r>
              <a:rPr lang="en-US" sz="2000" dirty="0">
                <a:latin typeface="Arial" panose="020B0604020202020204" pitchFamily="34" charset="0"/>
                <a:cs typeface="Arial" panose="020B0604020202020204" pitchFamily="34" charset="0"/>
              </a:rPr>
              <a:t>–</a:t>
            </a:r>
            <a:r>
              <a:rPr lang="en-US" sz="2000" spc="-15" dirty="0">
                <a:latin typeface="Arial" panose="020B0604020202020204" pitchFamily="34" charset="0"/>
                <a:cs typeface="Arial" panose="020B0604020202020204" pitchFamily="34" charset="0"/>
              </a:rPr>
              <a:t/>
            </a:r>
            <a:r>
              <a:rPr lang="en-US" sz="2000" dirty="0">
                <a:latin typeface="Arial" panose="020B0604020202020204" pitchFamily="34" charset="0"/>
                <a:cs typeface="Arial" panose="020B0604020202020204" pitchFamily="34" charset="0"/>
              </a:rPr>
              <a:t>Official</a:t>
            </a:r>
            <a:r>
              <a:rPr lang="en-US" sz="2000" spc="-20" dirty="0">
                <a:latin typeface="Arial" panose="020B0604020202020204" pitchFamily="34" charset="0"/>
                <a:cs typeface="Arial" panose="020B0604020202020204" pitchFamily="34" charset="0"/>
              </a:rPr>
              <a:t/>
            </a:r>
            <a:r>
              <a:rPr lang="en-US" sz="2000" dirty="0">
                <a:latin typeface="Arial" panose="020B0604020202020204" pitchFamily="34" charset="0"/>
                <a:cs typeface="Arial" panose="020B0604020202020204" pitchFamily="34" charset="0"/>
              </a:rPr>
              <a:t>challenge/problem</a:t>
            </a:r>
            <a:r>
              <a:rPr lang="en-US" sz="2000" spc="-20" dirty="0">
                <a:latin typeface="Arial" panose="020B0604020202020204" pitchFamily="34" charset="0"/>
                <a:cs typeface="Arial" panose="020B0604020202020204" pitchFamily="34" charset="0"/>
              </a:rPr>
              <a:t/>
            </a:r>
            <a:r>
              <a:rPr lang="en-US" sz="2000" spc="-10" dirty="0">
                <a:latin typeface="Arial" panose="020B0604020202020204" pitchFamily="34" charset="0"/>
                <a:cs typeface="Arial" panose="020B0604020202020204" pitchFamily="34" charset="0"/>
              </a:rPr>
              <a:t>statement</a:t>
            </a:r>
            <a:endParaRPr lang="en-US" sz="2000" dirty="0">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en-IN" sz="2000" dirty="0">
                <a:latin typeface="Arial" panose="020B0604020202020204" pitchFamily="34" charset="0"/>
                <a:cs typeface="Arial" panose="020B0604020202020204" pitchFamily="34" charset="0"/>
              </a:rPr>
              <a:t>Project</a:t>
            </a:r>
            <a:r>
              <a:rPr lang="en-IN" sz="2000" spc="-5" dirty="0">
                <a:latin typeface="Arial" panose="020B0604020202020204" pitchFamily="34" charset="0"/>
                <a:cs typeface="Arial" panose="020B0604020202020204" pitchFamily="34" charset="0"/>
              </a:rPr>
              <a:t/>
            </a:r>
            <a:r>
              <a:rPr lang="en-IN" sz="2000" dirty="0">
                <a:latin typeface="Arial" panose="020B0604020202020204" pitchFamily="34" charset="0"/>
                <a:cs typeface="Arial" panose="020B0604020202020204" pitchFamily="34" charset="0"/>
              </a:rPr>
              <a:t>Presentation PPTX</a:t>
            </a:r>
            <a:r>
              <a:rPr lang="en-IN" sz="2000" spc="-5" dirty="0">
                <a:latin typeface="Arial" panose="020B0604020202020204" pitchFamily="34" charset="0"/>
                <a:cs typeface="Arial" panose="020B0604020202020204" pitchFamily="34" charset="0"/>
              </a:rPr>
              <a:t/>
            </a:r>
            <a:r>
              <a:rPr lang="en-IN" sz="2000" dirty="0">
                <a:latin typeface="Arial" panose="020B0604020202020204" pitchFamily="34" charset="0"/>
                <a:cs typeface="Arial" panose="020B0604020202020204" pitchFamily="34" charset="0"/>
              </a:rPr>
              <a:t>–</a:t>
            </a:r>
            <a:r>
              <a:rPr lang="en-IN" sz="2000" spc="-5" dirty="0">
                <a:latin typeface="Arial" panose="020B0604020202020204" pitchFamily="34" charset="0"/>
                <a:cs typeface="Arial" panose="020B0604020202020204" pitchFamily="34" charset="0"/>
              </a:rPr>
              <a:t/>
            </a:r>
            <a:r>
              <a:rPr lang="en-IN" sz="2000" dirty="0">
                <a:latin typeface="Arial" panose="020B0604020202020204" pitchFamily="34" charset="0"/>
                <a:cs typeface="Arial" panose="020B0604020202020204" pitchFamily="34" charset="0"/>
              </a:rPr>
              <a:t>Final hackathon </a:t>
            </a:r>
            <a:r>
              <a:rPr lang="en-IN" sz="2000" spc="-10" dirty="0">
                <a:latin typeface="Arial" panose="020B0604020202020204" pitchFamily="34" charset="0"/>
                <a:cs typeface="Arial" panose="020B0604020202020204" pitchFamily="34" charset="0"/>
              </a:rPr>
              <a:t>presentation</a:t>
            </a:r>
            <a:endParaRPr lang="en-IN" sz="2000" dirty="0">
              <a:latin typeface="Arial" panose="020B0604020202020204" pitchFamily="34" charset="0"/>
              <a:cs typeface="Arial" panose="020B0604020202020204" pitchFamily="34" charset="0"/>
            </a:endParaRPr>
          </a:p>
          <a:p>
            <a:r>
              <a:rPr lang="en-IN" sz="2000" dirty="0">
                <a:latin typeface="Arial" panose="020B0604020202020204" pitchFamily="34" charset="0"/>
                <a:cs typeface="Arial" panose="020B0604020202020204" pitchFamily="34" charset="0"/>
              </a:rPr>
              <a:t>Working</a:t>
            </a:r>
            <a:r>
              <a:rPr lang="en-IN" sz="2000" spc="-25" dirty="0">
                <a:latin typeface="Arial" panose="020B0604020202020204" pitchFamily="34" charset="0"/>
                <a:cs typeface="Arial" panose="020B0604020202020204" pitchFamily="34" charset="0"/>
              </a:rPr>
              <a:t/>
            </a:r>
            <a:r>
              <a:rPr lang="en-IN" sz="2000" dirty="0">
                <a:latin typeface="Arial" panose="020B0604020202020204" pitchFamily="34" charset="0"/>
                <a:cs typeface="Arial" panose="020B0604020202020204" pitchFamily="34" charset="0"/>
              </a:rPr>
              <a:t>GitHub</a:t>
            </a:r>
            <a:r>
              <a:rPr lang="en-IN" sz="2000" spc="-20" dirty="0">
                <a:latin typeface="Arial" panose="020B0604020202020204" pitchFamily="34" charset="0"/>
                <a:cs typeface="Arial" panose="020B0604020202020204" pitchFamily="34" charset="0"/>
              </a:rPr>
              <a:t> URL :</a:t>
            </a:r>
          </a:p>
          <a:p>
            <a:r>
              <a:rPr lang="en-IN" sz="2000" dirty="0">
                <a:latin typeface="Arial" panose="020B0604020202020204" pitchFamily="34" charset="0"/>
                <a:cs typeface="Arial" panose="020B0604020202020204" pitchFamily="34" charset="0"/>
              </a:rPr>
              <a:t>https://github.com/VyasVraj/-Smart-Salinity-Ingress-Coastal-Farmland-Protection-Advisor-.git</a:t>
            </a:r>
          </a:p>
        </p:txBody>
      </p:sp>
      <p:sp>
        <p:nvSpPr>
          <p:cNvPr id="3" name="TextBox 2">
            <a:extLst>
              <a:ext uri="{FF2B5EF4-FFF2-40B4-BE49-F238E27FC236}">
                <a16:creationId xmlns:a16="http://schemas.microsoft.com/office/drawing/2014/main" id="{8FD6508E-2EDD-2A3B-631A-5DA2656A784B}"/>
              </a:ext>
            </a:extLst>
          </p:cNvPr>
          <p:cNvSpPr txBox="1"/>
          <p:nvPr/>
        </p:nvSpPr>
        <p:spPr>
          <a:xfrm>
            <a:off x="761176" y="6084942"/>
            <a:ext cx="6673622" cy="523220"/>
          </a:xfrm>
          <a:prstGeom prst="rect">
            <a:avLst/>
          </a:prstGeom>
          <a:noFill/>
        </p:spPr>
        <p:txBody>
          <a:bodyPr wrap="none" rtlCol="0">
            <a:spAutoFit/>
          </a:bodyPr>
          <a:lstStyle/>
          <a:p>
            <a:r>
              <a:rPr lang="en-IN" sz="2800" b="1" dirty="0">
                <a:latin typeface="Arial" panose="020B0604020202020204" pitchFamily="34" charset="0"/>
                <a:cs typeface="Arial" panose="020B0604020202020204" pitchFamily="34" charset="0"/>
              </a:rPr>
              <a:t>Google Drive link for 3-minute video : </a:t>
            </a:r>
          </a:p>
        </p:txBody>
      </p:sp>
      <p:sp>
        <p:nvSpPr>
          <p:cNvPr id="4" name="TextBox 3">
            <a:extLst>
              <a:ext uri="{FF2B5EF4-FFF2-40B4-BE49-F238E27FC236}">
                <a16:creationId xmlns:a16="http://schemas.microsoft.com/office/drawing/2014/main" id="{08B2CB72-36E6-0F1C-4DE8-25E15F2AFECF}"/>
              </a:ext>
            </a:extLst>
          </p:cNvPr>
          <p:cNvSpPr txBox="1"/>
          <p:nvPr/>
        </p:nvSpPr>
        <p:spPr>
          <a:xfrm>
            <a:off x="724782" y="6972300"/>
            <a:ext cx="10476618" cy="369332"/>
          </a:xfrm>
          <a:prstGeom prst="rect">
            <a:avLst/>
          </a:prstGeom>
          <a:noFill/>
        </p:spPr>
        <p:txBody>
          <a:bodyPr wrap="square" rtlCol="0">
            <a:spAutoFit/>
          </a:bodyPr>
          <a:lstStyle/>
          <a:p>
            <a:r>
              <a:rPr lang="en-IN" dirty="0"/>
              <a:t>https://drive.google.com/drive/folders/13DJwawwS5bvLA_B9uzODMZjDSDXbYYIb?usp=drive_link</a:t>
            </a: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xfrm>
            <a:off x="762000" y="571500"/>
            <a:ext cx="10057645" cy="537492"/>
          </a:xfrm>
          <a:prstGeom prst="rect">
            <a:avLst/>
          </a:prstGeom>
        </p:spPr>
        <p:txBody>
          <a:bodyPr vert="horz" wrap="square" lIns="0" tIns="105574" rIns="0" bIns="0" rtlCol="0">
            <a:spAutoFit/>
          </a:bodyPr>
          <a:lstStyle/>
          <a:p>
            <a:pPr marL="684530">
              <a:lnSpc>
                <a:spcPct val="100000"/>
              </a:lnSpc>
              <a:spcBef>
                <a:spcPts val="100"/>
              </a:spcBef>
            </a:pPr>
            <a:r>
              <a:rPr lang="en-IN" sz="2800" dirty="0">
                <a:latin typeface="Arial" panose="020B0604020202020204" pitchFamily="34" charset="0"/>
                <a:cs typeface="Arial" panose="020B0604020202020204" pitchFamily="34" charset="0"/>
              </a:rPr>
              <a:t>FUTURE</a:t>
            </a:r>
            <a:r>
              <a:rPr lang="en-IN" sz="2800" spc="-80" dirty="0">
                <a:latin typeface="Arial" panose="020B0604020202020204" pitchFamily="34" charset="0"/>
                <a:cs typeface="Arial" panose="020B0604020202020204" pitchFamily="34" charset="0"/>
              </a:rPr>
              <a:t/>
            </a:r>
            <a:r>
              <a:rPr lang="en-IN" sz="2800" spc="-20" dirty="0">
                <a:latin typeface="Arial" panose="020B0604020202020204" pitchFamily="34" charset="0"/>
                <a:cs typeface="Arial" panose="020B0604020202020204" pitchFamily="34" charset="0"/>
              </a:rPr>
              <a:t>SCOPE</a:t>
            </a:r>
            <a:endParaRPr lang="en-IN" sz="2800" dirty="0">
              <a:latin typeface="Arial" panose="020B0604020202020204" pitchFamily="34" charset="0"/>
              <a:cs typeface="Arial" panose="020B0604020202020204" pitchFamily="34" charset="0"/>
            </a:endParaRPr>
          </a:p>
        </p:txBody>
      </p:sp>
      <p:sp>
        <p:nvSpPr>
          <p:cNvPr id="3" name="object 3"/>
          <p:cNvSpPr txBox="1"/>
          <p:nvPr/>
        </p:nvSpPr>
        <p:spPr>
          <a:xfrm>
            <a:off x="1303594" y="1725095"/>
            <a:ext cx="16180435" cy="3708065"/>
          </a:xfrm>
          <a:prstGeom prst="rect">
            <a:avLst/>
          </a:prstGeom>
        </p:spPr>
        <p:txBody>
          <a:bodyPr vert="horz" wrap="square" lIns="0" tIns="14604" rIns="0" bIns="0" rtlCol="0">
            <a:spAutoFit/>
          </a:bodyPr>
          <a:lstStyle/>
          <a:p>
            <a:pPr lvl="0"/>
            <a:r>
              <a:rPr lang="en-IN" sz="2000" b="1" dirty="0">
                <a:latin typeface="Arial" panose="020B0604020202020204" pitchFamily="34" charset="0"/>
                <a:cs typeface="Arial" panose="020B0604020202020204" pitchFamily="34" charset="0"/>
              </a:rPr>
              <a:t>Real-Time IoT Integration</a:t>
            </a:r>
            <a:r>
              <a:rPr lang="en-IN" sz="2000" dirty="0">
                <a:latin typeface="Arial" panose="020B0604020202020204" pitchFamily="34" charset="0"/>
                <a:cs typeface="Arial" panose="020B0604020202020204" pitchFamily="34" charset="0"/>
              </a:rPr>
              <a:t> – Connect the platform with real soil and water sensors for continuous monitoring of EC, pH, moisture, and other parameters. </a:t>
            </a:r>
          </a:p>
          <a:p>
            <a:pPr lvl="0"/>
            <a:r>
              <a:rPr lang="en-IN" sz="2000" b="1" dirty="0">
                <a:latin typeface="Arial" panose="020B0604020202020204" pitchFamily="34" charset="0"/>
                <a:cs typeface="Arial" panose="020B0604020202020204" pitchFamily="34" charset="0"/>
              </a:rPr>
              <a:t>Satellite &amp; Remote Sensing</a:t>
            </a:r>
            <a:r>
              <a:rPr lang="en-IN" sz="2000" dirty="0">
                <a:latin typeface="Arial" panose="020B0604020202020204" pitchFamily="34" charset="0"/>
                <a:cs typeface="Arial" panose="020B0604020202020204" pitchFamily="34" charset="0"/>
              </a:rPr>
              <a:t> – Integrate satellite imagery to detect large-scale salinity hotspots and monitor changes in coastal agricultural land. </a:t>
            </a:r>
          </a:p>
          <a:p>
            <a:pPr lvl="0"/>
            <a:r>
              <a:rPr lang="en-IN" sz="2000" b="1" dirty="0">
                <a:latin typeface="Arial" panose="020B0604020202020204" pitchFamily="34" charset="0"/>
                <a:cs typeface="Arial" panose="020B0604020202020204" pitchFamily="34" charset="0"/>
              </a:rPr>
              <a:t>Advanced AI Forecasting</a:t>
            </a:r>
            <a:r>
              <a:rPr lang="en-IN" sz="2000" dirty="0">
                <a:latin typeface="Arial" panose="020B0604020202020204" pitchFamily="34" charset="0"/>
                <a:cs typeface="Arial" panose="020B0604020202020204" pitchFamily="34" charset="0"/>
              </a:rPr>
              <a:t> – Improve prediction of future salinity and seawater-intrusion risks using long-term weather, groundwater, and environmental data. </a:t>
            </a:r>
          </a:p>
          <a:p>
            <a:pPr lvl="0"/>
            <a:r>
              <a:rPr lang="en-IN" sz="2000" b="1" dirty="0">
                <a:latin typeface="Arial" panose="020B0604020202020204" pitchFamily="34" charset="0"/>
                <a:cs typeface="Arial" panose="020B0604020202020204" pitchFamily="34" charset="0"/>
              </a:rPr>
              <a:t>Personalized Crop &amp; Irrigation Recommendations</a:t>
            </a:r>
            <a:r>
              <a:rPr lang="en-IN" sz="2000" dirty="0">
                <a:latin typeface="Arial" panose="020B0604020202020204" pitchFamily="34" charset="0"/>
                <a:cs typeface="Arial" panose="020B0604020202020204" pitchFamily="34" charset="0"/>
              </a:rPr>
              <a:t> – Recommend suitable salt-tolerant crops and optimized irrigation strategies based on individual farm conditions. </a:t>
            </a:r>
          </a:p>
          <a:p>
            <a:pPr lvl="0"/>
            <a:r>
              <a:rPr lang="en-IN" sz="2000" b="1" dirty="0">
                <a:latin typeface="Arial" panose="020B0604020202020204" pitchFamily="34" charset="0"/>
                <a:cs typeface="Arial" panose="020B0604020202020204" pitchFamily="34" charset="0"/>
              </a:rPr>
              <a:t>Regional Expansion</a:t>
            </a:r>
            <a:r>
              <a:rPr lang="en-IN" sz="2000" dirty="0">
                <a:latin typeface="Arial" panose="020B0604020202020204" pitchFamily="34" charset="0"/>
                <a:cs typeface="Arial" panose="020B0604020202020204" pitchFamily="34" charset="0"/>
              </a:rPr>
              <a:t> – Scale from individual farms to </a:t>
            </a:r>
            <a:r>
              <a:rPr lang="en-IN" sz="2000" b="1" dirty="0">
                <a:latin typeface="Arial" panose="020B0604020202020204" pitchFamily="34" charset="0"/>
                <a:cs typeface="Arial" panose="020B0604020202020204" pitchFamily="34" charset="0"/>
              </a:rPr>
              <a:t>district- and state-level salinity monitoring</a:t>
            </a:r>
            <a:r>
              <a:rPr lang="en-IN" sz="2000" dirty="0">
                <a:latin typeface="Arial" panose="020B0604020202020204" pitchFamily="34" charset="0"/>
                <a:cs typeface="Arial" panose="020B0604020202020204" pitchFamily="34" charset="0"/>
              </a:rPr>
              <a:t>, helping government authorities plan targeted interventions. </a:t>
            </a:r>
          </a:p>
          <a:p>
            <a:pPr lvl="0"/>
            <a:r>
              <a:rPr lang="en-IN" sz="2000" b="1" dirty="0">
                <a:latin typeface="Arial" panose="020B0604020202020204" pitchFamily="34" charset="0"/>
                <a:cs typeface="Arial" panose="020B0604020202020204" pitchFamily="34" charset="0"/>
              </a:rPr>
              <a:t>Farmer Mobile &amp; Voice Assistant</a:t>
            </a:r>
            <a:r>
              <a:rPr lang="en-IN" sz="2000" dirty="0">
                <a:latin typeface="Arial" panose="020B0604020202020204" pitchFamily="34" charset="0"/>
                <a:cs typeface="Arial" panose="020B0604020202020204" pitchFamily="34" charset="0"/>
              </a:rPr>
              <a:t> – Extend the AI advisor into a mobile/voice-based system supporting </a:t>
            </a:r>
            <a:r>
              <a:rPr lang="en-IN" sz="2000" b="1" dirty="0">
                <a:latin typeface="Arial" panose="020B0604020202020204" pitchFamily="34" charset="0"/>
                <a:cs typeface="Arial" panose="020B0604020202020204" pitchFamily="34" charset="0"/>
              </a:rPr>
              <a:t>Gujarati, Hindi, and English</a:t>
            </a:r>
            <a:r>
              <a:rPr lang="en-IN" sz="2000" dirty="0">
                <a:latin typeface="Arial" panose="020B0604020202020204" pitchFamily="34" charset="0"/>
                <a:cs typeface="Arial" panose="020B0604020202020204" pitchFamily="34" charset="0"/>
              </a:rPr>
              <a:t> for easier access in rural areas.</a:t>
            </a:r>
          </a:p>
        </p:txBody>
      </p:sp>
      <p:sp>
        <p:nvSpPr>
          <p:cNvPr id="4" name="object 4"/>
          <p:cNvSpPr txBox="1"/>
          <p:nvPr/>
        </p:nvSpPr>
        <p:spPr>
          <a:xfrm>
            <a:off x="1815386" y="8097173"/>
            <a:ext cx="142875" cy="448309"/>
          </a:xfrm>
          <a:prstGeom prst="rect">
            <a:avLst/>
          </a:prstGeom>
        </p:spPr>
        <p:txBody>
          <a:bodyPr vert="horz" wrap="square" lIns="0" tIns="15875" rIns="0" bIns="0" rtlCol="0">
            <a:spAutoFit/>
          </a:bodyPr>
          <a:lstStyle/>
          <a:p>
            <a:pPr marL="12700">
              <a:lnSpc>
                <a:spcPct val="100000"/>
              </a:lnSpc>
              <a:spcBef>
                <a:spcPts val="125"/>
              </a:spcBef>
            </a:pPr>
            <a:r>
              <a:rPr sz="2750" spc="-50" dirty="0">
                <a:solidFill>
                  <a:srgbClr val="2A3440"/>
                </a:solidFill>
                <a:latin typeface="Times New Roman"/>
                <a:cs typeface="Times New Roman"/>
              </a:rPr>
              <a:t>·</a:t>
            </a:r>
            <a:endParaRPr sz="2750">
              <a:latin typeface="Times New Roman"/>
              <a:cs typeface="Times New Roman"/>
            </a:endParaRP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CFF5114E-3B64-6378-BFA0-D4581D3F44C1}"/>
              </a:ext>
            </a:extLst>
          </p:cNvPr>
          <p:cNvSpPr txBox="1"/>
          <p:nvPr/>
        </p:nvSpPr>
        <p:spPr>
          <a:xfrm>
            <a:off x="228600" y="571500"/>
            <a:ext cx="4951997" cy="523220"/>
          </a:xfrm>
          <a:prstGeom prst="rect">
            <a:avLst/>
          </a:prstGeom>
          <a:noFill/>
        </p:spPr>
        <p:txBody>
          <a:bodyPr wrap="none" rtlCol="0">
            <a:spAutoFit/>
          </a:bodyPr>
          <a:lstStyle/>
          <a:p>
            <a:r>
              <a:rPr lang="en-US" sz="2800" b="1" dirty="0">
                <a:latin typeface="Arial" panose="020B0604020202020204" pitchFamily="34" charset="0"/>
                <a:cs typeface="Arial" panose="020B0604020202020204" pitchFamily="34" charset="0"/>
              </a:rPr>
              <a:t>IBM SKILLBUILD PROFILE :</a:t>
            </a:r>
            <a:endParaRPr lang="en-IN" sz="2800" b="1" dirty="0">
              <a:latin typeface="Arial" panose="020B0604020202020204" pitchFamily="34" charset="0"/>
              <a:cs typeface="Arial" panose="020B0604020202020204" pitchFamily="34" charset="0"/>
            </a:endParaRPr>
          </a:p>
        </p:txBody>
      </p:sp>
      <p:pic>
        <p:nvPicPr>
          <p:cNvPr id="7" name="Picture 6">
            <a:extLst>
              <a:ext uri="{FF2B5EF4-FFF2-40B4-BE49-F238E27FC236}">
                <a16:creationId xmlns:a16="http://schemas.microsoft.com/office/drawing/2014/main" id="{0CD41289-1CE8-55E6-E3AC-D43A31E4E67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867400" y="2647219"/>
            <a:ext cx="6175506" cy="2181225"/>
          </a:xfrm>
          <a:prstGeom prst="rect">
            <a:avLst/>
          </a:prstGeom>
        </p:spPr>
      </p:pic>
      <p:pic>
        <p:nvPicPr>
          <p:cNvPr id="15" name="Picture 14">
            <a:extLst>
              <a:ext uri="{FF2B5EF4-FFF2-40B4-BE49-F238E27FC236}">
                <a16:creationId xmlns:a16="http://schemas.microsoft.com/office/drawing/2014/main" id="{35086AD6-56D8-88B9-4FE9-7C5871A35FC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866775" y="2719489"/>
            <a:ext cx="6421225" cy="1876425"/>
          </a:xfrm>
          <a:prstGeom prst="rect">
            <a:avLst/>
          </a:prstGeom>
        </p:spPr>
      </p:pic>
      <p:pic>
        <p:nvPicPr>
          <p:cNvPr id="17" name="Picture 16">
            <a:extLst>
              <a:ext uri="{FF2B5EF4-FFF2-40B4-BE49-F238E27FC236}">
                <a16:creationId xmlns:a16="http://schemas.microsoft.com/office/drawing/2014/main" id="{B9B9D683-2FD2-14AD-B44C-F3DC7139FCF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961" y="2879751"/>
            <a:ext cx="5639809" cy="1716163"/>
          </a:xfrm>
          <a:prstGeom prst="rect">
            <a:avLst/>
          </a:prstGeom>
        </p:spPr>
      </p:pic>
    </p:spTree>
    <p:extLst>
      <p:ext uri="{BB962C8B-B14F-4D97-AF65-F5344CB8AC3E}">
        <p14:creationId xmlns:p14="http://schemas.microsoft.com/office/powerpoint/2010/main" val="669449822"/>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6A252672-7B80-2B11-E6A0-2BBD63C4554D}"/>
              </a:ext>
            </a:extLst>
          </p:cNvPr>
          <p:cNvPicPr>
            <a:picLocks noChangeAspect="1"/>
          </p:cNvPicPr>
          <p:nvPr/>
        </p:nvPicPr>
        <p:blipFill>
          <a:blip r:embed="rId2"/>
          <a:stretch>
            <a:fillRect/>
          </a:stretch>
        </p:blipFill>
        <p:spPr>
          <a:xfrm>
            <a:off x="138269" y="1465670"/>
            <a:ext cx="5943086" cy="4563917"/>
          </a:xfrm>
          <a:prstGeom prst="rect">
            <a:avLst/>
          </a:prstGeom>
        </p:spPr>
      </p:pic>
      <p:sp>
        <p:nvSpPr>
          <p:cNvPr id="5" name="TextBox 4">
            <a:extLst>
              <a:ext uri="{FF2B5EF4-FFF2-40B4-BE49-F238E27FC236}">
                <a16:creationId xmlns:a16="http://schemas.microsoft.com/office/drawing/2014/main" id="{31625DCD-B690-3B55-96AA-F077311FDB1F}"/>
              </a:ext>
            </a:extLst>
          </p:cNvPr>
          <p:cNvSpPr txBox="1"/>
          <p:nvPr/>
        </p:nvSpPr>
        <p:spPr>
          <a:xfrm>
            <a:off x="228600" y="647700"/>
            <a:ext cx="3781805" cy="523220"/>
          </a:xfrm>
          <a:prstGeom prst="rect">
            <a:avLst/>
          </a:prstGeom>
          <a:noFill/>
        </p:spPr>
        <p:txBody>
          <a:bodyPr wrap="none" rtlCol="0">
            <a:spAutoFit/>
          </a:bodyPr>
          <a:lstStyle/>
          <a:p>
            <a:r>
              <a:rPr lang="en-US" sz="2800" b="1" dirty="0"/>
              <a:t>Certificates Earned : </a:t>
            </a:r>
            <a:endParaRPr lang="en-IN" sz="2800" b="1" dirty="0"/>
          </a:p>
        </p:txBody>
      </p:sp>
      <p:pic>
        <p:nvPicPr>
          <p:cNvPr id="7" name="Picture 6">
            <a:extLst>
              <a:ext uri="{FF2B5EF4-FFF2-40B4-BE49-F238E27FC236}">
                <a16:creationId xmlns:a16="http://schemas.microsoft.com/office/drawing/2014/main" id="{0EA5161C-2639-AA40-3629-FD2AF3A2209C}"/>
              </a:ext>
            </a:extLst>
          </p:cNvPr>
          <p:cNvPicPr>
            <a:picLocks noChangeAspect="1"/>
          </p:cNvPicPr>
          <p:nvPr/>
        </p:nvPicPr>
        <p:blipFill>
          <a:blip r:embed="rId3"/>
          <a:stretch>
            <a:fillRect/>
          </a:stretch>
        </p:blipFill>
        <p:spPr>
          <a:xfrm>
            <a:off x="6172993" y="1465670"/>
            <a:ext cx="5942462" cy="4563917"/>
          </a:xfrm>
          <a:prstGeom prst="rect">
            <a:avLst/>
          </a:prstGeom>
        </p:spPr>
      </p:pic>
      <p:pic>
        <p:nvPicPr>
          <p:cNvPr id="9" name="Picture 8">
            <a:extLst>
              <a:ext uri="{FF2B5EF4-FFF2-40B4-BE49-F238E27FC236}">
                <a16:creationId xmlns:a16="http://schemas.microsoft.com/office/drawing/2014/main" id="{6F2F4DB2-A24A-C36E-D360-AC075AD1A4CD}"/>
              </a:ext>
            </a:extLst>
          </p:cNvPr>
          <p:cNvPicPr>
            <a:picLocks noChangeAspect="1"/>
          </p:cNvPicPr>
          <p:nvPr/>
        </p:nvPicPr>
        <p:blipFill>
          <a:blip r:embed="rId4"/>
          <a:stretch>
            <a:fillRect/>
          </a:stretch>
        </p:blipFill>
        <p:spPr>
          <a:xfrm>
            <a:off x="12200960" y="1465670"/>
            <a:ext cx="5964247" cy="4608433"/>
          </a:xfrm>
          <a:prstGeom prst="rect">
            <a:avLst/>
          </a:prstGeom>
        </p:spPr>
      </p:pic>
    </p:spTree>
    <p:extLst>
      <p:ext uri="{BB962C8B-B14F-4D97-AF65-F5344CB8AC3E}">
        <p14:creationId xmlns:p14="http://schemas.microsoft.com/office/powerpoint/2010/main" val="879571232"/>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1C522653-43F3-CDA3-D5B8-6D2D07159581}"/>
              </a:ext>
            </a:extLst>
          </p:cNvPr>
          <p:cNvSpPr txBox="1"/>
          <p:nvPr/>
        </p:nvSpPr>
        <p:spPr>
          <a:xfrm>
            <a:off x="228600" y="647700"/>
            <a:ext cx="3781805" cy="523220"/>
          </a:xfrm>
          <a:prstGeom prst="rect">
            <a:avLst/>
          </a:prstGeom>
          <a:noFill/>
        </p:spPr>
        <p:txBody>
          <a:bodyPr wrap="none" rtlCol="0">
            <a:spAutoFit/>
          </a:bodyPr>
          <a:lstStyle/>
          <a:p>
            <a:r>
              <a:rPr lang="en-US" sz="2800" b="1" dirty="0"/>
              <a:t>Certificates Earned : </a:t>
            </a:r>
            <a:endParaRPr lang="en-IN" sz="2800" b="1" dirty="0"/>
          </a:p>
        </p:txBody>
      </p:sp>
      <p:pic>
        <p:nvPicPr>
          <p:cNvPr id="7" name="Picture 6">
            <a:extLst>
              <a:ext uri="{FF2B5EF4-FFF2-40B4-BE49-F238E27FC236}">
                <a16:creationId xmlns:a16="http://schemas.microsoft.com/office/drawing/2014/main" id="{AE159F29-60AE-7049-25BE-FD5F89A48ED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248400" y="1956748"/>
            <a:ext cx="5889499" cy="3633421"/>
          </a:xfrm>
          <a:prstGeom prst="rect">
            <a:avLst/>
          </a:prstGeom>
        </p:spPr>
      </p:pic>
      <p:pic>
        <p:nvPicPr>
          <p:cNvPr id="13" name="Picture 12">
            <a:extLst>
              <a:ext uri="{FF2B5EF4-FFF2-40B4-BE49-F238E27FC236}">
                <a16:creationId xmlns:a16="http://schemas.microsoft.com/office/drawing/2014/main" id="{A2B89EB2-A3AB-EA3B-DE9F-081AF27F43E6}"/>
              </a:ext>
            </a:extLst>
          </p:cNvPr>
          <p:cNvPicPr>
            <a:picLocks noChangeAspect="1"/>
          </p:cNvPicPr>
          <p:nvPr/>
        </p:nvPicPr>
        <p:blipFill>
          <a:blip r:embed="rId3">
            <a:extLst>
              <a:ext uri="{28A0092B-C50C-407E-A947-70E740481C1C}">
                <a14:useLocalDpi xmlns:a14="http://schemas.microsoft.com/office/drawing/2010/main" val="0"/>
              </a:ext>
            </a:extLst>
          </a:blip>
          <a:srcRect l="365" t="1" r="1" b="-140"/>
          <a:stretch>
            <a:fillRect/>
          </a:stretch>
        </p:blipFill>
        <p:spPr>
          <a:xfrm>
            <a:off x="208564" y="1956748"/>
            <a:ext cx="5963636" cy="3681461"/>
          </a:xfrm>
          <a:prstGeom prst="rect">
            <a:avLst/>
          </a:prstGeom>
        </p:spPr>
      </p:pic>
      <p:pic>
        <p:nvPicPr>
          <p:cNvPr id="15" name="Picture 14">
            <a:extLst>
              <a:ext uri="{FF2B5EF4-FFF2-40B4-BE49-F238E27FC236}">
                <a16:creationId xmlns:a16="http://schemas.microsoft.com/office/drawing/2014/main" id="{2C6BAC8B-2AD1-A8CC-2BA8-EB06024DE57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2247268" y="1956748"/>
            <a:ext cx="5898226" cy="3628303"/>
          </a:xfrm>
          <a:prstGeom prst="rect">
            <a:avLst/>
          </a:prstGeom>
        </p:spPr>
      </p:pic>
    </p:spTree>
    <p:extLst>
      <p:ext uri="{BB962C8B-B14F-4D97-AF65-F5344CB8AC3E}">
        <p14:creationId xmlns:p14="http://schemas.microsoft.com/office/powerpoint/2010/main" val="3807750749"/>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0" y="2754507"/>
            <a:ext cx="17865504" cy="3716087"/>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00"/>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464</TotalTime>
  <Words>2735</Words>
  <Application>Microsoft Office PowerPoint</Application>
  <PresentationFormat>Custom</PresentationFormat>
  <Paragraphs>384</Paragraphs>
  <Slides>68</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68</vt:i4>
      </vt:variant>
    </vt:vector>
  </HeadingPairs>
  <TitlesOfParts>
    <vt:vector size="72" baseType="lpstr">
      <vt:lpstr>Arial</vt:lpstr>
      <vt:lpstr>Calibri</vt:lpstr>
      <vt:lpstr>Times New Roman</vt:lpstr>
      <vt:lpstr>Office Theme</vt:lpstr>
      <vt:lpstr>IBM SkillsBuild Bob Hackathon Showcase – Gujarat, 2026 </vt:lpstr>
      <vt:lpstr>PowerPoint Presentation</vt:lpstr>
      <vt:lpstr>Problem Statement - Smart Salinity Ingress &amp; Coastal Farmland Protection Advisor</vt:lpstr>
      <vt:lpstr>PROPOSED SOLUTION : Smart Salinity Ingress &amp; Coastal Farmland Protection Advisor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TECHNOLOGY USED</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ROLE OF AGENTIC AI IN SOLUTION</vt:lpstr>
      <vt:lpstr>PowerPoint Presentation</vt:lpstr>
      <vt:lpstr>NOVELTY AND UNIQUENESS</vt:lpstr>
      <vt:lpstr>Git Hub Link</vt:lpstr>
      <vt:lpstr>FUTURE SCOPE</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FLOODGUARD_AI_Hackathon_Submission.pptx</dc:title>
  <dc:creator>GROK</dc:creator>
  <cp:keywords>DAHR-OZrWic,BAHR-KVxkWw</cp:keywords>
  <cp:lastModifiedBy>Vyas Vraj</cp:lastModifiedBy>
  <cp:revision>34</cp:revision>
  <dcterms:created xsi:type="dcterms:W3CDTF">2026-08-14T22:23:40Z</dcterms:created>
  <dcterms:modified xsi:type="dcterms:W3CDTF">2026-09-12T09:07:46Z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2026-08-14T00:00:00Z</vt:filetime>
  </property>
  <property fmtid="{D5CDD505-2E9C-101B-9397-08002B2CF9AE}" pid="3" name="Creator">
    <vt:lpwstr>Canva</vt:lpwstr>
  </property>
  <property fmtid="{D5CDD505-2E9C-101B-9397-08002B2CF9AE}" pid="4" name="LastSaved">
    <vt:filetime>2026-08-14T00:00:00Z</vt:filetime>
  </property>
  <property fmtid="{D5CDD505-2E9C-101B-9397-08002B2CF9AE}" pid="5" name="Producer">
    <vt:lpwstr>iLovePDF</vt:lpwstr>
  </property>
</Properties>
</file>